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332" r:id="rId19"/>
    <p:sldId id="333" r:id="rId20"/>
    <p:sldId id="334" r:id="rId21"/>
    <p:sldId id="335" r:id="rId22"/>
  </p:sldIdLst>
  <p:sldSz cx="12192000" cy="6858000"/>
  <p:notesSz cx="6858000" cy="9144000"/>
  <p:embeddedFontLst>
    <p:embeddedFont>
      <p:font typeface="Noto Sans JP" panose="020B0200000000000000" pitchFamily="50" charset="-128"/>
      <p:regular r:id="rId24"/>
      <p:bold r:id="rId25"/>
    </p:embeddedFont>
    <p:embeddedFont>
      <p:font typeface="Roboto Mono" panose="00000009000000000000" pitchFamily="49" charset="0"/>
      <p:regular r:id="rId26"/>
      <p:bold r:id="rId27"/>
      <p:italic r:id="rId28"/>
      <p:boldItalic r:id="rId29"/>
    </p:embeddedFont>
    <p:embeddedFont>
      <p:font typeface="游ゴシック" panose="020B0400000000000000" pitchFamily="50" charset="-128"/>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33D3A8-D3F5-4CE0-8612-AE69E67BF3B3}">
  <a:tblStyle styleId="{6533D3A8-D3F5-4CE0-8612-AE69E67BF3B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818" autoAdjust="0"/>
  </p:normalViewPr>
  <p:slideViewPr>
    <p:cSldViewPr snapToGrid="0">
      <p:cViewPr varScale="1">
        <p:scale>
          <a:sx n="86" d="100"/>
          <a:sy n="86" d="100"/>
        </p:scale>
        <p:origin x="1518"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192.168.1.200\&#31038;&#20869;&#20849;&#26377;\02_&#29983;&#29987;&#31649;&#29702;&#37096;\Other\&#36039;&#26009;\&#22577;&#21578;&#36039;&#26009;\2024&#24180;&#24230;&#24259;&#26820;&#2957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192.168.1.200\&#31038;&#20869;&#20849;&#26377;\02_&#29983;&#29987;&#31649;&#29702;&#37096;\Other\&#36039;&#26009;\&#22577;&#21578;&#36039;&#26009;\2024&#24180;&#24230;&#24259;&#26820;&#2957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192.168.1.200\&#31038;&#20869;&#20849;&#26377;\02_&#29983;&#29987;&#31649;&#29702;&#37096;\Other\&#36039;&#26009;\&#25104;&#22411;&#12471;&#12511;&#12517;&#12524;&#12540;&#12471;&#12519;&#1253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192.168.1.200\&#31038;&#20869;&#20849;&#26377;\02_&#29983;&#29987;&#31649;&#29702;&#37096;\Other\&#36039;&#26009;\&#25104;&#22411;&#12471;&#12511;&#12517;&#12524;&#12540;&#12471;&#12519;&#1253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1" i="0" u="none" strike="noStrike" kern="1200" spc="0" baseline="0">
                <a:solidFill>
                  <a:schemeClr val="tx1"/>
                </a:solidFill>
                <a:latin typeface="游ゴシック" panose="020B0400000000000000" pitchFamily="50" charset="-128"/>
                <a:ea typeface="游ゴシック" panose="020B0400000000000000" pitchFamily="50" charset="-128"/>
                <a:cs typeface="+mn-cs"/>
              </a:defRPr>
            </a:pPr>
            <a:r>
              <a:rPr lang="en-US" sz="1260" b="1" dirty="0">
                <a:solidFill>
                  <a:schemeClr val="tx1"/>
                </a:solidFill>
                <a:latin typeface="游ゴシック" panose="020B0400000000000000" pitchFamily="50" charset="-128"/>
                <a:ea typeface="游ゴシック" panose="020B0400000000000000" pitchFamily="50" charset="-128"/>
              </a:rPr>
              <a:t>2026</a:t>
            </a:r>
            <a:r>
              <a:rPr lang="ja-JP" sz="1260" b="1">
                <a:solidFill>
                  <a:schemeClr val="tx1"/>
                </a:solidFill>
                <a:latin typeface="游ゴシック" panose="020B0400000000000000" pitchFamily="50" charset="-128"/>
                <a:ea typeface="游ゴシック" panose="020B0400000000000000" pitchFamily="50" charset="-128"/>
              </a:rPr>
              <a:t>年度</a:t>
            </a:r>
            <a:r>
              <a:rPr lang="en-US" sz="1260" b="1" dirty="0">
                <a:solidFill>
                  <a:schemeClr val="tx1"/>
                </a:solidFill>
                <a:latin typeface="游ゴシック" panose="020B0400000000000000" pitchFamily="50" charset="-128"/>
                <a:ea typeface="游ゴシック" panose="020B0400000000000000" pitchFamily="50" charset="-128"/>
              </a:rPr>
              <a:t>1</a:t>
            </a:r>
            <a:r>
              <a:rPr lang="ja-JP" sz="1260" b="1">
                <a:solidFill>
                  <a:schemeClr val="tx1"/>
                </a:solidFill>
                <a:latin typeface="游ゴシック" panose="020B0400000000000000" pitchFamily="50" charset="-128"/>
                <a:ea typeface="游ゴシック" panose="020B0400000000000000" pitchFamily="50" charset="-128"/>
              </a:rPr>
              <a:t>月～</a:t>
            </a:r>
            <a:r>
              <a:rPr lang="en-US" sz="1260" b="1" dirty="0">
                <a:solidFill>
                  <a:schemeClr val="tx1"/>
                </a:solidFill>
                <a:latin typeface="游ゴシック" panose="020B0400000000000000" pitchFamily="50" charset="-128"/>
                <a:ea typeface="游ゴシック" panose="020B0400000000000000" pitchFamily="50" charset="-128"/>
              </a:rPr>
              <a:t>6</a:t>
            </a:r>
            <a:r>
              <a:rPr lang="ja-JP" sz="1260" b="1">
                <a:solidFill>
                  <a:schemeClr val="tx1"/>
                </a:solidFill>
                <a:latin typeface="游ゴシック" panose="020B0400000000000000" pitchFamily="50" charset="-128"/>
                <a:ea typeface="游ゴシック" panose="020B0400000000000000" pitchFamily="50" charset="-128"/>
              </a:rPr>
              <a:t>月</a:t>
            </a:r>
          </a:p>
        </c:rich>
      </c:tx>
      <c:overlay val="0"/>
      <c:spPr>
        <a:noFill/>
        <a:ln>
          <a:noFill/>
        </a:ln>
        <a:effectLst/>
      </c:spPr>
      <c:txPr>
        <a:bodyPr rot="0" spcFirstLastPara="1" vertOverflow="ellipsis" vert="horz" wrap="square" anchor="ctr" anchorCtr="1"/>
        <a:lstStyle/>
        <a:p>
          <a:pPr>
            <a:defRPr sz="1260" b="1" i="0" u="none" strike="noStrike" kern="1200" spc="0" baseline="0">
              <a:solidFill>
                <a:schemeClr val="tx1"/>
              </a:solidFill>
              <a:latin typeface="游ゴシック" panose="020B0400000000000000" pitchFamily="50" charset="-128"/>
              <a:ea typeface="游ゴシック" panose="020B0400000000000000" pitchFamily="50" charset="-128"/>
              <a:cs typeface="+mn-cs"/>
            </a:defRPr>
          </a:pPr>
          <a:endParaRPr lang="ja-JP" altLang="ja-JP"/>
        </a:p>
      </c:txPr>
    </c:title>
    <c:autoTitleDeleted val="0"/>
    <c:plotArea>
      <c:layout>
        <c:manualLayout>
          <c:layoutTarget val="inner"/>
          <c:xMode val="edge"/>
          <c:yMode val="edge"/>
          <c:x val="7.6969516741441799E-2"/>
          <c:y val="0.17351239118630302"/>
          <c:w val="0.89894728676156854"/>
          <c:h val="0.70915891294993694"/>
        </c:manualLayout>
      </c:layout>
      <c:lineChart>
        <c:grouping val="standard"/>
        <c:varyColors val="0"/>
        <c:ser>
          <c:idx val="0"/>
          <c:order val="0"/>
          <c:tx>
            <c:strRef>
              <c:f>報告用!$D$1</c:f>
              <c:strCache>
                <c:ptCount val="1"/>
                <c:pt idx="0">
                  <c:v>廃棄率</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報告用!$A$23:$A$28</c:f>
              <c:numCache>
                <c:formatCode>yyyy"年"m"月";@</c:formatCode>
                <c:ptCount val="6"/>
                <c:pt idx="0">
                  <c:v>46023</c:v>
                </c:pt>
                <c:pt idx="1">
                  <c:v>46054</c:v>
                </c:pt>
                <c:pt idx="2">
                  <c:v>46082</c:v>
                </c:pt>
                <c:pt idx="3">
                  <c:v>46113</c:v>
                </c:pt>
                <c:pt idx="4">
                  <c:v>46143</c:v>
                </c:pt>
                <c:pt idx="5">
                  <c:v>46174</c:v>
                </c:pt>
              </c:numCache>
            </c:numRef>
          </c:cat>
          <c:val>
            <c:numRef>
              <c:f>報告用!$D$23:$D$28</c:f>
              <c:numCache>
                <c:formatCode>0.00%</c:formatCode>
                <c:ptCount val="6"/>
                <c:pt idx="0">
                  <c:v>1.2082444918265815E-2</c:v>
                </c:pt>
                <c:pt idx="1">
                  <c:v>1.0865384615384615E-2</c:v>
                </c:pt>
                <c:pt idx="2">
                  <c:v>9.1517071453713471E-3</c:v>
                </c:pt>
                <c:pt idx="3">
                  <c:v>1.2209302325581395E-2</c:v>
                </c:pt>
                <c:pt idx="4">
                  <c:v>1.007394705819312E-2</c:v>
                </c:pt>
                <c:pt idx="5">
                  <c:v>1.2705923589204346E-2</c:v>
                </c:pt>
              </c:numCache>
            </c:numRef>
          </c:val>
          <c:smooth val="0"/>
          <c:extLst>
            <c:ext xmlns:c16="http://schemas.microsoft.com/office/drawing/2014/chart" uri="{C3380CC4-5D6E-409C-BE32-E72D297353CC}">
              <c16:uniqueId val="{00000000-3554-4C12-ACA8-339D17A01973}"/>
            </c:ext>
          </c:extLst>
        </c:ser>
        <c:dLbls>
          <c:dLblPos val="ctr"/>
          <c:showLegendKey val="0"/>
          <c:showVal val="1"/>
          <c:showCatName val="0"/>
          <c:showSerName val="0"/>
          <c:showPercent val="0"/>
          <c:showBubbleSize val="0"/>
        </c:dLbls>
        <c:marker val="1"/>
        <c:smooth val="0"/>
        <c:axId val="273996768"/>
        <c:axId val="273998688"/>
      </c:lineChart>
      <c:dateAx>
        <c:axId val="273996768"/>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ja-JP"/>
          </a:p>
        </c:txPr>
        <c:crossAx val="273998688"/>
        <c:crosses val="autoZero"/>
        <c:auto val="1"/>
        <c:lblOffset val="100"/>
        <c:baseTimeUnit val="months"/>
      </c:dateAx>
      <c:valAx>
        <c:axId val="273998688"/>
        <c:scaling>
          <c:orientation val="minMax"/>
          <c:max val="3.0000000000000006E-2"/>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273996768"/>
        <c:crosses val="autoZero"/>
        <c:crossBetween val="between"/>
        <c:majorUnit val="3.0000000000000009E-3"/>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r>
              <a:rPr lang="en-US" dirty="0"/>
              <a:t>2026</a:t>
            </a:r>
            <a:r>
              <a:rPr lang="ja-JP"/>
              <a:t>年度</a:t>
            </a:r>
            <a:r>
              <a:rPr lang="en-US" dirty="0"/>
              <a:t>1</a:t>
            </a:r>
            <a:r>
              <a:rPr lang="ja-JP"/>
              <a:t>月～</a:t>
            </a:r>
            <a:r>
              <a:rPr lang="en-US" dirty="0"/>
              <a:t>6</a:t>
            </a:r>
            <a:r>
              <a:rPr lang="ja-JP"/>
              <a:t>月</a:t>
            </a:r>
          </a:p>
        </c:rich>
      </c:tx>
      <c:overlay val="0"/>
      <c:spPr>
        <a:noFill/>
        <a:ln>
          <a:noFill/>
        </a:ln>
        <a:effectLst/>
      </c:spPr>
      <c:txPr>
        <a:bodyPr rot="0" spcFirstLastPara="1" vertOverflow="ellipsis" vert="horz" wrap="square" anchor="ctr" anchorCtr="1"/>
        <a:lstStyle/>
        <a:p>
          <a:pPr>
            <a:defRPr sz="126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title>
    <c:autoTitleDeleted val="0"/>
    <c:plotArea>
      <c:layout/>
      <c:barChart>
        <c:barDir val="col"/>
        <c:grouping val="clustered"/>
        <c:varyColors val="0"/>
        <c:ser>
          <c:idx val="0"/>
          <c:order val="0"/>
          <c:tx>
            <c:strRef>
              <c:f>報告用!$A$23</c:f>
              <c:strCache>
                <c:ptCount val="1"/>
                <c:pt idx="0">
                  <c:v>2026年1月</c:v>
                </c:pt>
              </c:strCache>
            </c:strRef>
          </c:tx>
          <c:spPr>
            <a:gradFill rotWithShape="1">
              <a:gsLst>
                <a:gs pos="0">
                  <a:schemeClr val="accent1">
                    <a:tint val="94000"/>
                    <a:satMod val="100000"/>
                    <a:lumMod val="108000"/>
                  </a:schemeClr>
                </a:gs>
                <a:gs pos="50000">
                  <a:schemeClr val="accent1">
                    <a:tint val="98000"/>
                    <a:shade val="100000"/>
                    <a:satMod val="100000"/>
                    <a:lumMod val="100000"/>
                  </a:schemeClr>
                </a:gs>
                <a:gs pos="100000">
                  <a:schemeClr val="accent1">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報告用!$C$23</c:f>
              <c:numCache>
                <c:formatCode>General</c:formatCode>
                <c:ptCount val="1"/>
                <c:pt idx="0">
                  <c:v>11.9</c:v>
                </c:pt>
              </c:numCache>
            </c:numRef>
          </c:val>
          <c:extLst>
            <c:ext xmlns:c16="http://schemas.microsoft.com/office/drawing/2014/chart" uri="{C3380CC4-5D6E-409C-BE32-E72D297353CC}">
              <c16:uniqueId val="{00000000-FF6B-4D68-B981-5BBA02D9B89B}"/>
            </c:ext>
          </c:extLst>
        </c:ser>
        <c:ser>
          <c:idx val="1"/>
          <c:order val="1"/>
          <c:tx>
            <c:strRef>
              <c:f>報告用!$A$24</c:f>
              <c:strCache>
                <c:ptCount val="1"/>
                <c:pt idx="0">
                  <c:v>2026年2月</c:v>
                </c:pt>
              </c:strCache>
            </c:strRef>
          </c:tx>
          <c:spPr>
            <a:gradFill rotWithShape="1">
              <a:gsLst>
                <a:gs pos="0">
                  <a:schemeClr val="accent2">
                    <a:tint val="94000"/>
                    <a:satMod val="100000"/>
                    <a:lumMod val="108000"/>
                  </a:schemeClr>
                </a:gs>
                <a:gs pos="50000">
                  <a:schemeClr val="accent2">
                    <a:tint val="98000"/>
                    <a:shade val="100000"/>
                    <a:satMod val="100000"/>
                    <a:lumMod val="100000"/>
                  </a:schemeClr>
                </a:gs>
                <a:gs pos="100000">
                  <a:schemeClr val="accent2">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報告用!$C$24</c:f>
              <c:numCache>
                <c:formatCode>General</c:formatCode>
                <c:ptCount val="1"/>
                <c:pt idx="0">
                  <c:v>11.3</c:v>
                </c:pt>
              </c:numCache>
            </c:numRef>
          </c:val>
          <c:extLst>
            <c:ext xmlns:c16="http://schemas.microsoft.com/office/drawing/2014/chart" uri="{C3380CC4-5D6E-409C-BE32-E72D297353CC}">
              <c16:uniqueId val="{00000001-FF6B-4D68-B981-5BBA02D9B89B}"/>
            </c:ext>
          </c:extLst>
        </c:ser>
        <c:ser>
          <c:idx val="2"/>
          <c:order val="2"/>
          <c:tx>
            <c:strRef>
              <c:f>報告用!$A$25</c:f>
              <c:strCache>
                <c:ptCount val="1"/>
                <c:pt idx="0">
                  <c:v>2026年3月</c:v>
                </c:pt>
              </c:strCache>
            </c:strRef>
          </c:tx>
          <c:spPr>
            <a:gradFill rotWithShape="1">
              <a:gsLst>
                <a:gs pos="0">
                  <a:schemeClr val="accent3">
                    <a:tint val="94000"/>
                    <a:satMod val="100000"/>
                    <a:lumMod val="108000"/>
                  </a:schemeClr>
                </a:gs>
                <a:gs pos="50000">
                  <a:schemeClr val="accent3">
                    <a:tint val="98000"/>
                    <a:shade val="100000"/>
                    <a:satMod val="100000"/>
                    <a:lumMod val="100000"/>
                  </a:schemeClr>
                </a:gs>
                <a:gs pos="100000">
                  <a:schemeClr val="accent3">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報告用!$C$25</c:f>
              <c:numCache>
                <c:formatCode>General</c:formatCode>
                <c:ptCount val="1"/>
                <c:pt idx="0">
                  <c:v>10.4</c:v>
                </c:pt>
              </c:numCache>
            </c:numRef>
          </c:val>
          <c:extLst>
            <c:ext xmlns:c16="http://schemas.microsoft.com/office/drawing/2014/chart" uri="{C3380CC4-5D6E-409C-BE32-E72D297353CC}">
              <c16:uniqueId val="{00000002-FF6B-4D68-B981-5BBA02D9B89B}"/>
            </c:ext>
          </c:extLst>
        </c:ser>
        <c:ser>
          <c:idx val="3"/>
          <c:order val="3"/>
          <c:tx>
            <c:strRef>
              <c:f>報告用!$A$26</c:f>
              <c:strCache>
                <c:ptCount val="1"/>
                <c:pt idx="0">
                  <c:v>2026年4月</c:v>
                </c:pt>
              </c:strCache>
            </c:strRef>
          </c:tx>
          <c:spPr>
            <a:gradFill rotWithShape="1">
              <a:gsLst>
                <a:gs pos="0">
                  <a:schemeClr val="accent4">
                    <a:tint val="94000"/>
                    <a:satMod val="100000"/>
                    <a:lumMod val="108000"/>
                  </a:schemeClr>
                </a:gs>
                <a:gs pos="50000">
                  <a:schemeClr val="accent4">
                    <a:tint val="98000"/>
                    <a:shade val="100000"/>
                    <a:satMod val="100000"/>
                    <a:lumMod val="100000"/>
                  </a:schemeClr>
                </a:gs>
                <a:gs pos="100000">
                  <a:schemeClr val="accent4">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報告用!$C$26</c:f>
              <c:numCache>
                <c:formatCode>General</c:formatCode>
                <c:ptCount val="1"/>
                <c:pt idx="0">
                  <c:v>12.6</c:v>
                </c:pt>
              </c:numCache>
            </c:numRef>
          </c:val>
          <c:extLst>
            <c:ext xmlns:c16="http://schemas.microsoft.com/office/drawing/2014/chart" uri="{C3380CC4-5D6E-409C-BE32-E72D297353CC}">
              <c16:uniqueId val="{00000003-FF6B-4D68-B981-5BBA02D9B89B}"/>
            </c:ext>
          </c:extLst>
        </c:ser>
        <c:ser>
          <c:idx val="4"/>
          <c:order val="4"/>
          <c:tx>
            <c:strRef>
              <c:f>報告用!$A$27</c:f>
              <c:strCache>
                <c:ptCount val="1"/>
                <c:pt idx="0">
                  <c:v>2026年5月</c:v>
                </c:pt>
              </c:strCache>
            </c:strRef>
          </c:tx>
          <c:spPr>
            <a:gradFill rotWithShape="1">
              <a:gsLst>
                <a:gs pos="0">
                  <a:schemeClr val="accent5">
                    <a:tint val="94000"/>
                    <a:satMod val="100000"/>
                    <a:lumMod val="108000"/>
                  </a:schemeClr>
                </a:gs>
                <a:gs pos="50000">
                  <a:schemeClr val="accent5">
                    <a:tint val="98000"/>
                    <a:shade val="100000"/>
                    <a:satMod val="100000"/>
                    <a:lumMod val="100000"/>
                  </a:schemeClr>
                </a:gs>
                <a:gs pos="100000">
                  <a:schemeClr val="accent5">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報告用!$C$27</c:f>
              <c:numCache>
                <c:formatCode>General</c:formatCode>
                <c:ptCount val="1"/>
                <c:pt idx="0">
                  <c:v>9.4</c:v>
                </c:pt>
              </c:numCache>
            </c:numRef>
          </c:val>
          <c:extLst>
            <c:ext xmlns:c16="http://schemas.microsoft.com/office/drawing/2014/chart" uri="{C3380CC4-5D6E-409C-BE32-E72D297353CC}">
              <c16:uniqueId val="{00000004-FF6B-4D68-B981-5BBA02D9B89B}"/>
            </c:ext>
          </c:extLst>
        </c:ser>
        <c:ser>
          <c:idx val="5"/>
          <c:order val="5"/>
          <c:tx>
            <c:strRef>
              <c:f>報告用!$A$28</c:f>
              <c:strCache>
                <c:ptCount val="1"/>
                <c:pt idx="0">
                  <c:v>2026年6月</c:v>
                </c:pt>
              </c:strCache>
            </c:strRef>
          </c:tx>
          <c:spPr>
            <a:gradFill rotWithShape="1">
              <a:gsLst>
                <a:gs pos="0">
                  <a:schemeClr val="accent6">
                    <a:tint val="94000"/>
                    <a:satMod val="100000"/>
                    <a:lumMod val="108000"/>
                  </a:schemeClr>
                </a:gs>
                <a:gs pos="50000">
                  <a:schemeClr val="accent6">
                    <a:tint val="98000"/>
                    <a:shade val="100000"/>
                    <a:satMod val="100000"/>
                    <a:lumMod val="100000"/>
                  </a:schemeClr>
                </a:gs>
                <a:gs pos="100000">
                  <a:schemeClr val="accent6">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報告用!$C$1</c:f>
              <c:strCache>
                <c:ptCount val="1"/>
                <c:pt idx="0">
                  <c:v>2024年度廃棄本数</c:v>
                </c:pt>
              </c:strCache>
            </c:strRef>
          </c:cat>
          <c:val>
            <c:numRef>
              <c:f>報告用!$C$28</c:f>
              <c:numCache>
                <c:formatCode>General</c:formatCode>
                <c:ptCount val="1"/>
                <c:pt idx="0">
                  <c:v>14.5</c:v>
                </c:pt>
              </c:numCache>
            </c:numRef>
          </c:val>
          <c:extLst>
            <c:ext xmlns:c16="http://schemas.microsoft.com/office/drawing/2014/chart" uri="{C3380CC4-5D6E-409C-BE32-E72D297353CC}">
              <c16:uniqueId val="{00000005-FF6B-4D68-B981-5BBA02D9B89B}"/>
            </c:ext>
          </c:extLst>
        </c:ser>
        <c:dLbls>
          <c:dLblPos val="outEnd"/>
          <c:showLegendKey val="0"/>
          <c:showVal val="1"/>
          <c:showCatName val="0"/>
          <c:showSerName val="0"/>
          <c:showPercent val="0"/>
          <c:showBubbleSize val="0"/>
        </c:dLbls>
        <c:gapWidth val="100"/>
        <c:overlap val="-24"/>
        <c:axId val="213865296"/>
        <c:axId val="213868656"/>
      </c:barChart>
      <c:catAx>
        <c:axId val="213865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crossAx val="213868656"/>
        <c:crosses val="autoZero"/>
        <c:auto val="1"/>
        <c:lblAlgn val="ctr"/>
        <c:lblOffset val="100"/>
        <c:noMultiLvlLbl val="0"/>
      </c:catAx>
      <c:valAx>
        <c:axId val="213868656"/>
        <c:scaling>
          <c:orientation val="minMax"/>
          <c:max val="1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crossAx val="213865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游ゴシック" panose="020B0400000000000000" pitchFamily="50" charset="-128"/>
              <a:ea typeface="游ゴシック" panose="020B0400000000000000"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b="1">
          <a:solidFill>
            <a:schemeClr val="tx1"/>
          </a:solidFill>
          <a:latin typeface="游ゴシック" panose="020B0400000000000000" pitchFamily="50" charset="-128"/>
          <a:ea typeface="游ゴシック" panose="020B0400000000000000" pitchFamily="50" charset="-128"/>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データ!$B$65</c:f>
              <c:strCache>
                <c:ptCount val="1"/>
                <c:pt idx="0">
                  <c:v>検査稼働日</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データ!$C$64:$O$64</c:f>
              <c:numCache>
                <c:formatCode>yyyy"年"m"月";@</c:formatCode>
                <c:ptCount val="13"/>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pt idx="12">
                  <c:v>46447</c:v>
                </c:pt>
              </c:numCache>
            </c:numRef>
          </c:cat>
          <c:val>
            <c:numRef>
              <c:f>データ!$C$65:$O$65</c:f>
              <c:numCache>
                <c:formatCode>#,##0_);[Red]\(#,##0\)</c:formatCode>
                <c:ptCount val="13"/>
                <c:pt idx="0">
                  <c:v>23</c:v>
                </c:pt>
                <c:pt idx="1">
                  <c:v>21</c:v>
                </c:pt>
                <c:pt idx="2">
                  <c:v>19</c:v>
                </c:pt>
                <c:pt idx="3">
                  <c:v>23</c:v>
                </c:pt>
                <c:pt idx="4">
                  <c:v>24</c:v>
                </c:pt>
                <c:pt idx="5">
                  <c:v>17</c:v>
                </c:pt>
                <c:pt idx="6">
                  <c:v>24</c:v>
                </c:pt>
                <c:pt idx="7">
                  <c:v>22</c:v>
                </c:pt>
                <c:pt idx="8">
                  <c:v>21</c:v>
                </c:pt>
                <c:pt idx="9">
                  <c:v>20</c:v>
                </c:pt>
                <c:pt idx="10">
                  <c:v>18</c:v>
                </c:pt>
                <c:pt idx="11">
                  <c:v>21</c:v>
                </c:pt>
                <c:pt idx="12">
                  <c:v>23</c:v>
                </c:pt>
              </c:numCache>
            </c:numRef>
          </c:val>
          <c:extLst>
            <c:ext xmlns:c16="http://schemas.microsoft.com/office/drawing/2014/chart" uri="{C3380CC4-5D6E-409C-BE32-E72D297353CC}">
              <c16:uniqueId val="{00000000-CFD9-4271-9938-B05F8C1AC49A}"/>
            </c:ext>
          </c:extLst>
        </c:ser>
        <c:ser>
          <c:idx val="1"/>
          <c:order val="1"/>
          <c:tx>
            <c:strRef>
              <c:f>データ!$B$66</c:f>
              <c:strCache>
                <c:ptCount val="1"/>
                <c:pt idx="0">
                  <c:v>メッキ日当たり</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データ!$C$64:$O$64</c:f>
              <c:numCache>
                <c:formatCode>yyyy"年"m"月";@</c:formatCode>
                <c:ptCount val="13"/>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pt idx="12">
                  <c:v>46447</c:v>
                </c:pt>
              </c:numCache>
            </c:numRef>
          </c:cat>
          <c:val>
            <c:numRef>
              <c:f>データ!$C$66:$O$66</c:f>
              <c:numCache>
                <c:formatCode>General</c:formatCode>
                <c:ptCount val="13"/>
                <c:pt idx="0">
                  <c:v>36.9</c:v>
                </c:pt>
                <c:pt idx="1">
                  <c:v>36.9</c:v>
                </c:pt>
                <c:pt idx="2">
                  <c:v>36.9</c:v>
                </c:pt>
                <c:pt idx="3">
                  <c:v>36.9</c:v>
                </c:pt>
                <c:pt idx="4">
                  <c:v>36.9</c:v>
                </c:pt>
                <c:pt idx="5">
                  <c:v>36.9</c:v>
                </c:pt>
                <c:pt idx="6">
                  <c:v>36.9</c:v>
                </c:pt>
                <c:pt idx="7">
                  <c:v>36.9</c:v>
                </c:pt>
                <c:pt idx="8">
                  <c:v>35.5</c:v>
                </c:pt>
                <c:pt idx="9">
                  <c:v>35.5</c:v>
                </c:pt>
                <c:pt idx="10">
                  <c:v>35.5</c:v>
                </c:pt>
                <c:pt idx="11">
                  <c:v>35.5</c:v>
                </c:pt>
                <c:pt idx="12">
                  <c:v>35.5</c:v>
                </c:pt>
              </c:numCache>
            </c:numRef>
          </c:val>
          <c:extLst>
            <c:ext xmlns:c16="http://schemas.microsoft.com/office/drawing/2014/chart" uri="{C3380CC4-5D6E-409C-BE32-E72D297353CC}">
              <c16:uniqueId val="{00000001-CFD9-4271-9938-B05F8C1AC49A}"/>
            </c:ext>
          </c:extLst>
        </c:ser>
        <c:dLbls>
          <c:showLegendKey val="0"/>
          <c:showVal val="1"/>
          <c:showCatName val="0"/>
          <c:showSerName val="0"/>
          <c:showPercent val="0"/>
          <c:showBubbleSize val="0"/>
        </c:dLbls>
        <c:gapWidth val="75"/>
        <c:axId val="75013871"/>
        <c:axId val="75020591"/>
      </c:barChart>
      <c:lineChart>
        <c:grouping val="standard"/>
        <c:varyColors val="0"/>
        <c:ser>
          <c:idx val="2"/>
          <c:order val="2"/>
          <c:tx>
            <c:strRef>
              <c:f>データ!$B$70</c:f>
              <c:strCache>
                <c:ptCount val="1"/>
                <c:pt idx="0">
                  <c:v>検査前推移</c:v>
                </c:pt>
              </c:strCache>
            </c:strRef>
          </c:tx>
          <c:spPr>
            <a:ln w="28575" cap="rnd">
              <a:solidFill>
                <a:srgbClr val="0070C0"/>
              </a:solidFill>
              <a:round/>
            </a:ln>
            <a:effectLst/>
          </c:spPr>
          <c:marker>
            <c:symbol val="circle"/>
            <c:size val="5"/>
            <c:spPr>
              <a:solidFill>
                <a:schemeClr val="accent3"/>
              </a:solidFill>
              <a:ln w="9525">
                <a:solidFill>
                  <a:srgbClr val="0070C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データ!$C$64:$O$64</c:f>
              <c:numCache>
                <c:formatCode>yyyy"年"m"月";@</c:formatCode>
                <c:ptCount val="13"/>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pt idx="12">
                  <c:v>46447</c:v>
                </c:pt>
              </c:numCache>
            </c:numRef>
          </c:cat>
          <c:val>
            <c:numRef>
              <c:f>データ!$C$70:$O$70</c:f>
              <c:numCache>
                <c:formatCode>#,##0.0_ </c:formatCode>
                <c:ptCount val="13"/>
                <c:pt idx="0">
                  <c:v>80.010400000000004</c:v>
                </c:pt>
                <c:pt idx="1">
                  <c:v>67.311199999999644</c:v>
                </c:pt>
                <c:pt idx="2">
                  <c:v>59.991999999999962</c:v>
                </c:pt>
                <c:pt idx="3">
                  <c:v>68.101599999999962</c:v>
                </c:pt>
                <c:pt idx="4">
                  <c:v>96.628503600464228</c:v>
                </c:pt>
                <c:pt idx="5">
                  <c:v>68.699703600464318</c:v>
                </c:pt>
                <c:pt idx="6">
                  <c:v>87.796799999999848</c:v>
                </c:pt>
                <c:pt idx="7">
                  <c:v>94.380852910052681</c:v>
                </c:pt>
                <c:pt idx="8">
                  <c:v>71.092393650793383</c:v>
                </c:pt>
                <c:pt idx="9">
                  <c:v>72.284703703703826</c:v>
                </c:pt>
                <c:pt idx="10">
                  <c:v>71.8000634920636</c:v>
                </c:pt>
                <c:pt idx="11">
                  <c:v>70.541857142856998</c:v>
                </c:pt>
                <c:pt idx="12">
                  <c:v>63.33812698412703</c:v>
                </c:pt>
              </c:numCache>
            </c:numRef>
          </c:val>
          <c:smooth val="0"/>
          <c:extLst>
            <c:ext xmlns:c16="http://schemas.microsoft.com/office/drawing/2014/chart" uri="{C3380CC4-5D6E-409C-BE32-E72D297353CC}">
              <c16:uniqueId val="{00000002-CFD9-4271-9938-B05F8C1AC49A}"/>
            </c:ext>
          </c:extLst>
        </c:ser>
        <c:dLbls>
          <c:showLegendKey val="0"/>
          <c:showVal val="1"/>
          <c:showCatName val="0"/>
          <c:showSerName val="0"/>
          <c:showPercent val="0"/>
          <c:showBubbleSize val="0"/>
        </c:dLbls>
        <c:marker val="1"/>
        <c:smooth val="0"/>
        <c:axId val="675214575"/>
        <c:axId val="675226095"/>
      </c:lineChart>
      <c:dateAx>
        <c:axId val="75013871"/>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75020591"/>
        <c:crosses val="autoZero"/>
        <c:auto val="1"/>
        <c:lblOffset val="100"/>
        <c:baseTimeUnit val="months"/>
      </c:dateAx>
      <c:valAx>
        <c:axId val="75020591"/>
        <c:scaling>
          <c:orientation val="minMax"/>
          <c:max val="60"/>
          <c:min val="10"/>
        </c:scaling>
        <c:delete val="0"/>
        <c:axPos val="l"/>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75013871"/>
        <c:crosses val="autoZero"/>
        <c:crossBetween val="between"/>
      </c:valAx>
      <c:valAx>
        <c:axId val="675226095"/>
        <c:scaling>
          <c:orientation val="minMax"/>
          <c:min val="-900"/>
        </c:scaling>
        <c:delete val="0"/>
        <c:axPos val="r"/>
        <c:numFmt formatCode="#,##0.0_ "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675214575"/>
        <c:crosses val="max"/>
        <c:crossBetween val="between"/>
      </c:valAx>
      <c:dateAx>
        <c:axId val="675214575"/>
        <c:scaling>
          <c:orientation val="minMax"/>
        </c:scaling>
        <c:delete val="1"/>
        <c:axPos val="b"/>
        <c:numFmt formatCode="yyyy&quot;年&quot;m&quot;月&quot;;@" sourceLinked="1"/>
        <c:majorTickMark val="out"/>
        <c:minorTickMark val="none"/>
        <c:tickLblPos val="nextTo"/>
        <c:crossAx val="675226095"/>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b="1">
          <a:solidFill>
            <a:sysClr val="windowText" lastClr="000000"/>
          </a:solidFill>
          <a:latin typeface="游ゴシック" panose="020B0400000000000000" pitchFamily="50" charset="-128"/>
          <a:ea typeface="游ゴシック" panose="020B0400000000000000" pitchFamily="50" charset="-128"/>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データ!$B$57</c:f>
              <c:strCache>
                <c:ptCount val="1"/>
                <c:pt idx="0">
                  <c:v>検査稼働日</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データ!$C$56:$N$56</c:f>
              <c:numCache>
                <c:formatCode>yyyy"年"m"月";@</c:formatCode>
                <c:ptCount val="12"/>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numCache>
            </c:numRef>
          </c:cat>
          <c:val>
            <c:numRef>
              <c:f>データ!$C$57:$N$57</c:f>
              <c:numCache>
                <c:formatCode>#,##0_);[Red]\(#,##0\)</c:formatCode>
                <c:ptCount val="12"/>
                <c:pt idx="0">
                  <c:v>23</c:v>
                </c:pt>
                <c:pt idx="1">
                  <c:v>21</c:v>
                </c:pt>
                <c:pt idx="2">
                  <c:v>19</c:v>
                </c:pt>
                <c:pt idx="3">
                  <c:v>22</c:v>
                </c:pt>
                <c:pt idx="4">
                  <c:v>23</c:v>
                </c:pt>
                <c:pt idx="5">
                  <c:v>17</c:v>
                </c:pt>
                <c:pt idx="6">
                  <c:v>22</c:v>
                </c:pt>
                <c:pt idx="7">
                  <c:v>22</c:v>
                </c:pt>
                <c:pt idx="8">
                  <c:v>21</c:v>
                </c:pt>
                <c:pt idx="9">
                  <c:v>20</c:v>
                </c:pt>
                <c:pt idx="10">
                  <c:v>18</c:v>
                </c:pt>
                <c:pt idx="11">
                  <c:v>21</c:v>
                </c:pt>
              </c:numCache>
            </c:numRef>
          </c:val>
          <c:extLst>
            <c:ext xmlns:c16="http://schemas.microsoft.com/office/drawing/2014/chart" uri="{C3380CC4-5D6E-409C-BE32-E72D297353CC}">
              <c16:uniqueId val="{00000000-87B1-4F73-9340-FD8D63464547}"/>
            </c:ext>
          </c:extLst>
        </c:ser>
        <c:ser>
          <c:idx val="1"/>
          <c:order val="1"/>
          <c:tx>
            <c:strRef>
              <c:f>データ!$B$58</c:f>
              <c:strCache>
                <c:ptCount val="1"/>
                <c:pt idx="0">
                  <c:v>検査日当たり</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データ!$C$56:$N$56</c:f>
              <c:numCache>
                <c:formatCode>yyyy"年"m"月";@</c:formatCode>
                <c:ptCount val="12"/>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numCache>
            </c:numRef>
          </c:cat>
          <c:val>
            <c:numRef>
              <c:f>データ!$C$58:$N$58</c:f>
              <c:numCache>
                <c:formatCode>#,##0.0_);[Red]\(#,##0.0\)</c:formatCode>
                <c:ptCount val="12"/>
                <c:pt idx="0">
                  <c:v>46</c:v>
                </c:pt>
                <c:pt idx="1">
                  <c:v>44</c:v>
                </c:pt>
                <c:pt idx="2">
                  <c:v>45.8</c:v>
                </c:pt>
                <c:pt idx="3">
                  <c:v>47.1</c:v>
                </c:pt>
                <c:pt idx="4">
                  <c:v>47.2</c:v>
                </c:pt>
                <c:pt idx="5">
                  <c:v>46.5</c:v>
                </c:pt>
                <c:pt idx="6">
                  <c:v>47.2</c:v>
                </c:pt>
                <c:pt idx="7">
                  <c:v>45</c:v>
                </c:pt>
                <c:pt idx="8">
                  <c:v>43</c:v>
                </c:pt>
                <c:pt idx="9">
                  <c:v>43</c:v>
                </c:pt>
                <c:pt idx="10">
                  <c:v>43</c:v>
                </c:pt>
                <c:pt idx="11">
                  <c:v>43</c:v>
                </c:pt>
              </c:numCache>
            </c:numRef>
          </c:val>
          <c:extLst>
            <c:ext xmlns:c16="http://schemas.microsoft.com/office/drawing/2014/chart" uri="{C3380CC4-5D6E-409C-BE32-E72D297353CC}">
              <c16:uniqueId val="{00000001-87B1-4F73-9340-FD8D63464547}"/>
            </c:ext>
          </c:extLst>
        </c:ser>
        <c:dLbls>
          <c:showLegendKey val="0"/>
          <c:showVal val="1"/>
          <c:showCatName val="0"/>
          <c:showSerName val="0"/>
          <c:showPercent val="0"/>
          <c:showBubbleSize val="0"/>
        </c:dLbls>
        <c:gapWidth val="75"/>
        <c:axId val="1595262432"/>
        <c:axId val="1595273472"/>
      </c:barChart>
      <c:lineChart>
        <c:grouping val="standard"/>
        <c:varyColors val="0"/>
        <c:ser>
          <c:idx val="2"/>
          <c:order val="2"/>
          <c:tx>
            <c:strRef>
              <c:f>データ!$B$61</c:f>
              <c:strCache>
                <c:ptCount val="1"/>
                <c:pt idx="0">
                  <c:v>製品在庫推移</c:v>
                </c:pt>
              </c:strCache>
            </c:strRef>
          </c:tx>
          <c:spPr>
            <a:ln w="28575" cap="rnd">
              <a:solidFill>
                <a:schemeClr val="accent3"/>
              </a:solidFill>
              <a:round/>
            </a:ln>
            <a:effectLst/>
          </c:spPr>
          <c:marker>
            <c:symbol val="diamond"/>
            <c:size val="7"/>
            <c:spPr>
              <a:solidFill>
                <a:schemeClr val="accent3"/>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データ!$C$56:$N$56</c:f>
              <c:numCache>
                <c:formatCode>yyyy"年"m"月";@</c:formatCode>
                <c:ptCount val="12"/>
                <c:pt idx="0">
                  <c:v>46082</c:v>
                </c:pt>
                <c:pt idx="1">
                  <c:v>46113</c:v>
                </c:pt>
                <c:pt idx="2">
                  <c:v>46143</c:v>
                </c:pt>
                <c:pt idx="3">
                  <c:v>46174</c:v>
                </c:pt>
                <c:pt idx="4">
                  <c:v>46204</c:v>
                </c:pt>
                <c:pt idx="5">
                  <c:v>46235</c:v>
                </c:pt>
                <c:pt idx="6">
                  <c:v>46266</c:v>
                </c:pt>
                <c:pt idx="7">
                  <c:v>46296</c:v>
                </c:pt>
                <c:pt idx="8">
                  <c:v>46327</c:v>
                </c:pt>
                <c:pt idx="9">
                  <c:v>46357</c:v>
                </c:pt>
                <c:pt idx="10">
                  <c:v>46388</c:v>
                </c:pt>
                <c:pt idx="11">
                  <c:v>46419</c:v>
                </c:pt>
              </c:numCache>
            </c:numRef>
          </c:cat>
          <c:val>
            <c:numRef>
              <c:f>データ!$C$61:$N$61</c:f>
              <c:numCache>
                <c:formatCode>#,##0.0_);[Red]\(#,##0.0\)</c:formatCode>
                <c:ptCount val="12"/>
                <c:pt idx="0">
                  <c:v>455.07800000000009</c:v>
                </c:pt>
                <c:pt idx="1">
                  <c:v>437.56200000000013</c:v>
                </c:pt>
                <c:pt idx="2">
                  <c:v>451.83019999999999</c:v>
                </c:pt>
                <c:pt idx="3">
                  <c:v>444.00440000000003</c:v>
                </c:pt>
                <c:pt idx="4">
                  <c:v>411.73399999999992</c:v>
                </c:pt>
                <c:pt idx="5">
                  <c:v>382.11949999999979</c:v>
                </c:pt>
                <c:pt idx="6">
                  <c:v>391.37389999999971</c:v>
                </c:pt>
                <c:pt idx="7">
                  <c:v>382.11871352432559</c:v>
                </c:pt>
                <c:pt idx="8">
                  <c:v>360.51154188927592</c:v>
                </c:pt>
                <c:pt idx="9">
                  <c:v>391.30024559297942</c:v>
                </c:pt>
                <c:pt idx="10">
                  <c:v>386.53717177700321</c:v>
                </c:pt>
                <c:pt idx="11">
                  <c:v>420.32876127242184</c:v>
                </c:pt>
              </c:numCache>
            </c:numRef>
          </c:val>
          <c:smooth val="0"/>
          <c:extLst>
            <c:ext xmlns:c16="http://schemas.microsoft.com/office/drawing/2014/chart" uri="{C3380CC4-5D6E-409C-BE32-E72D297353CC}">
              <c16:uniqueId val="{00000002-87B1-4F73-9340-FD8D63464547}"/>
            </c:ext>
          </c:extLst>
        </c:ser>
        <c:dLbls>
          <c:showLegendKey val="0"/>
          <c:showVal val="1"/>
          <c:showCatName val="0"/>
          <c:showSerName val="0"/>
          <c:showPercent val="0"/>
          <c:showBubbleSize val="0"/>
        </c:dLbls>
        <c:marker val="1"/>
        <c:smooth val="0"/>
        <c:axId val="675227535"/>
        <c:axId val="675228975"/>
      </c:lineChart>
      <c:dateAx>
        <c:axId val="1595262432"/>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1595273472"/>
        <c:crosses val="autoZero"/>
        <c:auto val="1"/>
        <c:lblOffset val="100"/>
        <c:baseTimeUnit val="months"/>
      </c:dateAx>
      <c:valAx>
        <c:axId val="1595273472"/>
        <c:scaling>
          <c:orientation val="minMax"/>
          <c:max val="80"/>
          <c:min val="0"/>
        </c:scaling>
        <c:delete val="0"/>
        <c:axPos val="l"/>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1595262432"/>
        <c:crosses val="autoZero"/>
        <c:crossBetween val="between"/>
      </c:valAx>
      <c:valAx>
        <c:axId val="675228975"/>
        <c:scaling>
          <c:orientation val="minMax"/>
          <c:max val="600"/>
          <c:min val="-550"/>
        </c:scaling>
        <c:delete val="0"/>
        <c:axPos val="r"/>
        <c:numFmt formatCode="#,##0.0_);[Red]\(#,##0.0\)"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crossAx val="675227535"/>
        <c:crosses val="max"/>
        <c:crossBetween val="between"/>
      </c:valAx>
      <c:dateAx>
        <c:axId val="675227535"/>
        <c:scaling>
          <c:orientation val="minMax"/>
        </c:scaling>
        <c:delete val="1"/>
        <c:axPos val="b"/>
        <c:numFmt formatCode="yyyy&quot;年&quot;m&quot;月&quot;;@" sourceLinked="1"/>
        <c:majorTickMark val="out"/>
        <c:minorTickMark val="none"/>
        <c:tickLblPos val="nextTo"/>
        <c:crossAx val="675228975"/>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游ゴシック" panose="020B0400000000000000" pitchFamily="50" charset="-128"/>
              <a:ea typeface="游ゴシック" panose="020B0400000000000000"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b="1">
          <a:solidFill>
            <a:sysClr val="windowText" lastClr="000000"/>
          </a:solidFill>
          <a:latin typeface="游ゴシック" panose="020B0400000000000000" pitchFamily="50" charset="-128"/>
          <a:ea typeface="游ゴシック" panose="020B0400000000000000" pitchFamily="50" charset="-128"/>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ja-JP"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ja-JP" altLang="en-US" dirty="0"/>
          </a:p>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ja-JP" altLang="ja-JP" sz="1100" b="0" i="0" u="none" strike="noStrike" cap="none">
              <a:solidFill>
                <a:srgbClr val="000000"/>
              </a:solidFill>
              <a:effectLst/>
              <a:latin typeface="Arial"/>
              <a:ea typeface="Arial"/>
              <a:cs typeface="Arial"/>
              <a:sym typeface="Arial"/>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224" name="Google Shape;22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D87B8565-AAF7-4A8E-ED9C-A2A39F9E8CFE}"/>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49EB1388-97A4-94FE-7545-91C43BE871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C64422E0-1353-091E-7E32-23E7FBBD23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3063801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txBody>
          <a:bodyPr/>
          <a:lstStyle/>
          <a:p>
            <a:endParaRPr lang="ja-JP" altLang="en-US"/>
          </a:p>
        </p:txBody>
      </p:sp>
      <p:sp>
        <p:nvSpPr>
          <p:cNvPr id="3" name="ノート プレースホルダー 2"/>
          <p:cNvSpPr>
            <a:spLocks noGrp="1"/>
          </p:cNvSpPr>
          <p:nvPr>
            <p:ph type="body" idx="1"/>
          </p:nvPr>
        </p:nvSpPr>
        <p:spPr/>
        <p:txBody>
          <a:bodyPr/>
          <a:lstStyle/>
          <a:p>
            <a:pPr marL="158750" indent="0">
              <a:buNone/>
            </a:pPr>
            <a:endParaRPr lang="ja-JP" altLang="ja-JP" sz="1100" b="0" i="0" u="none" strike="noStrike" cap="none">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708752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74130-505E-A084-82A2-15E8D61E2C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E637A36-2215-8F9B-0460-C24AFC5F571D}"/>
              </a:ext>
            </a:extLst>
          </p:cNvPr>
          <p:cNvSpPr>
            <a:spLocks noGrp="1" noRot="1" noChangeAspect="1"/>
          </p:cNvSpPr>
          <p:nvPr>
            <p:ph type="sldImg"/>
          </p:nvPr>
        </p:nvSpPr>
        <p:spPr>
          <a:xfrm>
            <a:off x="381000" y="685800"/>
            <a:ext cx="6096000" cy="3429000"/>
          </a:xfrm>
        </p:spPr>
        <p:txBody>
          <a:bodyPr/>
          <a:lstStyle/>
          <a:p>
            <a:endParaRPr lang="ja-JP" altLang="en-US"/>
          </a:p>
        </p:txBody>
      </p:sp>
      <p:sp>
        <p:nvSpPr>
          <p:cNvPr id="3" name="ノート プレースホルダー 2">
            <a:extLst>
              <a:ext uri="{FF2B5EF4-FFF2-40B4-BE49-F238E27FC236}">
                <a16:creationId xmlns:a16="http://schemas.microsoft.com/office/drawing/2014/main" id="{7AD4FA53-1F4E-C58B-3F5D-0809B9B5CF64}"/>
              </a:ext>
            </a:extLst>
          </p:cNvPr>
          <p:cNvSpPr>
            <a:spLocks noGrp="1"/>
          </p:cNvSpPr>
          <p:nvPr>
            <p:ph type="body" idx="1"/>
          </p:nvPr>
        </p:nvSpPr>
        <p:spPr/>
        <p:txBody>
          <a:bodyPr/>
          <a:lstStyle/>
          <a:p>
            <a:pPr marL="158750" indent="0">
              <a:buNone/>
            </a:pPr>
            <a:endParaRPr kumimoji="1" lang="ja-JP" altLang="en-US" dirty="0"/>
          </a:p>
        </p:txBody>
      </p:sp>
    </p:spTree>
    <p:extLst>
      <p:ext uri="{BB962C8B-B14F-4D97-AF65-F5344CB8AC3E}">
        <p14:creationId xmlns:p14="http://schemas.microsoft.com/office/powerpoint/2010/main" val="3298710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56C2171A-EDD0-FB05-A493-16522F56D048}"/>
            </a:ext>
          </a:extLst>
        </p:cNvPr>
        <p:cNvGrpSpPr/>
        <p:nvPr/>
      </p:nvGrpSpPr>
      <p:grpSpPr>
        <a:xfrm>
          <a:off x="0" y="0"/>
          <a:ext cx="0" cy="0"/>
          <a:chOff x="0" y="0"/>
          <a:chExt cx="0" cy="0"/>
        </a:xfrm>
      </p:grpSpPr>
      <p:sp>
        <p:nvSpPr>
          <p:cNvPr id="215" name="Google Shape;215;p10:notes">
            <a:extLst>
              <a:ext uri="{FF2B5EF4-FFF2-40B4-BE49-F238E27FC236}">
                <a16:creationId xmlns:a16="http://schemas.microsoft.com/office/drawing/2014/main" id="{56DF47C4-D611-294E-B65D-A9D89354B0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ja-JP" altLang="ja-JP" sz="1100" b="0" i="0" u="none" strike="noStrike" cap="none">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216" name="Google Shape;216;p10:notes">
            <a:extLst>
              <a:ext uri="{FF2B5EF4-FFF2-40B4-BE49-F238E27FC236}">
                <a16:creationId xmlns:a16="http://schemas.microsoft.com/office/drawing/2014/main" id="{8B0968D3-02D9-AEF2-ED84-1D8FE57DA5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2271556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ja-JP" altLang="en-US"/>
          </a:p>
        </p:txBody>
      </p:sp>
      <p:sp>
        <p:nvSpPr>
          <p:cNvPr id="153" name="Google Shape;1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ja-JP"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microsoft.com/office/2007/relationships/hdphoto" Target="../media/hdphoto1.wdp"/><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5088"/>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790479" y="3999458"/>
            <a:ext cx="2611040" cy="390525"/>
          </a:xfrm>
          <a:prstGeom prst="rect">
            <a:avLst/>
          </a:prstGeom>
          <a:noFill/>
          <a:ln>
            <a:noFill/>
          </a:ln>
        </p:spPr>
      </p:pic>
      <p:sp>
        <p:nvSpPr>
          <p:cNvPr id="86" name="Google Shape;86;p13"/>
          <p:cNvSpPr txBox="1"/>
          <p:nvPr/>
        </p:nvSpPr>
        <p:spPr>
          <a:xfrm>
            <a:off x="4790479" y="4161383"/>
            <a:ext cx="1267717" cy="207749"/>
          </a:xfrm>
          <a:prstGeom prst="rect">
            <a:avLst/>
          </a:prstGeom>
          <a:noFill/>
          <a:ln>
            <a:noFill/>
          </a:ln>
        </p:spPr>
        <p:txBody>
          <a:bodyPr spcFirstLastPara="1" wrap="square" lIns="133475" tIns="0" rIns="0" bIns="0" anchor="t" anchorCtr="0">
            <a:spAutoFit/>
          </a:bodyPr>
          <a:lstStyle/>
          <a:p>
            <a:pPr marL="0" marR="0" lvl="0" indent="0" algn="ctr" rtl="0">
              <a:spcBef>
                <a:spcPts val="0"/>
              </a:spcBef>
              <a:spcAft>
                <a:spcPts val="0"/>
              </a:spcAft>
              <a:buNone/>
            </a:pPr>
            <a:r>
              <a:rPr lang="en-US" sz="1350" b="0" i="0" u="none" strike="noStrike" cap="none" dirty="0">
                <a:solidFill>
                  <a:srgbClr val="CBD5E1"/>
                </a:solidFill>
                <a:latin typeface="Noto Sans JP"/>
                <a:ea typeface="Noto Sans JP"/>
                <a:cs typeface="Noto Sans JP"/>
                <a:sym typeface="Noto Sans JP"/>
              </a:rPr>
              <a:t>2026年7月7日</a:t>
            </a:r>
            <a:endParaRPr dirty="0"/>
          </a:p>
        </p:txBody>
      </p:sp>
      <p:sp>
        <p:nvSpPr>
          <p:cNvPr id="87" name="Google Shape;87;p13"/>
          <p:cNvSpPr txBox="1"/>
          <p:nvPr/>
        </p:nvSpPr>
        <p:spPr>
          <a:xfrm>
            <a:off x="6362997" y="4161383"/>
            <a:ext cx="1038522" cy="228600"/>
          </a:xfrm>
          <a:prstGeom prst="rect">
            <a:avLst/>
          </a:prstGeom>
          <a:noFill/>
          <a:ln>
            <a:noFill/>
          </a:ln>
        </p:spPr>
        <p:txBody>
          <a:bodyPr spcFirstLastPara="1" wrap="square" lIns="133475" tIns="0" rIns="0" bIns="0" anchor="t" anchorCtr="0">
            <a:spAutoFit/>
          </a:bodyPr>
          <a:lstStyle/>
          <a:p>
            <a:pPr marL="0" marR="0" lvl="0" indent="0" algn="ctr" rtl="0">
              <a:spcBef>
                <a:spcPts val="0"/>
              </a:spcBef>
              <a:spcAft>
                <a:spcPts val="0"/>
              </a:spcAft>
              <a:buNone/>
            </a:pPr>
            <a:r>
              <a:rPr lang="en-US" sz="1350" b="0" i="0" u="none" strike="noStrike" cap="none" dirty="0">
                <a:solidFill>
                  <a:srgbClr val="CBD5E1"/>
                </a:solidFill>
                <a:latin typeface="Noto Sans JP"/>
                <a:ea typeface="Noto Sans JP"/>
                <a:cs typeface="Noto Sans JP"/>
                <a:sym typeface="Noto Sans JP"/>
              </a:rPr>
              <a:t>生産管理部</a:t>
            </a:r>
            <a:endParaRPr dirty="0"/>
          </a:p>
        </p:txBody>
      </p:sp>
      <p:pic>
        <p:nvPicPr>
          <p:cNvPr id="88" name="Google Shape;88;p13" descr="image.png"/>
          <p:cNvPicPr preferRelativeResize="0"/>
          <p:nvPr/>
        </p:nvPicPr>
        <p:blipFill rotWithShape="1">
          <a:blip r:embed="rId5">
            <a:alphaModFix/>
          </a:blip>
          <a:srcRect/>
          <a:stretch/>
        </p:blipFill>
        <p:spPr>
          <a:xfrm>
            <a:off x="4790479" y="4189958"/>
            <a:ext cx="133498" cy="171450"/>
          </a:xfrm>
          <a:prstGeom prst="rect">
            <a:avLst/>
          </a:prstGeom>
          <a:noFill/>
          <a:ln>
            <a:noFill/>
          </a:ln>
        </p:spPr>
      </p:pic>
      <p:pic>
        <p:nvPicPr>
          <p:cNvPr id="89" name="Google Shape;89;p13" descr="image.png"/>
          <p:cNvPicPr preferRelativeResize="0"/>
          <p:nvPr/>
        </p:nvPicPr>
        <p:blipFill rotWithShape="1">
          <a:blip r:embed="rId6">
            <a:alphaModFix/>
          </a:blip>
          <a:srcRect/>
          <a:stretch/>
        </p:blipFill>
        <p:spPr>
          <a:xfrm>
            <a:off x="6362997" y="4189958"/>
            <a:ext cx="133498" cy="171450"/>
          </a:xfrm>
          <a:prstGeom prst="rect">
            <a:avLst/>
          </a:prstGeom>
          <a:noFill/>
          <a:ln>
            <a:noFill/>
          </a:ln>
        </p:spPr>
      </p:pic>
      <p:sp>
        <p:nvSpPr>
          <p:cNvPr id="90" name="Google Shape;90;p13"/>
          <p:cNvSpPr txBox="1"/>
          <p:nvPr/>
        </p:nvSpPr>
        <p:spPr>
          <a:xfrm>
            <a:off x="3857130" y="2467867"/>
            <a:ext cx="4477590" cy="840230"/>
          </a:xfrm>
          <a:prstGeom prst="rect">
            <a:avLst/>
          </a:prstGeom>
          <a:noFill/>
          <a:ln>
            <a:noFill/>
          </a:ln>
        </p:spPr>
        <p:txBody>
          <a:bodyPr spcFirstLastPara="1" wrap="square" lIns="0" tIns="0" rIns="0" bIns="0" anchor="t" anchorCtr="0">
            <a:spAutoFit/>
          </a:bodyPr>
          <a:lstStyle/>
          <a:p>
            <a:pPr marL="0" marR="0" lvl="0" indent="0" algn="ctr" rtl="0">
              <a:lnSpc>
                <a:spcPct val="129976"/>
              </a:lnSpc>
              <a:spcBef>
                <a:spcPts val="0"/>
              </a:spcBef>
              <a:spcAft>
                <a:spcPts val="0"/>
              </a:spcAft>
              <a:buNone/>
            </a:pPr>
            <a:r>
              <a:rPr lang="en-US" sz="4200" b="1" i="0" u="none" strike="noStrike" cap="none" dirty="0">
                <a:solidFill>
                  <a:srgbClr val="FFFFFF"/>
                </a:solidFill>
                <a:latin typeface="Noto Sans JP"/>
                <a:ea typeface="Noto Sans JP"/>
                <a:cs typeface="Noto Sans JP"/>
                <a:sym typeface="Noto Sans JP"/>
              </a:rPr>
              <a:t>7月度 生産検討会</a:t>
            </a:r>
            <a:endParaRPr dirty="0"/>
          </a:p>
        </p:txBody>
      </p:sp>
      <p:sp>
        <p:nvSpPr>
          <p:cNvPr id="91" name="Google Shape;91;p13"/>
          <p:cNvSpPr txBox="1"/>
          <p:nvPr/>
        </p:nvSpPr>
        <p:spPr>
          <a:xfrm>
            <a:off x="3095625" y="3313658"/>
            <a:ext cx="6000750"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dirty="0">
                <a:solidFill>
                  <a:srgbClr val="93C5FD"/>
                </a:solidFill>
                <a:latin typeface="Noto Sans JP"/>
                <a:ea typeface="Noto Sans JP"/>
                <a:cs typeface="Noto Sans JP"/>
                <a:sym typeface="Noto Sans JP"/>
              </a:rPr>
              <a:t>各工程の稼働状況および負荷・在庫分析と今後の生産計画</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7" name="Google Shape;97;p14"/>
          <p:cNvSpPr/>
          <p:nvPr/>
        </p:nvSpPr>
        <p:spPr>
          <a:xfrm>
            <a:off x="5715000" y="2805112"/>
            <a:ext cx="762000" cy="3810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98" name="Google Shape;98;p14"/>
          <p:cNvSpPr txBox="1"/>
          <p:nvPr/>
        </p:nvSpPr>
        <p:spPr>
          <a:xfrm>
            <a:off x="3353000" y="3071812"/>
            <a:ext cx="5485998"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005088"/>
                </a:solidFill>
                <a:latin typeface="Noto Sans JP"/>
                <a:ea typeface="Noto Sans JP"/>
                <a:cs typeface="Noto Sans JP"/>
                <a:sym typeface="Noto Sans JP"/>
              </a:rPr>
              <a:t>PART 01. 6月度 実績報告</a:t>
            </a:r>
            <a:endParaRPr dirty="0"/>
          </a:p>
        </p:txBody>
      </p:sp>
      <p:sp>
        <p:nvSpPr>
          <p:cNvPr id="99" name="Google Shape;99;p14"/>
          <p:cNvSpPr txBox="1"/>
          <p:nvPr/>
        </p:nvSpPr>
        <p:spPr>
          <a:xfrm>
            <a:off x="3185517" y="3795712"/>
            <a:ext cx="5948651"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a:solidFill>
                  <a:srgbClr val="64748B"/>
                </a:solidFill>
                <a:latin typeface="Noto Sans JP"/>
                <a:ea typeface="Noto Sans JP"/>
                <a:cs typeface="Noto Sans JP"/>
                <a:sym typeface="Noto Sans JP"/>
              </a:rPr>
              <a:t>6月度における各工程の生産実績・廃棄率、および月末在庫高の報告</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p:cNvGrpSpPr/>
        <p:nvPr/>
      </p:nvGrpSpPr>
      <p:grpSpPr>
        <a:xfrm>
          <a:off x="0" y="0"/>
          <a:ext cx="0" cy="0"/>
          <a:chOff x="0" y="0"/>
          <a:chExt cx="0" cy="0"/>
        </a:xfrm>
      </p:grpSpPr>
      <p:sp>
        <p:nvSpPr>
          <p:cNvPr id="107" name="Google Shape;107;p15"/>
          <p:cNvSpPr txBox="1"/>
          <p:nvPr/>
        </p:nvSpPr>
        <p:spPr>
          <a:xfrm>
            <a:off x="837042" y="5638252"/>
            <a:ext cx="10782300" cy="344710"/>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b="1" i="0" u="none" strike="noStrike" cap="none">
                <a:solidFill>
                  <a:srgbClr val="475569"/>
                </a:solidFill>
                <a:latin typeface="Noto Sans JP"/>
                <a:ea typeface="Noto Sans JP"/>
                <a:cs typeface="Noto Sans JP"/>
                <a:sym typeface="Noto Sans JP"/>
              </a:rPr>
              <a:t>出荷数：</a:t>
            </a:r>
            <a:r>
              <a:rPr lang="en-US" b="0" i="0" u="none" strike="noStrike" cap="none">
                <a:solidFill>
                  <a:srgbClr val="475569"/>
                </a:solidFill>
                <a:latin typeface="Noto Sans JP"/>
                <a:ea typeface="Noto Sans JP"/>
                <a:cs typeface="Noto Sans JP"/>
                <a:sym typeface="Noto Sans JP"/>
              </a:rPr>
              <a:t>計画にクリアし順調に推移（実績1,142.7千本）。</a:t>
            </a:r>
            <a:r>
              <a:rPr lang="ja-JP" altLang="en-US" b="0" i="0" u="none" strike="noStrike" cap="none">
                <a:solidFill>
                  <a:srgbClr val="475569"/>
                </a:solidFill>
                <a:latin typeface="Noto Sans JP"/>
                <a:ea typeface="Noto Sans JP"/>
                <a:cs typeface="Noto Sans JP"/>
                <a:sym typeface="Noto Sans JP"/>
              </a:rPr>
              <a:t>計画比ではプラス</a:t>
            </a:r>
            <a:r>
              <a:rPr lang="en-US" altLang="ja-JP" b="0" i="0" u="none" strike="noStrike" cap="none">
                <a:solidFill>
                  <a:srgbClr val="475569"/>
                </a:solidFill>
                <a:latin typeface="Noto Sans JP"/>
                <a:ea typeface="Noto Sans JP"/>
                <a:cs typeface="Noto Sans JP"/>
                <a:sym typeface="Noto Sans JP"/>
              </a:rPr>
              <a:t>5.8</a:t>
            </a:r>
            <a:r>
              <a:rPr lang="ja-JP" altLang="en-US" b="0" i="0" u="none" strike="noStrike" cap="none">
                <a:solidFill>
                  <a:srgbClr val="475569"/>
                </a:solidFill>
                <a:latin typeface="Noto Sans JP"/>
                <a:ea typeface="Noto Sans JP"/>
                <a:cs typeface="Noto Sans JP"/>
                <a:sym typeface="Noto Sans JP"/>
              </a:rPr>
              <a:t>千本です。</a:t>
            </a:r>
            <a:endParaRPr dirty="0"/>
          </a:p>
        </p:txBody>
      </p:sp>
      <p:sp>
        <p:nvSpPr>
          <p:cNvPr id="108" name="Google Shape;108;p15"/>
          <p:cNvSpPr txBox="1"/>
          <p:nvPr/>
        </p:nvSpPr>
        <p:spPr>
          <a:xfrm>
            <a:off x="837042" y="6123721"/>
            <a:ext cx="10782300" cy="344710"/>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b="1" i="0" u="none" strike="noStrike" cap="none" dirty="0">
                <a:solidFill>
                  <a:srgbClr val="475569"/>
                </a:solidFill>
                <a:latin typeface="Noto Sans JP"/>
                <a:ea typeface="Noto Sans JP"/>
                <a:cs typeface="Noto Sans JP"/>
                <a:sym typeface="Noto Sans JP"/>
              </a:rPr>
              <a:t>生産性向上：</a:t>
            </a:r>
            <a:r>
              <a:rPr lang="en-US" b="0" i="0" u="none" strike="noStrike" cap="none" dirty="0">
                <a:solidFill>
                  <a:srgbClr val="475569"/>
                </a:solidFill>
                <a:latin typeface="Noto Sans JP"/>
                <a:ea typeface="Noto Sans JP"/>
                <a:cs typeface="Noto Sans JP"/>
                <a:sym typeface="Noto Sans JP"/>
              </a:rPr>
              <a:t>切断（+10本/H）、メッキ（+9本/H）、溶接（+4本/H）で時間当たり能率が向上。</a:t>
            </a:r>
            <a:endParaRPr dirty="0"/>
          </a:p>
        </p:txBody>
      </p:sp>
      <p:sp>
        <p:nvSpPr>
          <p:cNvPr id="111" name="Google Shape;111;p15"/>
          <p:cNvSpPr txBox="1"/>
          <p:nvPr/>
        </p:nvSpPr>
        <p:spPr>
          <a:xfrm>
            <a:off x="638175" y="5700858"/>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112" name="Google Shape;112;p15"/>
          <p:cNvSpPr txBox="1"/>
          <p:nvPr/>
        </p:nvSpPr>
        <p:spPr>
          <a:xfrm>
            <a:off x="638175" y="6229350"/>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113" name="Google Shape;113;p15"/>
          <p:cNvSpPr txBox="1"/>
          <p:nvPr/>
        </p:nvSpPr>
        <p:spPr>
          <a:xfrm>
            <a:off x="762000" y="457200"/>
            <a:ext cx="11361420"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6月度 工程別実績一覧</a:t>
            </a:r>
            <a:endParaRPr dirty="0"/>
          </a:p>
        </p:txBody>
      </p:sp>
      <p:sp>
        <p:nvSpPr>
          <p:cNvPr id="114" name="Google Shape;114;p15"/>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aphicFrame>
        <p:nvGraphicFramePr>
          <p:cNvPr id="2" name="表 1">
            <a:extLst>
              <a:ext uri="{FF2B5EF4-FFF2-40B4-BE49-F238E27FC236}">
                <a16:creationId xmlns:a16="http://schemas.microsoft.com/office/drawing/2014/main" id="{A2BA71D9-A9C0-6028-D2B4-29923C5E7745}"/>
              </a:ext>
            </a:extLst>
          </p:cNvPr>
          <p:cNvGraphicFramePr>
            <a:graphicFrameLocks noGrp="1"/>
          </p:cNvGraphicFramePr>
          <p:nvPr>
            <p:extLst>
              <p:ext uri="{D42A27DB-BD31-4B8C-83A1-F6EECF244321}">
                <p14:modId xmlns:p14="http://schemas.microsoft.com/office/powerpoint/2010/main" val="1035735693"/>
              </p:ext>
            </p:extLst>
          </p:nvPr>
        </p:nvGraphicFramePr>
        <p:xfrm>
          <a:off x="666749" y="1071417"/>
          <a:ext cx="10782297" cy="4341208"/>
        </p:xfrm>
        <a:graphic>
          <a:graphicData uri="http://schemas.openxmlformats.org/drawingml/2006/table">
            <a:tbl>
              <a:tblPr/>
              <a:tblGrid>
                <a:gridCol w="1198033">
                  <a:extLst>
                    <a:ext uri="{9D8B030D-6E8A-4147-A177-3AD203B41FA5}">
                      <a16:colId xmlns:a16="http://schemas.microsoft.com/office/drawing/2014/main" val="3102989056"/>
                    </a:ext>
                  </a:extLst>
                </a:gridCol>
                <a:gridCol w="1198033">
                  <a:extLst>
                    <a:ext uri="{9D8B030D-6E8A-4147-A177-3AD203B41FA5}">
                      <a16:colId xmlns:a16="http://schemas.microsoft.com/office/drawing/2014/main" val="3849042156"/>
                    </a:ext>
                  </a:extLst>
                </a:gridCol>
                <a:gridCol w="1198033">
                  <a:extLst>
                    <a:ext uri="{9D8B030D-6E8A-4147-A177-3AD203B41FA5}">
                      <a16:colId xmlns:a16="http://schemas.microsoft.com/office/drawing/2014/main" val="3211438816"/>
                    </a:ext>
                  </a:extLst>
                </a:gridCol>
                <a:gridCol w="1198033">
                  <a:extLst>
                    <a:ext uri="{9D8B030D-6E8A-4147-A177-3AD203B41FA5}">
                      <a16:colId xmlns:a16="http://schemas.microsoft.com/office/drawing/2014/main" val="2750352955"/>
                    </a:ext>
                  </a:extLst>
                </a:gridCol>
                <a:gridCol w="1198033">
                  <a:extLst>
                    <a:ext uri="{9D8B030D-6E8A-4147-A177-3AD203B41FA5}">
                      <a16:colId xmlns:a16="http://schemas.microsoft.com/office/drawing/2014/main" val="2892478129"/>
                    </a:ext>
                  </a:extLst>
                </a:gridCol>
                <a:gridCol w="1198033">
                  <a:extLst>
                    <a:ext uri="{9D8B030D-6E8A-4147-A177-3AD203B41FA5}">
                      <a16:colId xmlns:a16="http://schemas.microsoft.com/office/drawing/2014/main" val="3581575637"/>
                    </a:ext>
                  </a:extLst>
                </a:gridCol>
                <a:gridCol w="1198033">
                  <a:extLst>
                    <a:ext uri="{9D8B030D-6E8A-4147-A177-3AD203B41FA5}">
                      <a16:colId xmlns:a16="http://schemas.microsoft.com/office/drawing/2014/main" val="2210834319"/>
                    </a:ext>
                  </a:extLst>
                </a:gridCol>
                <a:gridCol w="1198033">
                  <a:extLst>
                    <a:ext uri="{9D8B030D-6E8A-4147-A177-3AD203B41FA5}">
                      <a16:colId xmlns:a16="http://schemas.microsoft.com/office/drawing/2014/main" val="2232988294"/>
                    </a:ext>
                  </a:extLst>
                </a:gridCol>
                <a:gridCol w="1198033">
                  <a:extLst>
                    <a:ext uri="{9D8B030D-6E8A-4147-A177-3AD203B41FA5}">
                      <a16:colId xmlns:a16="http://schemas.microsoft.com/office/drawing/2014/main" val="3286218642"/>
                    </a:ext>
                  </a:extLst>
                </a:gridCol>
              </a:tblGrid>
              <a:tr h="582923">
                <a:tc rowSpan="2">
                  <a:txBody>
                    <a:bodyPr/>
                    <a:lstStyle/>
                    <a:p>
                      <a:pPr algn="ctr">
                        <a:buNone/>
                      </a:pPr>
                      <a:r>
                        <a:rPr lang="ja-JP" sz="1600" b="1" dirty="0">
                          <a:solidFill>
                            <a:srgbClr val="FFFFFF"/>
                          </a:solidFill>
                          <a:effectLst/>
                          <a:latin typeface="游ゴシック" panose="020B0400000000000000" pitchFamily="50" charset="-128"/>
                          <a:ea typeface="游ゴシック" panose="020B0400000000000000" pitchFamily="50" charset="-128"/>
                        </a:rPr>
                        <a:t>工程名</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gridSpan="3">
                  <a:txBody>
                    <a:bodyPr/>
                    <a:lstStyle/>
                    <a:p>
                      <a:pPr algn="ctr">
                        <a:buNone/>
                      </a:pPr>
                      <a:r>
                        <a:rPr lang="ja-JP" sz="1600" b="1" dirty="0">
                          <a:solidFill>
                            <a:srgbClr val="FFFFFF"/>
                          </a:solidFill>
                          <a:effectLst/>
                          <a:latin typeface="游ゴシック" panose="020B0400000000000000" pitchFamily="50" charset="-128"/>
                          <a:ea typeface="游ゴシック" panose="020B0400000000000000" pitchFamily="50" charset="-128"/>
                        </a:rPr>
                        <a:t>工程計画・実績 (千本)</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05088"/>
                    </a:solidFill>
                  </a:tcPr>
                </a:tc>
                <a:tc hMerge="1">
                  <a:txBody>
                    <a:bodyPr/>
                    <a:lstStyle/>
                    <a:p>
                      <a:endParaRPr kumimoji="1" lang="ja-JP" altLang="en-US"/>
                    </a:p>
                  </a:txBody>
                  <a:tcPr/>
                </a:tc>
                <a:tc hMerge="1">
                  <a:txBody>
                    <a:bodyPr/>
                    <a:lstStyle/>
                    <a:p>
                      <a:endParaRPr kumimoji="1" lang="ja-JP" altLang="en-US"/>
                    </a:p>
                  </a:txBody>
                  <a:tcPr/>
                </a:tc>
                <a:tc gridSpan="2">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対比 (千本)</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05088"/>
                    </a:solidFill>
                  </a:tcPr>
                </a:tc>
                <a:tc hMerge="1">
                  <a:txBody>
                    <a:bodyPr/>
                    <a:lstStyle/>
                    <a:p>
                      <a:endParaRPr kumimoji="1" lang="ja-JP" altLang="en-US"/>
                    </a:p>
                  </a:txBody>
                  <a:tcPr/>
                </a:tc>
                <a:tc gridSpan="3">
                  <a:txBody>
                    <a:bodyPr/>
                    <a:lstStyle/>
                    <a:p>
                      <a:pPr algn="ctr">
                        <a:buNone/>
                      </a:pPr>
                      <a:r>
                        <a:rPr lang="ja-JP" sz="1600" b="1" dirty="0">
                          <a:solidFill>
                            <a:srgbClr val="FFFFFF"/>
                          </a:solidFill>
                          <a:effectLst/>
                          <a:latin typeface="游ゴシック" panose="020B0400000000000000" pitchFamily="50" charset="-128"/>
                          <a:ea typeface="游ゴシック" panose="020B0400000000000000" pitchFamily="50" charset="-128"/>
                        </a:rPr>
                        <a:t>時間当たり生産性 (本/時間)</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05088"/>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74317282"/>
                  </a:ext>
                </a:extLst>
              </a:tr>
              <a:tr h="582923">
                <a:tc vMerge="1">
                  <a:txBody>
                    <a:bodyPr/>
                    <a:lstStyle/>
                    <a:p>
                      <a:endParaRPr kumimoji="1" lang="ja-JP" altLang="en-US"/>
                    </a:p>
                  </a:txBody>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工程計画</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実見</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実績</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対実見</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対計画</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前月実績</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a:solidFill>
                            <a:srgbClr val="FFFFFF"/>
                          </a:solidFill>
                          <a:effectLst/>
                          <a:latin typeface="游ゴシック" panose="020B0400000000000000" pitchFamily="50" charset="-128"/>
                          <a:ea typeface="游ゴシック" panose="020B0400000000000000" pitchFamily="50" charset="-128"/>
                        </a:rPr>
                        <a:t>当月実績</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tc>
                  <a:txBody>
                    <a:bodyPr/>
                    <a:lstStyle/>
                    <a:p>
                      <a:pPr algn="ctr">
                        <a:buNone/>
                      </a:pPr>
                      <a:r>
                        <a:rPr lang="ja-JP" sz="1600" b="1" dirty="0">
                          <a:solidFill>
                            <a:srgbClr val="FFFFFF"/>
                          </a:solidFill>
                          <a:effectLst/>
                          <a:latin typeface="游ゴシック" panose="020B0400000000000000" pitchFamily="50" charset="-128"/>
                          <a:ea typeface="游ゴシック" panose="020B0400000000000000" pitchFamily="50" charset="-128"/>
                        </a:rPr>
                        <a:t>増減</a:t>
                      </a:r>
                    </a:p>
                  </a:txBody>
                  <a:tcPr marL="57249" marR="57249" marT="71562" marB="71562"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5088"/>
                    </a:solidFill>
                  </a:tcPr>
                </a:tc>
                <a:extLst>
                  <a:ext uri="{0D108BD9-81ED-4DB2-BD59-A6C34878D82A}">
                    <a16:rowId xmlns:a16="http://schemas.microsoft.com/office/drawing/2014/main" val="713986919"/>
                  </a:ext>
                </a:extLst>
              </a:tr>
              <a:tr h="529227">
                <a:tc>
                  <a:txBody>
                    <a:bodyPr/>
                    <a:lstStyle/>
                    <a:p>
                      <a:pPr>
                        <a:buNone/>
                      </a:pPr>
                      <a:r>
                        <a:rPr lang="ja-JP" sz="1600" b="1">
                          <a:solidFill>
                            <a:srgbClr val="0F172A"/>
                          </a:solidFill>
                          <a:effectLst/>
                          <a:latin typeface="游ゴシック" panose="020B0400000000000000" pitchFamily="50" charset="-128"/>
                          <a:ea typeface="游ゴシック" panose="020B0400000000000000" pitchFamily="50" charset="-128"/>
                        </a:rPr>
                        <a:t>出荷数</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dirty="0">
                          <a:solidFill>
                            <a:srgbClr val="334155"/>
                          </a:solidFill>
                          <a:effectLst/>
                          <a:latin typeface="游ゴシック" panose="020B0400000000000000" pitchFamily="50" charset="-128"/>
                          <a:ea typeface="游ゴシック" panose="020B0400000000000000" pitchFamily="50" charset="-128"/>
                        </a:rPr>
                        <a:t>1,136.9</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1,136.4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1,142.7</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EF4444"/>
                          </a:solidFill>
                          <a:effectLst/>
                          <a:latin typeface="游ゴシック" panose="020B0400000000000000" pitchFamily="50" charset="-128"/>
                          <a:ea typeface="游ゴシック" panose="020B0400000000000000" pitchFamily="50" charset="-128"/>
                        </a:rPr>
                        <a:t>△0.5</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5.8</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3408589957"/>
                  </a:ext>
                </a:extLst>
              </a:tr>
              <a:tr h="529227">
                <a:tc>
                  <a:txBody>
                    <a:bodyPr/>
                    <a:lstStyle/>
                    <a:p>
                      <a:pPr>
                        <a:buNone/>
                      </a:pPr>
                      <a:r>
                        <a:rPr lang="ja-JP" sz="1600" b="1">
                          <a:solidFill>
                            <a:srgbClr val="0F172A"/>
                          </a:solidFill>
                          <a:effectLst/>
                          <a:latin typeface="游ゴシック" panose="020B0400000000000000" pitchFamily="50" charset="-128"/>
                          <a:ea typeface="游ゴシック" panose="020B0400000000000000" pitchFamily="50" charset="-128"/>
                        </a:rPr>
                        <a:t>切断</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1,161.6</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1,135.7</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1,141.2</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EF4444"/>
                          </a:solidFill>
                          <a:effectLst/>
                          <a:latin typeface="游ゴシック" panose="020B0400000000000000" pitchFamily="50" charset="-128"/>
                          <a:ea typeface="游ゴシック" panose="020B0400000000000000" pitchFamily="50" charset="-128"/>
                        </a:rPr>
                        <a:t>△25.9</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EF4444"/>
                          </a:solidFill>
                          <a:effectLst/>
                          <a:latin typeface="游ゴシック" panose="020B0400000000000000" pitchFamily="50" charset="-128"/>
                          <a:ea typeface="游ゴシック" panose="020B0400000000000000" pitchFamily="50" charset="-128"/>
                        </a:rPr>
                        <a:t>△20.4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455</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465</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+10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182599204"/>
                  </a:ext>
                </a:extLst>
              </a:tr>
              <a:tr h="529227">
                <a:tc>
                  <a:txBody>
                    <a:bodyPr/>
                    <a:lstStyle/>
                    <a:p>
                      <a:pPr>
                        <a:buNone/>
                      </a:pPr>
                      <a:r>
                        <a:rPr lang="ja-JP" sz="1600" b="1">
                          <a:solidFill>
                            <a:srgbClr val="0F172A"/>
                          </a:solidFill>
                          <a:effectLst/>
                          <a:latin typeface="游ゴシック" panose="020B0400000000000000" pitchFamily="50" charset="-128"/>
                          <a:ea typeface="游ゴシック" panose="020B0400000000000000" pitchFamily="50" charset="-128"/>
                        </a:rPr>
                        <a:t>成型</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1,133.9</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1,135.2</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1,128.5</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1.3</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EF4444"/>
                          </a:solidFill>
                          <a:effectLst/>
                          <a:latin typeface="游ゴシック" panose="020B0400000000000000" pitchFamily="50" charset="-128"/>
                          <a:ea typeface="游ゴシック" panose="020B0400000000000000" pitchFamily="50" charset="-128"/>
                        </a:rPr>
                        <a:t>△5.4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124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124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892071327"/>
                  </a:ext>
                </a:extLst>
              </a:tr>
              <a:tr h="529227">
                <a:tc>
                  <a:txBody>
                    <a:bodyPr/>
                    <a:lstStyle/>
                    <a:p>
                      <a:pPr>
                        <a:buNone/>
                      </a:pPr>
                      <a:r>
                        <a:rPr lang="ja-JP" sz="1600" b="1">
                          <a:solidFill>
                            <a:srgbClr val="0F172A"/>
                          </a:solidFill>
                          <a:effectLst/>
                          <a:latin typeface="游ゴシック" panose="020B0400000000000000" pitchFamily="50" charset="-128"/>
                          <a:ea typeface="游ゴシック" panose="020B0400000000000000" pitchFamily="50" charset="-128"/>
                        </a:rPr>
                        <a:t>メッキ</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dirty="0">
                          <a:solidFill>
                            <a:srgbClr val="334155"/>
                          </a:solidFill>
                          <a:effectLst/>
                          <a:latin typeface="游ゴシック" panose="020B0400000000000000" pitchFamily="50" charset="-128"/>
                          <a:ea typeface="游ゴシック" panose="020B0400000000000000" pitchFamily="50" charset="-128"/>
                        </a:rPr>
                        <a:t>848.7</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874.7</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871.7</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26.0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23.0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1,674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1,683</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+9</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2086830650"/>
                  </a:ext>
                </a:extLst>
              </a:tr>
              <a:tr h="529227">
                <a:tc>
                  <a:txBody>
                    <a:bodyPr/>
                    <a:lstStyle/>
                    <a:p>
                      <a:pPr>
                        <a:buNone/>
                      </a:pPr>
                      <a:r>
                        <a:rPr lang="ja-JP" sz="1600" b="1" dirty="0">
                          <a:solidFill>
                            <a:srgbClr val="0F172A"/>
                          </a:solidFill>
                          <a:effectLst/>
                          <a:latin typeface="游ゴシック" panose="020B0400000000000000" pitchFamily="50" charset="-128"/>
                          <a:ea typeface="游ゴシック" panose="020B0400000000000000" pitchFamily="50" charset="-128"/>
                        </a:rPr>
                        <a:t>溶接</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185.2</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dirty="0">
                          <a:solidFill>
                            <a:srgbClr val="334155"/>
                          </a:solidFill>
                          <a:effectLst/>
                          <a:latin typeface="游ゴシック" panose="020B0400000000000000" pitchFamily="50" charset="-128"/>
                          <a:ea typeface="游ゴシック" panose="020B0400000000000000" pitchFamily="50" charset="-128"/>
                        </a:rPr>
                        <a:t>191.3</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189.0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dirty="0">
                          <a:solidFill>
                            <a:srgbClr val="10B981"/>
                          </a:solidFill>
                          <a:effectLst/>
                          <a:latin typeface="游ゴシック" panose="020B0400000000000000" pitchFamily="50" charset="-128"/>
                          <a:ea typeface="游ゴシック" panose="020B0400000000000000" pitchFamily="50" charset="-128"/>
                        </a:rPr>
                        <a:t>6.1</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3.8</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128</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132</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819704950"/>
                  </a:ext>
                </a:extLst>
              </a:tr>
              <a:tr h="529227">
                <a:tc>
                  <a:txBody>
                    <a:bodyPr/>
                    <a:lstStyle/>
                    <a:p>
                      <a:pPr>
                        <a:buNone/>
                      </a:pPr>
                      <a:r>
                        <a:rPr lang="ja-JP" sz="1600" b="1" dirty="0">
                          <a:solidFill>
                            <a:srgbClr val="0F172A"/>
                          </a:solidFill>
                          <a:effectLst/>
                          <a:latin typeface="游ゴシック" panose="020B0400000000000000" pitchFamily="50" charset="-128"/>
                          <a:ea typeface="游ゴシック" panose="020B0400000000000000" pitchFamily="50" charset="-128"/>
                        </a:rPr>
                        <a:t>検査</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1,035.0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1,048.0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1,046.4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dirty="0">
                          <a:solidFill>
                            <a:srgbClr val="10B981"/>
                          </a:solidFill>
                          <a:effectLst/>
                          <a:latin typeface="游ゴシック" panose="020B0400000000000000" pitchFamily="50" charset="-128"/>
                          <a:ea typeface="游ゴシック" panose="020B0400000000000000" pitchFamily="50" charset="-128"/>
                        </a:rPr>
                        <a:t>13.0</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10B981"/>
                          </a:solidFill>
                          <a:effectLst/>
                          <a:latin typeface="游ゴシック" panose="020B0400000000000000" pitchFamily="50" charset="-128"/>
                          <a:ea typeface="游ゴシック" panose="020B0400000000000000" pitchFamily="50" charset="-128"/>
                        </a:rPr>
                        <a:t>11.4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a:solidFill>
                            <a:srgbClr val="334155"/>
                          </a:solidFill>
                          <a:effectLst/>
                          <a:latin typeface="游ゴシック" panose="020B0400000000000000" pitchFamily="50" charset="-128"/>
                          <a:ea typeface="游ゴシック" panose="020B0400000000000000" pitchFamily="50" charset="-128"/>
                        </a:rPr>
                        <a:t>562</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dirty="0">
                          <a:solidFill>
                            <a:srgbClr val="334155"/>
                          </a:solidFill>
                          <a:effectLst/>
                          <a:latin typeface="游ゴシック" panose="020B0400000000000000" pitchFamily="50" charset="-128"/>
                          <a:ea typeface="游ゴシック" panose="020B0400000000000000" pitchFamily="50" charset="-128"/>
                        </a:rPr>
                        <a:t>558</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a:buNone/>
                      </a:pPr>
                      <a:r>
                        <a:rPr lang="ja-JP" sz="1600" b="1" dirty="0">
                          <a:solidFill>
                            <a:srgbClr val="EF4444"/>
                          </a:solidFill>
                          <a:effectLst/>
                          <a:latin typeface="游ゴシック" panose="020B0400000000000000" pitchFamily="50" charset="-128"/>
                          <a:ea typeface="游ゴシック" panose="020B0400000000000000" pitchFamily="50" charset="-128"/>
                        </a:rPr>
                        <a:t>△4</a:t>
                      </a:r>
                    </a:p>
                  </a:txBody>
                  <a:tcPr marL="57249" marR="57249" marT="57249" marB="57249"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4755058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3116756" y="4432147"/>
            <a:ext cx="2590800" cy="885825"/>
          </a:xfrm>
          <a:prstGeom prst="rect">
            <a:avLst/>
          </a:prstGeom>
          <a:noFill/>
          <a:ln>
            <a:noFill/>
          </a:ln>
        </p:spPr>
      </p:pic>
      <p:sp>
        <p:nvSpPr>
          <p:cNvPr id="126" name="Google Shape;126;p16"/>
          <p:cNvSpPr txBox="1"/>
          <p:nvPr/>
        </p:nvSpPr>
        <p:spPr>
          <a:xfrm>
            <a:off x="373556" y="4060672"/>
            <a:ext cx="5600700" cy="257175"/>
          </a:xfrm>
          <a:prstGeom prst="rect">
            <a:avLst/>
          </a:prstGeom>
          <a:noFill/>
          <a:ln>
            <a:noFill/>
          </a:ln>
        </p:spPr>
        <p:txBody>
          <a:bodyPr spcFirstLastPara="1" wrap="square" lIns="148225" tIns="0" rIns="0" bIns="0" anchor="t" anchorCtr="0">
            <a:spAutoFit/>
          </a:bodyPr>
          <a:lstStyle/>
          <a:p>
            <a:pPr marL="0" marR="0" lvl="0" indent="0" algn="l" rtl="0">
              <a:spcBef>
                <a:spcPts val="0"/>
              </a:spcBef>
              <a:spcAft>
                <a:spcPts val="0"/>
              </a:spcAft>
              <a:buNone/>
            </a:pPr>
            <a:r>
              <a:rPr lang="en-US" sz="1500" b="1" i="0" u="none" strike="noStrike" cap="none" dirty="0">
                <a:solidFill>
                  <a:srgbClr val="005088"/>
                </a:solidFill>
                <a:latin typeface="Noto Sans JP"/>
                <a:ea typeface="Noto Sans JP"/>
                <a:cs typeface="Noto Sans JP"/>
                <a:sym typeface="Noto Sans JP"/>
              </a:rPr>
              <a:t>廃棄実績の大幅な改善（対前年度比）</a:t>
            </a:r>
            <a:endParaRPr dirty="0"/>
          </a:p>
        </p:txBody>
      </p:sp>
      <p:pic>
        <p:nvPicPr>
          <p:cNvPr id="129" name="Google Shape;129;p16" descr="image.png"/>
          <p:cNvPicPr preferRelativeResize="0"/>
          <p:nvPr/>
        </p:nvPicPr>
        <p:blipFill rotWithShape="1">
          <a:blip r:embed="rId4">
            <a:alphaModFix/>
          </a:blip>
          <a:srcRect/>
          <a:stretch/>
        </p:blipFill>
        <p:spPr>
          <a:xfrm>
            <a:off x="373556" y="4089247"/>
            <a:ext cx="148232" cy="190500"/>
          </a:xfrm>
          <a:prstGeom prst="rect">
            <a:avLst/>
          </a:prstGeom>
          <a:noFill/>
          <a:ln>
            <a:noFill/>
          </a:ln>
        </p:spPr>
      </p:pic>
      <p:sp>
        <p:nvSpPr>
          <p:cNvPr id="132" name="Google Shape;132;p16"/>
          <p:cNvSpPr txBox="1"/>
          <p:nvPr/>
        </p:nvSpPr>
        <p:spPr>
          <a:xfrm>
            <a:off x="3222007" y="4594072"/>
            <a:ext cx="2380297"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2026年度 月平均廃棄率</a:t>
            </a:r>
            <a:endParaRPr dirty="0"/>
          </a:p>
        </p:txBody>
      </p:sp>
      <p:sp>
        <p:nvSpPr>
          <p:cNvPr id="133" name="Google Shape;133;p16"/>
          <p:cNvSpPr txBox="1"/>
          <p:nvPr/>
        </p:nvSpPr>
        <p:spPr>
          <a:xfrm>
            <a:off x="3278681" y="4841722"/>
            <a:ext cx="2266950" cy="314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166534"/>
                </a:solidFill>
                <a:latin typeface="Roboto Mono"/>
                <a:ea typeface="Roboto Mono"/>
                <a:cs typeface="Roboto Mono"/>
                <a:sym typeface="Roboto Mono"/>
              </a:rPr>
              <a:t>1.13 </a:t>
            </a:r>
            <a:r>
              <a:rPr lang="en-US" sz="2100" b="0" i="0" u="none" strike="noStrike" cap="none" dirty="0">
                <a:solidFill>
                  <a:srgbClr val="166534"/>
                </a:solidFill>
                <a:latin typeface="Roboto Mono"/>
                <a:ea typeface="Roboto Mono"/>
                <a:cs typeface="Roboto Mono"/>
                <a:sym typeface="Roboto Mono"/>
              </a:rPr>
              <a:t>%</a:t>
            </a:r>
            <a:endParaRPr dirty="0"/>
          </a:p>
        </p:txBody>
      </p:sp>
      <p:sp>
        <p:nvSpPr>
          <p:cNvPr id="135" name="Google Shape;135;p16"/>
          <p:cNvSpPr txBox="1"/>
          <p:nvPr/>
        </p:nvSpPr>
        <p:spPr>
          <a:xfrm>
            <a:off x="762000" y="457200"/>
            <a:ext cx="11361420"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廃棄</a:t>
            </a:r>
            <a:r>
              <a:rPr lang="ja-JP" altLang="en-US" sz="2550" b="1" i="0" u="none" strike="noStrike" cap="none" dirty="0">
                <a:solidFill>
                  <a:srgbClr val="0F172A"/>
                </a:solidFill>
                <a:latin typeface="Noto Sans JP"/>
                <a:ea typeface="Noto Sans JP"/>
                <a:cs typeface="Noto Sans JP"/>
                <a:sym typeface="Noto Sans JP"/>
              </a:rPr>
              <a:t>率及び廃棄本数</a:t>
            </a:r>
            <a:endParaRPr dirty="0"/>
          </a:p>
        </p:txBody>
      </p:sp>
      <p:sp>
        <p:nvSpPr>
          <p:cNvPr id="136" name="Google Shape;136;p16"/>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aphicFrame>
        <p:nvGraphicFramePr>
          <p:cNvPr id="3" name="グラフ 2">
            <a:extLst>
              <a:ext uri="{FF2B5EF4-FFF2-40B4-BE49-F238E27FC236}">
                <a16:creationId xmlns:a16="http://schemas.microsoft.com/office/drawing/2014/main" id="{B40602FF-FC84-6BF6-59C6-F5A730DE9078}"/>
              </a:ext>
            </a:extLst>
          </p:cNvPr>
          <p:cNvGraphicFramePr>
            <a:graphicFrameLocks/>
          </p:cNvGraphicFramePr>
          <p:nvPr>
            <p:extLst>
              <p:ext uri="{D42A27DB-BD31-4B8C-83A1-F6EECF244321}">
                <p14:modId xmlns:p14="http://schemas.microsoft.com/office/powerpoint/2010/main" val="27500785"/>
              </p:ext>
            </p:extLst>
          </p:nvPr>
        </p:nvGraphicFramePr>
        <p:xfrm>
          <a:off x="280988" y="1030154"/>
          <a:ext cx="5519737" cy="28136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グラフ 4">
            <a:extLst>
              <a:ext uri="{FF2B5EF4-FFF2-40B4-BE49-F238E27FC236}">
                <a16:creationId xmlns:a16="http://schemas.microsoft.com/office/drawing/2014/main" id="{22CE58AE-EF76-3132-9023-5B95BC39E895}"/>
              </a:ext>
            </a:extLst>
          </p:cNvPr>
          <p:cNvGraphicFramePr>
            <a:graphicFrameLocks/>
          </p:cNvGraphicFramePr>
          <p:nvPr>
            <p:extLst>
              <p:ext uri="{D42A27DB-BD31-4B8C-83A1-F6EECF244321}">
                <p14:modId xmlns:p14="http://schemas.microsoft.com/office/powerpoint/2010/main" val="1226269719"/>
              </p:ext>
            </p:extLst>
          </p:nvPr>
        </p:nvGraphicFramePr>
        <p:xfrm>
          <a:off x="5974256" y="1145016"/>
          <a:ext cx="5574209" cy="2717514"/>
        </p:xfrm>
        <a:graphic>
          <a:graphicData uri="http://schemas.openxmlformats.org/drawingml/2006/chart">
            <c:chart xmlns:c="http://schemas.openxmlformats.org/drawingml/2006/chart" xmlns:r="http://schemas.openxmlformats.org/officeDocument/2006/relationships" r:id="rId6"/>
          </a:graphicData>
        </a:graphic>
      </p:graphicFrame>
      <p:pic>
        <p:nvPicPr>
          <p:cNvPr id="17" name="Google Shape;122;p16" descr="image.png">
            <a:extLst>
              <a:ext uri="{FF2B5EF4-FFF2-40B4-BE49-F238E27FC236}">
                <a16:creationId xmlns:a16="http://schemas.microsoft.com/office/drawing/2014/main" id="{9AABBBD3-A874-24F9-347D-7985E12FF663}"/>
              </a:ext>
            </a:extLst>
          </p:cNvPr>
          <p:cNvPicPr preferRelativeResize="0"/>
          <p:nvPr/>
        </p:nvPicPr>
        <p:blipFill rotWithShape="1">
          <a:blip r:embed="rId3">
            <a:alphaModFix/>
          </a:blip>
          <a:srcRect/>
          <a:stretch/>
        </p:blipFill>
        <p:spPr>
          <a:xfrm>
            <a:off x="373556" y="4432147"/>
            <a:ext cx="2590800" cy="885825"/>
          </a:xfrm>
          <a:prstGeom prst="rect">
            <a:avLst/>
          </a:prstGeom>
          <a:noFill/>
          <a:ln>
            <a:noFill/>
          </a:ln>
        </p:spPr>
      </p:pic>
      <p:sp>
        <p:nvSpPr>
          <p:cNvPr id="19" name="Google Shape;132;p16">
            <a:extLst>
              <a:ext uri="{FF2B5EF4-FFF2-40B4-BE49-F238E27FC236}">
                <a16:creationId xmlns:a16="http://schemas.microsoft.com/office/drawing/2014/main" id="{2CFC3947-4837-4A7D-6693-D94B0B3942D4}"/>
              </a:ext>
            </a:extLst>
          </p:cNvPr>
          <p:cNvSpPr txBox="1"/>
          <p:nvPr/>
        </p:nvSpPr>
        <p:spPr>
          <a:xfrm>
            <a:off x="478807" y="4594072"/>
            <a:ext cx="2380297"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202</a:t>
            </a:r>
            <a:r>
              <a:rPr lang="en-US" altLang="ja-JP" sz="1050" b="1" i="0" u="none" strike="noStrike" cap="none" dirty="0">
                <a:solidFill>
                  <a:srgbClr val="475569"/>
                </a:solidFill>
                <a:latin typeface="Noto Sans JP"/>
                <a:ea typeface="Noto Sans JP"/>
                <a:cs typeface="Noto Sans JP"/>
                <a:sym typeface="Noto Sans JP"/>
              </a:rPr>
              <a:t>5</a:t>
            </a:r>
            <a:r>
              <a:rPr lang="en-US" sz="1050" b="1" i="0" u="none" strike="noStrike" cap="none" dirty="0">
                <a:solidFill>
                  <a:srgbClr val="475569"/>
                </a:solidFill>
                <a:latin typeface="Noto Sans JP"/>
                <a:ea typeface="Noto Sans JP"/>
                <a:cs typeface="Noto Sans JP"/>
                <a:sym typeface="Noto Sans JP"/>
              </a:rPr>
              <a:t>年度 月平均廃棄率</a:t>
            </a:r>
            <a:endParaRPr dirty="0"/>
          </a:p>
        </p:txBody>
      </p:sp>
      <p:sp>
        <p:nvSpPr>
          <p:cNvPr id="21" name="Google Shape;133;p16">
            <a:extLst>
              <a:ext uri="{FF2B5EF4-FFF2-40B4-BE49-F238E27FC236}">
                <a16:creationId xmlns:a16="http://schemas.microsoft.com/office/drawing/2014/main" id="{F8EF2698-3629-9509-8918-417EDA85272E}"/>
              </a:ext>
            </a:extLst>
          </p:cNvPr>
          <p:cNvSpPr txBox="1"/>
          <p:nvPr/>
        </p:nvSpPr>
        <p:spPr>
          <a:xfrm>
            <a:off x="535481" y="4841722"/>
            <a:ext cx="226695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altLang="ja-JP" sz="2100" b="1" i="0" u="none" strike="noStrike" cap="none" dirty="0">
                <a:solidFill>
                  <a:srgbClr val="166534"/>
                </a:solidFill>
                <a:latin typeface="Roboto Mono"/>
                <a:ea typeface="Roboto Mono"/>
                <a:cs typeface="Roboto Mono"/>
                <a:sym typeface="Roboto Mono"/>
              </a:rPr>
              <a:t>1.74</a:t>
            </a:r>
            <a:r>
              <a:rPr lang="en-US" sz="2100" b="1" i="0" u="none" strike="noStrike" cap="none" dirty="0">
                <a:solidFill>
                  <a:srgbClr val="166534"/>
                </a:solidFill>
                <a:latin typeface="Roboto Mono"/>
                <a:ea typeface="Roboto Mono"/>
                <a:cs typeface="Roboto Mono"/>
                <a:sym typeface="Roboto Mono"/>
              </a:rPr>
              <a:t> </a:t>
            </a:r>
            <a:r>
              <a:rPr lang="en-US" sz="2100" b="0" i="0" u="none" strike="noStrike" cap="none" dirty="0">
                <a:solidFill>
                  <a:srgbClr val="166534"/>
                </a:solidFill>
                <a:latin typeface="Roboto Mono"/>
                <a:ea typeface="Roboto Mono"/>
                <a:cs typeface="Roboto Mono"/>
                <a:sym typeface="Roboto Mono"/>
              </a:rPr>
              <a:t>%</a:t>
            </a:r>
            <a:endParaRPr dirty="0"/>
          </a:p>
        </p:txBody>
      </p:sp>
      <p:pic>
        <p:nvPicPr>
          <p:cNvPr id="23" name="Google Shape;122;p16" descr="image.png">
            <a:extLst>
              <a:ext uri="{FF2B5EF4-FFF2-40B4-BE49-F238E27FC236}">
                <a16:creationId xmlns:a16="http://schemas.microsoft.com/office/drawing/2014/main" id="{B9C87945-0AA3-BE79-1167-3FE008F5AD63}"/>
              </a:ext>
            </a:extLst>
          </p:cNvPr>
          <p:cNvPicPr preferRelativeResize="0"/>
          <p:nvPr/>
        </p:nvPicPr>
        <p:blipFill rotWithShape="1">
          <a:blip r:embed="rId3">
            <a:alphaModFix/>
          </a:blip>
          <a:srcRect/>
          <a:stretch/>
        </p:blipFill>
        <p:spPr>
          <a:xfrm>
            <a:off x="373556" y="5550593"/>
            <a:ext cx="2590800" cy="885825"/>
          </a:xfrm>
          <a:prstGeom prst="rect">
            <a:avLst/>
          </a:prstGeom>
          <a:noFill/>
          <a:ln>
            <a:noFill/>
          </a:ln>
        </p:spPr>
      </p:pic>
      <p:sp>
        <p:nvSpPr>
          <p:cNvPr id="25" name="Google Shape;132;p16">
            <a:extLst>
              <a:ext uri="{FF2B5EF4-FFF2-40B4-BE49-F238E27FC236}">
                <a16:creationId xmlns:a16="http://schemas.microsoft.com/office/drawing/2014/main" id="{BE98118B-E9F2-440A-4EF7-C7CC1742BB70}"/>
              </a:ext>
            </a:extLst>
          </p:cNvPr>
          <p:cNvSpPr txBox="1"/>
          <p:nvPr/>
        </p:nvSpPr>
        <p:spPr>
          <a:xfrm>
            <a:off x="478807" y="5712518"/>
            <a:ext cx="2380297" cy="161583"/>
          </a:xfrm>
          <a:prstGeom prst="rect">
            <a:avLst/>
          </a:prstGeom>
          <a:noFill/>
          <a:ln>
            <a:noFill/>
          </a:ln>
        </p:spPr>
        <p:txBody>
          <a:bodyPr spcFirstLastPara="1" wrap="square" lIns="0" tIns="0" rIns="0" bIns="0" anchor="t" anchorCtr="0">
            <a:spAutoFit/>
          </a:bodyPr>
          <a:lstStyle/>
          <a:p>
            <a:pPr lvl="0" algn="ctr"/>
            <a:r>
              <a:rPr lang="en-US" sz="1050" b="1" i="0" u="none" strike="noStrike" cap="none" dirty="0">
                <a:solidFill>
                  <a:srgbClr val="475569"/>
                </a:solidFill>
                <a:latin typeface="Noto Sans JP"/>
                <a:ea typeface="Noto Sans JP"/>
                <a:cs typeface="Noto Sans JP"/>
                <a:sym typeface="Noto Sans JP"/>
              </a:rPr>
              <a:t>202</a:t>
            </a:r>
            <a:r>
              <a:rPr lang="en-US" altLang="ja-JP" sz="1050" b="1" i="0" u="none" strike="noStrike" cap="none" dirty="0">
                <a:solidFill>
                  <a:srgbClr val="475569"/>
                </a:solidFill>
                <a:latin typeface="Noto Sans JP"/>
                <a:ea typeface="Noto Sans JP"/>
                <a:cs typeface="Noto Sans JP"/>
                <a:sym typeface="Noto Sans JP"/>
              </a:rPr>
              <a:t>5</a:t>
            </a:r>
            <a:r>
              <a:rPr lang="en-US" sz="1050" b="1" i="0" u="none" strike="noStrike" cap="none" dirty="0">
                <a:solidFill>
                  <a:srgbClr val="475569"/>
                </a:solidFill>
                <a:latin typeface="Noto Sans JP"/>
                <a:ea typeface="Noto Sans JP"/>
                <a:cs typeface="Noto Sans JP"/>
                <a:sym typeface="Noto Sans JP"/>
              </a:rPr>
              <a:t>年度 </a:t>
            </a:r>
            <a:r>
              <a:rPr lang="en-US" altLang="ja-JP" sz="1050" b="1" dirty="0">
                <a:solidFill>
                  <a:srgbClr val="475569"/>
                </a:solidFill>
                <a:latin typeface="Noto Sans JP"/>
                <a:ea typeface="Noto Sans JP"/>
                <a:cs typeface="Noto Sans JP"/>
                <a:sym typeface="Noto Sans JP"/>
              </a:rPr>
              <a:t>月平均廃棄本数</a:t>
            </a:r>
            <a:endParaRPr dirty="0"/>
          </a:p>
        </p:txBody>
      </p:sp>
      <p:sp>
        <p:nvSpPr>
          <p:cNvPr id="27" name="Google Shape;133;p16">
            <a:extLst>
              <a:ext uri="{FF2B5EF4-FFF2-40B4-BE49-F238E27FC236}">
                <a16:creationId xmlns:a16="http://schemas.microsoft.com/office/drawing/2014/main" id="{C843A2F1-A402-1189-8882-81CD2B6645E9}"/>
              </a:ext>
            </a:extLst>
          </p:cNvPr>
          <p:cNvSpPr txBox="1"/>
          <p:nvPr/>
        </p:nvSpPr>
        <p:spPr>
          <a:xfrm>
            <a:off x="535481" y="5960168"/>
            <a:ext cx="226695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altLang="ja-JP" sz="2100" b="1" dirty="0">
                <a:solidFill>
                  <a:srgbClr val="166534"/>
                </a:solidFill>
                <a:latin typeface="Roboto Mono"/>
                <a:ea typeface="Roboto Mono"/>
                <a:cs typeface="Roboto Mono"/>
                <a:sym typeface="Roboto Mono"/>
              </a:rPr>
              <a:t>15.4</a:t>
            </a:r>
            <a:r>
              <a:rPr lang="en-US" sz="2100" b="1" i="0" u="none" strike="noStrike" cap="none" dirty="0">
                <a:solidFill>
                  <a:srgbClr val="166534"/>
                </a:solidFill>
                <a:latin typeface="Roboto Mono"/>
                <a:ea typeface="Roboto Mono"/>
                <a:cs typeface="Roboto Mono"/>
                <a:sym typeface="Roboto Mono"/>
              </a:rPr>
              <a:t> </a:t>
            </a:r>
            <a:r>
              <a:rPr lang="ja-JP" altLang="en-US" sz="1100" dirty="0">
                <a:solidFill>
                  <a:srgbClr val="166534"/>
                </a:solidFill>
                <a:latin typeface="游ゴシック" panose="020B0400000000000000" pitchFamily="50" charset="-128"/>
                <a:ea typeface="游ゴシック" panose="020B0400000000000000" pitchFamily="50" charset="-128"/>
                <a:cs typeface="Roboto Mono"/>
                <a:sym typeface="Roboto Mono"/>
              </a:rPr>
              <a:t>千本</a:t>
            </a:r>
            <a:endParaRPr sz="1100" dirty="0">
              <a:latin typeface="游ゴシック" panose="020B0400000000000000" pitchFamily="50" charset="-128"/>
              <a:ea typeface="游ゴシック" panose="020B0400000000000000" pitchFamily="50" charset="-128"/>
            </a:endParaRPr>
          </a:p>
        </p:txBody>
      </p:sp>
      <p:sp>
        <p:nvSpPr>
          <p:cNvPr id="28" name="テキスト ボックス 27">
            <a:extLst>
              <a:ext uri="{FF2B5EF4-FFF2-40B4-BE49-F238E27FC236}">
                <a16:creationId xmlns:a16="http://schemas.microsoft.com/office/drawing/2014/main" id="{1B64FEE5-0AFA-391A-6A69-3746888A6E6C}"/>
              </a:ext>
            </a:extLst>
          </p:cNvPr>
          <p:cNvSpPr txBox="1"/>
          <p:nvPr/>
        </p:nvSpPr>
        <p:spPr>
          <a:xfrm>
            <a:off x="6353651" y="4765522"/>
            <a:ext cx="5194814" cy="276999"/>
          </a:xfrm>
          <a:prstGeom prst="rect">
            <a:avLst/>
          </a:prstGeom>
          <a:noFill/>
        </p:spPr>
        <p:txBody>
          <a:bodyPr wrap="square" rtlCol="0">
            <a:spAutoFit/>
          </a:bodyPr>
          <a:lstStyle/>
          <a:p>
            <a:r>
              <a:rPr kumimoji="1" lang="ja-JP" altLang="en-US" sz="1150" b="1" dirty="0">
                <a:latin typeface="游ゴシック" panose="020B0400000000000000" pitchFamily="50" charset="-128"/>
                <a:ea typeface="游ゴシック" panose="020B0400000000000000" pitchFamily="50" charset="-128"/>
              </a:rPr>
              <a:t>改善効果</a:t>
            </a:r>
            <a:r>
              <a:rPr kumimoji="1" lang="ja-JP" altLang="en-US" sz="1150" dirty="0">
                <a:latin typeface="游ゴシック" panose="020B0400000000000000" pitchFamily="50" charset="-128"/>
                <a:ea typeface="游ゴシック" panose="020B0400000000000000" pitchFamily="50" charset="-128"/>
              </a:rPr>
              <a:t>：廃棄率は、前年度平均から</a:t>
            </a:r>
            <a:r>
              <a:rPr kumimoji="1" lang="en-US" altLang="ja-JP" sz="1150" b="1" dirty="0">
                <a:latin typeface="游ゴシック" panose="020B0400000000000000" pitchFamily="50" charset="-128"/>
                <a:ea typeface="游ゴシック" panose="020B0400000000000000" pitchFamily="50" charset="-128"/>
              </a:rPr>
              <a:t>0.61pt</a:t>
            </a:r>
            <a:r>
              <a:rPr kumimoji="1" lang="ja-JP" altLang="en-US" sz="1150" b="1" dirty="0">
                <a:latin typeface="游ゴシック" panose="020B0400000000000000" pitchFamily="50" charset="-128"/>
                <a:ea typeface="游ゴシック" panose="020B0400000000000000" pitchFamily="50" charset="-128"/>
              </a:rPr>
              <a:t>の大幅改善</a:t>
            </a:r>
            <a:r>
              <a:rPr kumimoji="1" lang="ja-JP" altLang="en-US" sz="1150" dirty="0">
                <a:latin typeface="游ゴシック" panose="020B0400000000000000" pitchFamily="50" charset="-128"/>
                <a:ea typeface="游ゴシック" panose="020B0400000000000000" pitchFamily="50" charset="-128"/>
              </a:rPr>
              <a:t>できています。</a:t>
            </a:r>
          </a:p>
        </p:txBody>
      </p:sp>
      <p:sp>
        <p:nvSpPr>
          <p:cNvPr id="30" name="テキスト ボックス 29">
            <a:extLst>
              <a:ext uri="{FF2B5EF4-FFF2-40B4-BE49-F238E27FC236}">
                <a16:creationId xmlns:a16="http://schemas.microsoft.com/office/drawing/2014/main" id="{518910B2-0323-C4B0-C108-C7E81B5D1492}"/>
              </a:ext>
            </a:extLst>
          </p:cNvPr>
          <p:cNvSpPr txBox="1"/>
          <p:nvPr/>
        </p:nvSpPr>
        <p:spPr>
          <a:xfrm>
            <a:off x="6353651" y="5321651"/>
            <a:ext cx="5194814" cy="276999"/>
          </a:xfrm>
          <a:prstGeom prst="rect">
            <a:avLst/>
          </a:prstGeom>
          <a:noFill/>
        </p:spPr>
        <p:txBody>
          <a:bodyPr wrap="square" rtlCol="0">
            <a:spAutoFit/>
          </a:bodyPr>
          <a:lstStyle/>
          <a:p>
            <a:r>
              <a:rPr kumimoji="1" lang="ja-JP" altLang="en-US" sz="1150" b="1" dirty="0">
                <a:latin typeface="游ゴシック" panose="020B0400000000000000" pitchFamily="50" charset="-128"/>
                <a:ea typeface="游ゴシック" panose="020B0400000000000000" pitchFamily="50" charset="-128"/>
              </a:rPr>
              <a:t>コスト効果</a:t>
            </a:r>
            <a:r>
              <a:rPr kumimoji="1" lang="ja-JP" altLang="en-US" sz="1150" dirty="0">
                <a:latin typeface="游ゴシック" panose="020B0400000000000000" pitchFamily="50" charset="-128"/>
                <a:ea typeface="游ゴシック" panose="020B0400000000000000" pitchFamily="50" charset="-128"/>
              </a:rPr>
              <a:t>：廃棄本数も、月平均</a:t>
            </a:r>
            <a:r>
              <a:rPr kumimoji="1" lang="en-US" altLang="ja-JP" sz="1150" b="1" dirty="0">
                <a:latin typeface="游ゴシック" panose="020B0400000000000000" pitchFamily="50" charset="-128"/>
                <a:ea typeface="游ゴシック" panose="020B0400000000000000" pitchFamily="50" charset="-128"/>
              </a:rPr>
              <a:t>3.7</a:t>
            </a:r>
            <a:r>
              <a:rPr kumimoji="1" lang="ja-JP" altLang="en-US" sz="1150" b="1" dirty="0">
                <a:latin typeface="游ゴシック" panose="020B0400000000000000" pitchFamily="50" charset="-128"/>
                <a:ea typeface="游ゴシック" panose="020B0400000000000000" pitchFamily="50" charset="-128"/>
              </a:rPr>
              <a:t>千本削減</a:t>
            </a:r>
            <a:r>
              <a:rPr kumimoji="1" lang="ja-JP" altLang="en-US" sz="1150" dirty="0">
                <a:latin typeface="游ゴシック" panose="020B0400000000000000" pitchFamily="50" charset="-128"/>
                <a:ea typeface="游ゴシック" panose="020B0400000000000000" pitchFamily="50" charset="-128"/>
              </a:rPr>
              <a:t>できています。</a:t>
            </a:r>
          </a:p>
        </p:txBody>
      </p:sp>
      <p:pic>
        <p:nvPicPr>
          <p:cNvPr id="32" name="Google Shape;122;p16" descr="image.png">
            <a:extLst>
              <a:ext uri="{FF2B5EF4-FFF2-40B4-BE49-F238E27FC236}">
                <a16:creationId xmlns:a16="http://schemas.microsoft.com/office/drawing/2014/main" id="{19BDC5B5-609D-AF9C-C953-0544DEFDCD44}"/>
              </a:ext>
            </a:extLst>
          </p:cNvPr>
          <p:cNvPicPr preferRelativeResize="0"/>
          <p:nvPr/>
        </p:nvPicPr>
        <p:blipFill rotWithShape="1">
          <a:blip r:embed="rId3">
            <a:alphaModFix/>
          </a:blip>
          <a:srcRect/>
          <a:stretch/>
        </p:blipFill>
        <p:spPr>
          <a:xfrm>
            <a:off x="3116756" y="5550593"/>
            <a:ext cx="2590800" cy="885825"/>
          </a:xfrm>
          <a:prstGeom prst="rect">
            <a:avLst/>
          </a:prstGeom>
          <a:noFill/>
          <a:ln>
            <a:noFill/>
          </a:ln>
        </p:spPr>
      </p:pic>
      <p:sp>
        <p:nvSpPr>
          <p:cNvPr id="34" name="Google Shape;132;p16">
            <a:extLst>
              <a:ext uri="{FF2B5EF4-FFF2-40B4-BE49-F238E27FC236}">
                <a16:creationId xmlns:a16="http://schemas.microsoft.com/office/drawing/2014/main" id="{BF0384BA-795F-8FB9-D682-3FFD2A6BA752}"/>
              </a:ext>
            </a:extLst>
          </p:cNvPr>
          <p:cNvSpPr txBox="1"/>
          <p:nvPr/>
        </p:nvSpPr>
        <p:spPr>
          <a:xfrm>
            <a:off x="3222007" y="5712518"/>
            <a:ext cx="2380297" cy="161583"/>
          </a:xfrm>
          <a:prstGeom prst="rect">
            <a:avLst/>
          </a:prstGeom>
          <a:noFill/>
          <a:ln>
            <a:noFill/>
          </a:ln>
        </p:spPr>
        <p:txBody>
          <a:bodyPr spcFirstLastPara="1" wrap="square" lIns="0" tIns="0" rIns="0" bIns="0" anchor="t" anchorCtr="0">
            <a:spAutoFit/>
          </a:bodyPr>
          <a:lstStyle/>
          <a:p>
            <a:pPr lvl="0" algn="ctr"/>
            <a:r>
              <a:rPr lang="en-US" sz="1050" b="1" i="0" u="none" strike="noStrike" cap="none" dirty="0">
                <a:solidFill>
                  <a:srgbClr val="475569"/>
                </a:solidFill>
                <a:latin typeface="Noto Sans JP"/>
                <a:ea typeface="Noto Sans JP"/>
                <a:cs typeface="Noto Sans JP"/>
                <a:sym typeface="Noto Sans JP"/>
              </a:rPr>
              <a:t>202</a:t>
            </a:r>
            <a:r>
              <a:rPr lang="en-US" altLang="ja-JP" sz="1050" b="1" dirty="0">
                <a:solidFill>
                  <a:srgbClr val="475569"/>
                </a:solidFill>
                <a:latin typeface="Noto Sans JP"/>
                <a:ea typeface="Noto Sans JP"/>
                <a:cs typeface="Noto Sans JP"/>
                <a:sym typeface="Noto Sans JP"/>
              </a:rPr>
              <a:t>6</a:t>
            </a:r>
            <a:r>
              <a:rPr lang="en-US" sz="1050" b="1" i="0" u="none" strike="noStrike" cap="none" dirty="0">
                <a:solidFill>
                  <a:srgbClr val="475569"/>
                </a:solidFill>
                <a:latin typeface="Noto Sans JP"/>
                <a:ea typeface="Noto Sans JP"/>
                <a:cs typeface="Noto Sans JP"/>
                <a:sym typeface="Noto Sans JP"/>
              </a:rPr>
              <a:t>年度 </a:t>
            </a:r>
            <a:r>
              <a:rPr lang="en-US" altLang="ja-JP" sz="1050" b="1" dirty="0">
                <a:solidFill>
                  <a:srgbClr val="475569"/>
                </a:solidFill>
                <a:latin typeface="Noto Sans JP"/>
                <a:ea typeface="Noto Sans JP"/>
                <a:cs typeface="Noto Sans JP"/>
                <a:sym typeface="Noto Sans JP"/>
              </a:rPr>
              <a:t>月平均廃棄本数</a:t>
            </a:r>
            <a:endParaRPr dirty="0"/>
          </a:p>
        </p:txBody>
      </p:sp>
      <p:sp>
        <p:nvSpPr>
          <p:cNvPr id="36" name="Google Shape;133;p16">
            <a:extLst>
              <a:ext uri="{FF2B5EF4-FFF2-40B4-BE49-F238E27FC236}">
                <a16:creationId xmlns:a16="http://schemas.microsoft.com/office/drawing/2014/main" id="{4DE4ADC2-10B4-CD9E-5F95-D5079B373B32}"/>
              </a:ext>
            </a:extLst>
          </p:cNvPr>
          <p:cNvSpPr txBox="1"/>
          <p:nvPr/>
        </p:nvSpPr>
        <p:spPr>
          <a:xfrm>
            <a:off x="3278681" y="5960168"/>
            <a:ext cx="226695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altLang="ja-JP" sz="2100" b="1" dirty="0">
                <a:solidFill>
                  <a:srgbClr val="166534"/>
                </a:solidFill>
                <a:latin typeface="Roboto Mono"/>
                <a:ea typeface="Roboto Mono"/>
                <a:cs typeface="Roboto Mono"/>
                <a:sym typeface="Roboto Mono"/>
              </a:rPr>
              <a:t>11.7</a:t>
            </a:r>
            <a:r>
              <a:rPr lang="en-US" sz="2100" b="1" i="0" u="none" strike="noStrike" cap="none" dirty="0">
                <a:solidFill>
                  <a:srgbClr val="166534"/>
                </a:solidFill>
                <a:latin typeface="Roboto Mono"/>
                <a:ea typeface="Roboto Mono"/>
                <a:cs typeface="Roboto Mono"/>
                <a:sym typeface="Roboto Mono"/>
              </a:rPr>
              <a:t> </a:t>
            </a:r>
            <a:r>
              <a:rPr lang="ja-JP" altLang="en-US" sz="1100" dirty="0">
                <a:solidFill>
                  <a:srgbClr val="166534"/>
                </a:solidFill>
                <a:latin typeface="游ゴシック" panose="020B0400000000000000" pitchFamily="50" charset="-128"/>
                <a:ea typeface="游ゴシック" panose="020B0400000000000000" pitchFamily="50" charset="-128"/>
                <a:cs typeface="Roboto Mono"/>
                <a:sym typeface="Roboto Mono"/>
              </a:rPr>
              <a:t>千本</a:t>
            </a:r>
            <a:endParaRPr sz="1100" dirty="0">
              <a:latin typeface="游ゴシック" panose="020B0400000000000000" pitchFamily="50" charset="-128"/>
              <a:ea typeface="游ゴシック" panose="020B04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pic>
        <p:nvPicPr>
          <p:cNvPr id="141" name="Google Shape;14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2" name="Google Shape;142;p17" descr="image.png"/>
          <p:cNvPicPr preferRelativeResize="0"/>
          <p:nvPr/>
        </p:nvPicPr>
        <p:blipFill rotWithShape="1">
          <a:blip r:embed="rId4">
            <a:alphaModFix/>
          </a:blip>
          <a:srcRect/>
          <a:stretch/>
        </p:blipFill>
        <p:spPr>
          <a:xfrm>
            <a:off x="609600" y="1417290"/>
            <a:ext cx="10972800" cy="2400300"/>
          </a:xfrm>
          <a:prstGeom prst="rect">
            <a:avLst/>
          </a:prstGeom>
          <a:noFill/>
          <a:ln>
            <a:noFill/>
          </a:ln>
        </p:spPr>
      </p:pic>
      <p:sp>
        <p:nvSpPr>
          <p:cNvPr id="143" name="Google Shape;143;p17"/>
          <p:cNvSpPr txBox="1"/>
          <p:nvPr/>
        </p:nvSpPr>
        <p:spPr>
          <a:xfrm>
            <a:off x="762000" y="1072583"/>
            <a:ext cx="1077277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005088"/>
                </a:solidFill>
                <a:latin typeface="Noto Sans JP"/>
                <a:ea typeface="Noto Sans JP"/>
                <a:cs typeface="Noto Sans JP"/>
                <a:sym typeface="Noto Sans JP"/>
              </a:rPr>
              <a:t> 6月内示：1,136.9 千本 |  7月内示：1,168.7 千本</a:t>
            </a:r>
            <a:endParaRPr dirty="0"/>
          </a:p>
        </p:txBody>
      </p:sp>
      <p:graphicFrame>
        <p:nvGraphicFramePr>
          <p:cNvPr id="144" name="Google Shape;144;p17"/>
          <p:cNvGraphicFramePr/>
          <p:nvPr>
            <p:extLst>
              <p:ext uri="{D42A27DB-BD31-4B8C-83A1-F6EECF244321}">
                <p14:modId xmlns:p14="http://schemas.microsoft.com/office/powerpoint/2010/main" val="887810277"/>
              </p:ext>
            </p:extLst>
          </p:nvPr>
        </p:nvGraphicFramePr>
        <p:xfrm>
          <a:off x="619125" y="1426815"/>
          <a:ext cx="10944175" cy="4280745"/>
        </p:xfrm>
        <a:graphic>
          <a:graphicData uri="http://schemas.openxmlformats.org/drawingml/2006/table">
            <a:tbl>
              <a:tblPr firstRow="1" bandRow="1">
                <a:noFill/>
                <a:tableStyleId>{6533D3A8-D3F5-4CE0-8612-AE69E67BF3B3}</a:tableStyleId>
              </a:tblPr>
              <a:tblGrid>
                <a:gridCol w="1169925">
                  <a:extLst>
                    <a:ext uri="{9D8B030D-6E8A-4147-A177-3AD203B41FA5}">
                      <a16:colId xmlns:a16="http://schemas.microsoft.com/office/drawing/2014/main" val="20000"/>
                    </a:ext>
                  </a:extLst>
                </a:gridCol>
                <a:gridCol w="1716275">
                  <a:extLst>
                    <a:ext uri="{9D8B030D-6E8A-4147-A177-3AD203B41FA5}">
                      <a16:colId xmlns:a16="http://schemas.microsoft.com/office/drawing/2014/main" val="20001"/>
                    </a:ext>
                  </a:extLst>
                </a:gridCol>
                <a:gridCol w="2374400">
                  <a:extLst>
                    <a:ext uri="{9D8B030D-6E8A-4147-A177-3AD203B41FA5}">
                      <a16:colId xmlns:a16="http://schemas.microsoft.com/office/drawing/2014/main" val="20002"/>
                    </a:ext>
                  </a:extLst>
                </a:gridCol>
                <a:gridCol w="1716275">
                  <a:extLst>
                    <a:ext uri="{9D8B030D-6E8A-4147-A177-3AD203B41FA5}">
                      <a16:colId xmlns:a16="http://schemas.microsoft.com/office/drawing/2014/main" val="20003"/>
                    </a:ext>
                  </a:extLst>
                </a:gridCol>
                <a:gridCol w="2374400">
                  <a:extLst>
                    <a:ext uri="{9D8B030D-6E8A-4147-A177-3AD203B41FA5}">
                      <a16:colId xmlns:a16="http://schemas.microsoft.com/office/drawing/2014/main" val="20004"/>
                    </a:ext>
                  </a:extLst>
                </a:gridCol>
                <a:gridCol w="1592900">
                  <a:extLst>
                    <a:ext uri="{9D8B030D-6E8A-4147-A177-3AD203B41FA5}">
                      <a16:colId xmlns:a16="http://schemas.microsoft.com/office/drawing/2014/main" val="20005"/>
                    </a:ext>
                  </a:extLst>
                </a:gridCol>
              </a:tblGrid>
              <a:tr h="611535">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工程名前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前月在庫高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前月在庫率 (在庫高÷内示)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当月在庫高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当月在庫率 (在庫高÷内示)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増減 (当月-前月)</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切断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133.7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0.20</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143.9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1" i="0" u="none" dirty="0">
                          <a:solidFill>
                            <a:srgbClr val="10B981"/>
                          </a:solidFill>
                          <a:latin typeface="游ゴシック" panose="020B0400000000000000" pitchFamily="50" charset="-128"/>
                          <a:ea typeface="游ゴシック" panose="020B0400000000000000" pitchFamily="50" charset="-128"/>
                          <a:cs typeface="Roboto Mono"/>
                          <a:sym typeface="Roboto Mono"/>
                        </a:rPr>
                        <a:t>10.2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成型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164.1</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156.1</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△8.0</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メッキ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199.9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0.21</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191.9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△8.0</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45.5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0.05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40.7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0.04</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△4.8</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仕掛品合計</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543.3</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0.48</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532.6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0.45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△10.6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5"/>
                  </a:ext>
                </a:extLst>
              </a:tr>
              <a:tr h="61153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製品</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451.8</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0.39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444.7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0.39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△7.1</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extLst>
                  <a:ext uri="{0D108BD9-81ED-4DB2-BD59-A6C34878D82A}">
                    <a16:rowId xmlns:a16="http://schemas.microsoft.com/office/drawing/2014/main" val="10006"/>
                  </a:ext>
                </a:extLst>
              </a:tr>
            </a:tbl>
          </a:graphicData>
        </a:graphic>
      </p:graphicFrame>
      <p:sp>
        <p:nvSpPr>
          <p:cNvPr id="145" name="Google Shape;145;p17"/>
          <p:cNvSpPr txBox="1"/>
          <p:nvPr/>
        </p:nvSpPr>
        <p:spPr>
          <a:xfrm>
            <a:off x="809625" y="5917110"/>
            <a:ext cx="107823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全体動向：</a:t>
            </a:r>
            <a:r>
              <a:rPr lang="en-US" sz="1050" b="0" i="0" u="none" strike="noStrike" cap="none" dirty="0">
                <a:solidFill>
                  <a:srgbClr val="475569"/>
                </a:solidFill>
                <a:latin typeface="Noto Sans JP"/>
                <a:ea typeface="Noto Sans JP"/>
                <a:cs typeface="Noto Sans JP"/>
                <a:sym typeface="Noto Sans JP"/>
              </a:rPr>
              <a:t>仕掛品合計は </a:t>
            </a:r>
            <a:r>
              <a:rPr lang="en-US" sz="1050" b="1" i="0" u="none" strike="noStrike" cap="none" dirty="0">
                <a:solidFill>
                  <a:srgbClr val="475569"/>
                </a:solidFill>
                <a:latin typeface="Noto Sans JP"/>
                <a:ea typeface="Noto Sans JP"/>
                <a:cs typeface="Noto Sans JP"/>
                <a:sym typeface="Noto Sans JP"/>
              </a:rPr>
              <a:t>10.6千本の減</a:t>
            </a:r>
            <a:r>
              <a:rPr lang="en-US" sz="1050" b="0" i="0" u="none" strike="noStrike" cap="none" dirty="0">
                <a:solidFill>
                  <a:srgbClr val="475569"/>
                </a:solidFill>
                <a:latin typeface="Noto Sans JP"/>
                <a:ea typeface="Noto Sans JP"/>
                <a:cs typeface="Noto Sans JP"/>
                <a:sym typeface="Noto Sans JP"/>
              </a:rPr>
              <a:t> となり、</a:t>
            </a:r>
            <a:r>
              <a:rPr lang="ja-JP" altLang="en-US" sz="1050" dirty="0">
                <a:solidFill>
                  <a:srgbClr val="475569"/>
                </a:solidFill>
                <a:latin typeface="Noto Sans JP"/>
                <a:ea typeface="Noto Sans JP"/>
                <a:cs typeface="Noto Sans JP"/>
                <a:sym typeface="Noto Sans JP"/>
              </a:rPr>
              <a:t>製品在庫は</a:t>
            </a:r>
            <a:r>
              <a:rPr lang="en-US" altLang="ja-JP" sz="1050" dirty="0">
                <a:solidFill>
                  <a:srgbClr val="475569"/>
                </a:solidFill>
                <a:latin typeface="Noto Sans JP"/>
                <a:ea typeface="Noto Sans JP"/>
                <a:cs typeface="Noto Sans JP"/>
                <a:sym typeface="Noto Sans JP"/>
              </a:rPr>
              <a:t>7.1</a:t>
            </a:r>
            <a:r>
              <a:rPr lang="ja-JP" altLang="en-US" sz="1050" dirty="0">
                <a:solidFill>
                  <a:srgbClr val="475569"/>
                </a:solidFill>
                <a:latin typeface="Noto Sans JP"/>
                <a:ea typeface="Noto Sans JP"/>
                <a:cs typeface="Noto Sans JP"/>
                <a:sym typeface="Noto Sans JP"/>
              </a:rPr>
              <a:t>千本の減となり、</a:t>
            </a:r>
            <a:r>
              <a:rPr lang="en-US" sz="1050" b="0" i="0" u="none" strike="noStrike" cap="none" dirty="0">
                <a:solidFill>
                  <a:srgbClr val="475569"/>
                </a:solidFill>
                <a:latin typeface="Noto Sans JP"/>
                <a:ea typeface="Noto Sans JP"/>
                <a:cs typeface="Noto Sans JP"/>
                <a:sym typeface="Noto Sans JP"/>
              </a:rPr>
              <a:t>在庫圧縮</a:t>
            </a:r>
            <a:r>
              <a:rPr lang="ja-JP" altLang="en-US" sz="1050" b="0" i="0" u="none" strike="noStrike" cap="none" dirty="0">
                <a:solidFill>
                  <a:srgbClr val="475569"/>
                </a:solidFill>
                <a:latin typeface="Noto Sans JP"/>
                <a:ea typeface="Noto Sans JP"/>
                <a:cs typeface="Noto Sans JP"/>
                <a:sym typeface="Noto Sans JP"/>
              </a:rPr>
              <a:t>している。</a:t>
            </a:r>
            <a:endParaRPr dirty="0"/>
          </a:p>
        </p:txBody>
      </p:sp>
      <p:sp>
        <p:nvSpPr>
          <p:cNvPr id="146" name="Google Shape;146;p17"/>
          <p:cNvSpPr txBox="1"/>
          <p:nvPr/>
        </p:nvSpPr>
        <p:spPr>
          <a:xfrm>
            <a:off x="809625" y="6187530"/>
            <a:ext cx="107823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工程別：</a:t>
            </a:r>
            <a:r>
              <a:rPr lang="en-US" sz="1050" b="0" i="0" u="none" strike="noStrike" cap="none" dirty="0">
                <a:solidFill>
                  <a:srgbClr val="475569"/>
                </a:solidFill>
                <a:latin typeface="Noto Sans JP"/>
                <a:ea typeface="Noto Sans JP"/>
                <a:cs typeface="Noto Sans JP"/>
                <a:sym typeface="Noto Sans JP"/>
              </a:rPr>
              <a:t>切断のみで10.2千本増加。一方、成型・メッキ・</a:t>
            </a:r>
            <a:r>
              <a:rPr lang="en-US" sz="1050" b="0" i="0" u="none" strike="noStrike" cap="none">
                <a:solidFill>
                  <a:srgbClr val="475569"/>
                </a:solidFill>
                <a:latin typeface="Noto Sans JP"/>
                <a:ea typeface="Noto Sans JP"/>
                <a:cs typeface="Noto Sans JP"/>
                <a:sym typeface="Noto Sans JP"/>
              </a:rPr>
              <a:t>溶接工程ではそれぞれ在庫が消化されています。</a:t>
            </a:r>
            <a:r>
              <a:rPr lang="ja-JP" altLang="en-US" sz="1050" b="0" i="0" u="none" strike="noStrike" cap="none">
                <a:solidFill>
                  <a:srgbClr val="475569"/>
                </a:solidFill>
                <a:latin typeface="Noto Sans JP"/>
                <a:ea typeface="Noto Sans JP"/>
                <a:cs typeface="Noto Sans JP"/>
                <a:sym typeface="Noto Sans JP"/>
              </a:rPr>
              <a:t>後工程への流れは概ね良好です</a:t>
            </a:r>
            <a:endParaRPr dirty="0"/>
          </a:p>
        </p:txBody>
      </p:sp>
      <p:pic>
        <p:nvPicPr>
          <p:cNvPr id="147" name="Google Shape;147;p17" descr="image.png"/>
          <p:cNvPicPr preferRelativeResize="0"/>
          <p:nvPr/>
        </p:nvPicPr>
        <p:blipFill rotWithShape="1">
          <a:blip r:embed="rId5">
            <a:alphaModFix/>
          </a:blip>
          <a:srcRect/>
          <a:stretch/>
        </p:blipFill>
        <p:spPr>
          <a:xfrm>
            <a:off x="609600" y="1093440"/>
            <a:ext cx="103733" cy="133350"/>
          </a:xfrm>
          <a:prstGeom prst="rect">
            <a:avLst/>
          </a:prstGeom>
          <a:noFill/>
          <a:ln>
            <a:noFill/>
          </a:ln>
        </p:spPr>
      </p:pic>
      <p:sp>
        <p:nvSpPr>
          <p:cNvPr id="149" name="Google Shape;149;p17"/>
          <p:cNvSpPr txBox="1"/>
          <p:nvPr/>
        </p:nvSpPr>
        <p:spPr>
          <a:xfrm>
            <a:off x="619125" y="5936160"/>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150" name="Google Shape;150;p17"/>
          <p:cNvSpPr txBox="1"/>
          <p:nvPr/>
        </p:nvSpPr>
        <p:spPr>
          <a:xfrm>
            <a:off x="619125" y="6206580"/>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151" name="Google Shape;151;p17"/>
          <p:cNvSpPr txBox="1"/>
          <p:nvPr/>
        </p:nvSpPr>
        <p:spPr>
          <a:xfrm>
            <a:off x="762000" y="457200"/>
            <a:ext cx="11361420"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6月末時点の在庫高および仕掛品状況</a:t>
            </a:r>
            <a:endParaRPr dirty="0"/>
          </a:p>
        </p:txBody>
      </p:sp>
      <p:sp>
        <p:nvSpPr>
          <p:cNvPr id="152" name="Google Shape;152;p17"/>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8" name="Google Shape;158;p18"/>
          <p:cNvSpPr/>
          <p:nvPr/>
        </p:nvSpPr>
        <p:spPr>
          <a:xfrm>
            <a:off x="5715000" y="2805112"/>
            <a:ext cx="762000" cy="3810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59" name="Google Shape;159;p18"/>
          <p:cNvSpPr txBox="1"/>
          <p:nvPr/>
        </p:nvSpPr>
        <p:spPr>
          <a:xfrm>
            <a:off x="3353000" y="3071812"/>
            <a:ext cx="5485998" cy="609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005088"/>
                </a:solidFill>
                <a:latin typeface="Noto Sans JP"/>
                <a:ea typeface="Noto Sans JP"/>
                <a:cs typeface="Noto Sans JP"/>
                <a:sym typeface="Noto Sans JP"/>
              </a:rPr>
              <a:t>PART 02. 7月度 生産計画</a:t>
            </a:r>
            <a:endParaRPr dirty="0"/>
          </a:p>
        </p:txBody>
      </p:sp>
      <p:sp>
        <p:nvSpPr>
          <p:cNvPr id="160" name="Google Shape;160;p18"/>
          <p:cNvSpPr txBox="1"/>
          <p:nvPr/>
        </p:nvSpPr>
        <p:spPr>
          <a:xfrm>
            <a:off x="3323034" y="3795712"/>
            <a:ext cx="5707950"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a:solidFill>
                  <a:srgbClr val="64748B"/>
                </a:solidFill>
                <a:latin typeface="Noto Sans JP"/>
                <a:ea typeface="Noto Sans JP"/>
                <a:cs typeface="Noto Sans JP"/>
                <a:sym typeface="Noto Sans JP"/>
              </a:rPr>
              <a:t>稼働日23日における主要工程の生産負荷予測と稼働体制の最適化</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6" name="Google Shape;166;p19" descr="image.png"/>
          <p:cNvPicPr preferRelativeResize="0"/>
          <p:nvPr/>
        </p:nvPicPr>
        <p:blipFill rotWithShape="1">
          <a:blip r:embed="rId3">
            <a:alphaModFix/>
          </a:blip>
          <a:srcRect/>
          <a:stretch/>
        </p:blipFill>
        <p:spPr>
          <a:xfrm>
            <a:off x="609600" y="1398240"/>
            <a:ext cx="10972800" cy="2733675"/>
          </a:xfrm>
          <a:prstGeom prst="rect">
            <a:avLst/>
          </a:prstGeom>
          <a:noFill/>
          <a:ln>
            <a:noFill/>
          </a:ln>
        </p:spPr>
      </p:pic>
      <p:sp>
        <p:nvSpPr>
          <p:cNvPr id="167" name="Google Shape;167;p19"/>
          <p:cNvSpPr txBox="1"/>
          <p:nvPr/>
        </p:nvSpPr>
        <p:spPr>
          <a:xfrm>
            <a:off x="761999" y="1067098"/>
            <a:ext cx="10801325" cy="161583"/>
          </a:xfrm>
          <a:prstGeom prst="rect">
            <a:avLst/>
          </a:prstGeom>
          <a:noFill/>
          <a:ln>
            <a:noFill/>
          </a:ln>
        </p:spPr>
        <p:txBody>
          <a:bodyPr spcFirstLastPara="1" wrap="square" lIns="0" tIns="0" rIns="0" bIns="0" anchor="t" anchorCtr="0">
            <a:spAutoFit/>
          </a:bodyPr>
          <a:lstStyle/>
          <a:p>
            <a:pPr lvl="0"/>
            <a:r>
              <a:rPr lang="en-US" sz="1050" b="1" i="0" u="none" strike="noStrike" cap="none" dirty="0">
                <a:solidFill>
                  <a:srgbClr val="005088"/>
                </a:solidFill>
                <a:latin typeface="Noto Sans JP"/>
                <a:ea typeface="Noto Sans JP"/>
                <a:cs typeface="Noto Sans JP"/>
                <a:sym typeface="Noto Sans JP"/>
              </a:rPr>
              <a:t> 7月稼働日：23日 |  7月内示：1,168.7 千本 (日当たり：50.8 千本)</a:t>
            </a:r>
            <a:r>
              <a:rPr lang="ja-JP" altLang="en-US" sz="1050" b="1" i="0" u="none" strike="noStrike" cap="none" dirty="0">
                <a:solidFill>
                  <a:srgbClr val="005088"/>
                </a:solidFill>
                <a:latin typeface="Noto Sans JP"/>
                <a:ea typeface="Noto Sans JP"/>
                <a:cs typeface="Noto Sans JP"/>
                <a:sym typeface="Noto Sans JP"/>
              </a:rPr>
              <a:t>　　　　　　　　　　　　　　　　　　　　　　　　　　　　　　　　　　　　　　　　負荷率基準：定時稼働</a:t>
            </a:r>
            <a:endParaRPr dirty="0"/>
          </a:p>
        </p:txBody>
      </p:sp>
      <p:graphicFrame>
        <p:nvGraphicFramePr>
          <p:cNvPr id="168" name="Google Shape;168;p19"/>
          <p:cNvGraphicFramePr/>
          <p:nvPr>
            <p:extLst>
              <p:ext uri="{D42A27DB-BD31-4B8C-83A1-F6EECF244321}">
                <p14:modId xmlns:p14="http://schemas.microsoft.com/office/powerpoint/2010/main" val="1374318386"/>
              </p:ext>
            </p:extLst>
          </p:nvPr>
        </p:nvGraphicFramePr>
        <p:xfrm>
          <a:off x="288438" y="1407764"/>
          <a:ext cx="11587203" cy="3140704"/>
        </p:xfrm>
        <a:graphic>
          <a:graphicData uri="http://schemas.openxmlformats.org/drawingml/2006/table">
            <a:tbl>
              <a:tblPr firstRow="1" bandRow="1">
                <a:noFill/>
                <a:tableStyleId>{6533D3A8-D3F5-4CE0-8612-AE69E67BF3B3}</a:tableStyleId>
              </a:tblPr>
              <a:tblGrid>
                <a:gridCol w="726887">
                  <a:extLst>
                    <a:ext uri="{9D8B030D-6E8A-4147-A177-3AD203B41FA5}">
                      <a16:colId xmlns:a16="http://schemas.microsoft.com/office/drawing/2014/main" val="20000"/>
                    </a:ext>
                  </a:extLst>
                </a:gridCol>
                <a:gridCol w="1330694">
                  <a:extLst>
                    <a:ext uri="{9D8B030D-6E8A-4147-A177-3AD203B41FA5}">
                      <a16:colId xmlns:a16="http://schemas.microsoft.com/office/drawing/2014/main" val="20001"/>
                    </a:ext>
                  </a:extLst>
                </a:gridCol>
                <a:gridCol w="1330694">
                  <a:extLst>
                    <a:ext uri="{9D8B030D-6E8A-4147-A177-3AD203B41FA5}">
                      <a16:colId xmlns:a16="http://schemas.microsoft.com/office/drawing/2014/main" val="20002"/>
                    </a:ext>
                  </a:extLst>
                </a:gridCol>
                <a:gridCol w="1230800">
                  <a:extLst>
                    <a:ext uri="{9D8B030D-6E8A-4147-A177-3AD203B41FA5}">
                      <a16:colId xmlns:a16="http://schemas.microsoft.com/office/drawing/2014/main" val="20003"/>
                    </a:ext>
                  </a:extLst>
                </a:gridCol>
                <a:gridCol w="1330694">
                  <a:extLst>
                    <a:ext uri="{9D8B030D-6E8A-4147-A177-3AD203B41FA5}">
                      <a16:colId xmlns:a16="http://schemas.microsoft.com/office/drawing/2014/main" val="20004"/>
                    </a:ext>
                  </a:extLst>
                </a:gridCol>
                <a:gridCol w="1017117">
                  <a:extLst>
                    <a:ext uri="{9D8B030D-6E8A-4147-A177-3AD203B41FA5}">
                      <a16:colId xmlns:a16="http://schemas.microsoft.com/office/drawing/2014/main" val="20005"/>
                    </a:ext>
                  </a:extLst>
                </a:gridCol>
                <a:gridCol w="1124580">
                  <a:extLst>
                    <a:ext uri="{9D8B030D-6E8A-4147-A177-3AD203B41FA5}">
                      <a16:colId xmlns:a16="http://schemas.microsoft.com/office/drawing/2014/main" val="20006"/>
                    </a:ext>
                  </a:extLst>
                </a:gridCol>
                <a:gridCol w="1124580">
                  <a:extLst>
                    <a:ext uri="{9D8B030D-6E8A-4147-A177-3AD203B41FA5}">
                      <a16:colId xmlns:a16="http://schemas.microsoft.com/office/drawing/2014/main" val="20007"/>
                    </a:ext>
                  </a:extLst>
                </a:gridCol>
                <a:gridCol w="791498">
                  <a:extLst>
                    <a:ext uri="{9D8B030D-6E8A-4147-A177-3AD203B41FA5}">
                      <a16:colId xmlns:a16="http://schemas.microsoft.com/office/drawing/2014/main" val="20008"/>
                    </a:ext>
                  </a:extLst>
                </a:gridCol>
                <a:gridCol w="1579659">
                  <a:extLst>
                    <a:ext uri="{9D8B030D-6E8A-4147-A177-3AD203B41FA5}">
                      <a16:colId xmlns:a16="http://schemas.microsoft.com/office/drawing/2014/main" val="20009"/>
                    </a:ext>
                  </a:extLst>
                </a:gridCol>
              </a:tblGrid>
              <a:tr h="392588">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工程計画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日当たり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設備・人員</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標準能率 (本/H)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標準稼働直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定時時間 (H)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生産所要 (H)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負荷率</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日均稼働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切断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1,180.0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51.3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5.5台</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445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192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2,652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FF0000"/>
                          </a:solidFill>
                          <a:latin typeface="游ゴシック" panose="020B0400000000000000" pitchFamily="50" charset="-128"/>
                          <a:ea typeface="游ゴシック" panose="020B0400000000000000" pitchFamily="50" charset="-128"/>
                          <a:cs typeface="Roboto Mono"/>
                          <a:sym typeface="Roboto Mono"/>
                        </a:rPr>
                        <a:t>137%</a:t>
                      </a:r>
                      <a:endParaRPr sz="1200" dirty="0">
                        <a:solidFill>
                          <a:srgbClr val="FF0000"/>
                        </a:solidFill>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21.0 (毎週土稼働)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extLst>
                  <a:ext uri="{0D108BD9-81ED-4DB2-BD59-A6C34878D82A}">
                    <a16:rowId xmlns:a16="http://schemas.microsoft.com/office/drawing/2014/main" val="10001"/>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面取</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631.3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27.5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4.5台 (2工程)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295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157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2,144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FF0000"/>
                          </a:solidFill>
                          <a:latin typeface="游ゴシック" panose="020B0400000000000000" pitchFamily="50" charset="-128"/>
                          <a:ea typeface="游ゴシック" panose="020B0400000000000000" pitchFamily="50" charset="-128"/>
                          <a:cs typeface="Roboto Mono"/>
                          <a:sym typeface="Roboto Mono"/>
                        </a:rPr>
                        <a:t>136%</a:t>
                      </a:r>
                      <a:endParaRPr sz="1200" dirty="0">
                        <a:solidFill>
                          <a:srgbClr val="FF0000"/>
                        </a:solidFill>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20.7 (毎週土稼働)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extLst>
                  <a:ext uri="{0D108BD9-81ED-4DB2-BD59-A6C34878D82A}">
                    <a16:rowId xmlns:a16="http://schemas.microsoft.com/office/drawing/2014/main" val="10002"/>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成型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1,173.9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51.0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24ライン</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122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83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9,095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113%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18.0 (残業10L)</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3"/>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メッキ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885.6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36.9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1台</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1,620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547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105%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22.5 (土曜稼働+1)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4"/>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検査</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1,085.6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47.2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11人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540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192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2,004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7.9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133.9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5.8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6人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131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1,022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97%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7.4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6"/>
                  </a:ext>
                </a:extLst>
              </a:tr>
              <a:tr h="392588">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溶接SP</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62.1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145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428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FF0000"/>
                          </a:solidFill>
                          <a:latin typeface="游ゴシック" panose="020B0400000000000000" pitchFamily="50" charset="-128"/>
                          <a:ea typeface="游ゴシック" panose="020B0400000000000000" pitchFamily="50" charset="-128"/>
                          <a:cs typeface="Roboto Mono"/>
                          <a:sym typeface="Roboto Mono"/>
                        </a:rPr>
                        <a:t>122%</a:t>
                      </a:r>
                      <a:endParaRPr sz="1200" dirty="0">
                        <a:solidFill>
                          <a:srgbClr val="FF0000"/>
                        </a:solidFill>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9.3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7"/>
                  </a:ext>
                </a:extLst>
              </a:tr>
            </a:tbl>
          </a:graphicData>
        </a:graphic>
      </p:graphicFrame>
      <p:pic>
        <p:nvPicPr>
          <p:cNvPr id="169" name="Google Shape;169;p19" descr="image.png"/>
          <p:cNvPicPr preferRelativeResize="0"/>
          <p:nvPr/>
        </p:nvPicPr>
        <p:blipFill rotWithShape="1">
          <a:blip r:embed="rId4">
            <a:alphaModFix/>
          </a:blip>
          <a:srcRect/>
          <a:stretch/>
        </p:blipFill>
        <p:spPr>
          <a:xfrm>
            <a:off x="609600" y="1093440"/>
            <a:ext cx="103733" cy="133350"/>
          </a:xfrm>
          <a:prstGeom prst="rect">
            <a:avLst/>
          </a:prstGeom>
          <a:noFill/>
          <a:ln>
            <a:noFill/>
          </a:ln>
        </p:spPr>
      </p:pic>
      <p:sp>
        <p:nvSpPr>
          <p:cNvPr id="171" name="Google Shape;171;p19"/>
          <p:cNvSpPr txBox="1"/>
          <p:nvPr/>
        </p:nvSpPr>
        <p:spPr>
          <a:xfrm>
            <a:off x="762000" y="457200"/>
            <a:ext cx="11361420"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7月度 生産計画と工程負荷予測</a:t>
            </a:r>
            <a:endParaRPr dirty="0"/>
          </a:p>
        </p:txBody>
      </p:sp>
      <p:sp>
        <p:nvSpPr>
          <p:cNvPr id="172" name="Google Shape;172;p19"/>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3" name="Google Shape;178;p20" descr="image.png">
            <a:extLst>
              <a:ext uri="{FF2B5EF4-FFF2-40B4-BE49-F238E27FC236}">
                <a16:creationId xmlns:a16="http://schemas.microsoft.com/office/drawing/2014/main" id="{DD2108E3-1DE8-CAD6-41F1-CAF532032189}"/>
              </a:ext>
            </a:extLst>
          </p:cNvPr>
          <p:cNvPicPr preferRelativeResize="0"/>
          <p:nvPr/>
        </p:nvPicPr>
        <p:blipFill rotWithShape="1">
          <a:blip r:embed="rId5">
            <a:alphaModFix/>
            <a:grayscl/>
          </a:blip>
          <a:srcRect/>
          <a:stretch/>
        </p:blipFill>
        <p:spPr>
          <a:xfrm>
            <a:off x="219182" y="4684365"/>
            <a:ext cx="1961281" cy="1923603"/>
          </a:xfrm>
          <a:prstGeom prst="rect">
            <a:avLst/>
          </a:prstGeom>
          <a:noFill/>
          <a:ln>
            <a:noFill/>
          </a:ln>
        </p:spPr>
      </p:pic>
      <p:sp>
        <p:nvSpPr>
          <p:cNvPr id="5" name="Google Shape;181;p20">
            <a:extLst>
              <a:ext uri="{FF2B5EF4-FFF2-40B4-BE49-F238E27FC236}">
                <a16:creationId xmlns:a16="http://schemas.microsoft.com/office/drawing/2014/main" id="{98AE202E-28C8-FB9A-406A-774BB6026221}"/>
              </a:ext>
            </a:extLst>
          </p:cNvPr>
          <p:cNvSpPr txBox="1"/>
          <p:nvPr/>
        </p:nvSpPr>
        <p:spPr>
          <a:xfrm>
            <a:off x="258580" y="4840796"/>
            <a:ext cx="1921884"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i="0" u="none" strike="noStrike" cap="none" dirty="0">
                <a:solidFill>
                  <a:srgbClr val="005088"/>
                </a:solidFill>
                <a:latin typeface="Noto Sans JP"/>
                <a:ea typeface="Noto Sans JP"/>
                <a:cs typeface="Noto Sans JP"/>
                <a:sym typeface="Noto Sans JP"/>
              </a:rPr>
              <a:t>切断（</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：13</a:t>
            </a:r>
            <a:r>
              <a:rPr lang="en-US" altLang="ja-JP" b="1" i="0" u="none" strike="noStrike" cap="none" dirty="0">
                <a:solidFill>
                  <a:srgbClr val="005088"/>
                </a:solidFill>
                <a:latin typeface="Noto Sans JP"/>
                <a:ea typeface="Noto Sans JP"/>
                <a:cs typeface="Noto Sans JP"/>
                <a:sym typeface="Noto Sans JP"/>
              </a:rPr>
              <a:t>7</a:t>
            </a:r>
            <a:r>
              <a:rPr lang="en-US" b="1" i="0" u="none" strike="noStrike" cap="none" dirty="0">
                <a:solidFill>
                  <a:srgbClr val="005088"/>
                </a:solidFill>
                <a:latin typeface="Noto Sans JP"/>
                <a:ea typeface="Noto Sans JP"/>
                <a:cs typeface="Noto Sans JP"/>
                <a:sym typeface="Noto Sans JP"/>
              </a:rPr>
              <a:t>%）</a:t>
            </a:r>
            <a:endParaRPr dirty="0"/>
          </a:p>
        </p:txBody>
      </p:sp>
      <p:sp>
        <p:nvSpPr>
          <p:cNvPr id="7" name="Google Shape;182;p20">
            <a:extLst>
              <a:ext uri="{FF2B5EF4-FFF2-40B4-BE49-F238E27FC236}">
                <a16:creationId xmlns:a16="http://schemas.microsoft.com/office/drawing/2014/main" id="{FB4AD73B-5894-4901-B7E1-1E2EE9E442D0}"/>
              </a:ext>
            </a:extLst>
          </p:cNvPr>
          <p:cNvSpPr txBox="1"/>
          <p:nvPr/>
        </p:nvSpPr>
        <p:spPr>
          <a:xfrm>
            <a:off x="288438" y="5100918"/>
            <a:ext cx="1704749"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51.3</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9" name="Google Shape;188;p20">
            <a:extLst>
              <a:ext uri="{FF2B5EF4-FFF2-40B4-BE49-F238E27FC236}">
                <a16:creationId xmlns:a16="http://schemas.microsoft.com/office/drawing/2014/main" id="{9CB19D40-D301-39A6-0A16-B952ECF57FFB}"/>
              </a:ext>
            </a:extLst>
          </p:cNvPr>
          <p:cNvSpPr txBox="1"/>
          <p:nvPr/>
        </p:nvSpPr>
        <p:spPr>
          <a:xfrm>
            <a:off x="288438" y="5654967"/>
            <a:ext cx="1704750"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en-US" sz="1050" b="0" i="0" u="none" strike="noStrike" cap="none" dirty="0">
                <a:solidFill>
                  <a:srgbClr val="475569"/>
                </a:solidFill>
                <a:latin typeface="Noto Sans JP"/>
                <a:ea typeface="Noto Sans JP"/>
                <a:cs typeface="Noto Sans JP"/>
                <a:sym typeface="Noto Sans JP"/>
              </a:rPr>
              <a:t>毎週土曜日を稼働、日稼働</a:t>
            </a:r>
            <a:r>
              <a:rPr lang="en-US" sz="1050" b="1" i="0" u="none" strike="noStrike" cap="none" dirty="0">
                <a:solidFill>
                  <a:srgbClr val="FF0000"/>
                </a:solidFill>
                <a:latin typeface="Noto Sans JP"/>
                <a:ea typeface="Noto Sans JP"/>
                <a:cs typeface="Noto Sans JP"/>
                <a:sym typeface="Noto Sans JP"/>
              </a:rPr>
              <a:t>21.0</a:t>
            </a:r>
            <a:r>
              <a:rPr lang="en-US" altLang="ja-JP" sz="1050" b="1" i="0" u="none" strike="noStrike" cap="none" dirty="0">
                <a:solidFill>
                  <a:srgbClr val="FF0000"/>
                </a:solidFill>
                <a:latin typeface="Noto Sans JP"/>
                <a:ea typeface="Noto Sans JP"/>
                <a:cs typeface="Noto Sans JP"/>
                <a:sym typeface="Noto Sans JP"/>
              </a:rPr>
              <a:t>H</a:t>
            </a:r>
            <a:r>
              <a:rPr lang="ja-JP" altLang="en-US" sz="1050" i="0" u="none" strike="noStrike" cap="none" dirty="0">
                <a:solidFill>
                  <a:srgbClr val="475569"/>
                </a:solidFill>
                <a:latin typeface="Noto Sans JP"/>
                <a:ea typeface="Noto Sans JP"/>
                <a:cs typeface="Noto Sans JP"/>
                <a:sym typeface="Noto Sans JP"/>
              </a:rPr>
              <a:t>体制</a:t>
            </a:r>
            <a:endParaRPr dirty="0"/>
          </a:p>
        </p:txBody>
      </p:sp>
      <p:pic>
        <p:nvPicPr>
          <p:cNvPr id="15" name="Google Shape;178;p20" descr="image.png">
            <a:extLst>
              <a:ext uri="{FF2B5EF4-FFF2-40B4-BE49-F238E27FC236}">
                <a16:creationId xmlns:a16="http://schemas.microsoft.com/office/drawing/2014/main" id="{CC396430-1AC0-9DA5-006C-8B4446BBB9CD}"/>
              </a:ext>
            </a:extLst>
          </p:cNvPr>
          <p:cNvPicPr preferRelativeResize="0"/>
          <p:nvPr/>
        </p:nvPicPr>
        <p:blipFill rotWithShape="1">
          <a:blip r:embed="rId6">
            <a:alphaModFix/>
            <a:duotone>
              <a:prstClr val="black"/>
              <a:schemeClr val="accent5">
                <a:tint val="45000"/>
                <a:satMod val="400000"/>
              </a:schemeClr>
            </a:duotone>
            <a:extLst>
              <a:ext uri="{BEBA8EAE-BF5A-486C-A8C5-ECC9F3942E4B}">
                <a14:imgProps xmlns:a14="http://schemas.microsoft.com/office/drawing/2010/main">
                  <a14:imgLayer r:embed="rId7">
                    <a14:imgEffect>
                      <a14:colorTemperature colorTemp="8800"/>
                    </a14:imgEffect>
                  </a14:imgLayer>
                </a14:imgProps>
              </a:ext>
            </a:extLst>
          </a:blip>
          <a:srcRect/>
          <a:stretch/>
        </p:blipFill>
        <p:spPr>
          <a:xfrm>
            <a:off x="2212740" y="4684365"/>
            <a:ext cx="1921884" cy="1923603"/>
          </a:xfrm>
          <a:prstGeom prst="rect">
            <a:avLst/>
          </a:prstGeom>
          <a:noFill/>
          <a:ln>
            <a:noFill/>
          </a:ln>
        </p:spPr>
      </p:pic>
      <p:sp>
        <p:nvSpPr>
          <p:cNvPr id="17" name="Google Shape;181;p20">
            <a:extLst>
              <a:ext uri="{FF2B5EF4-FFF2-40B4-BE49-F238E27FC236}">
                <a16:creationId xmlns:a16="http://schemas.microsoft.com/office/drawing/2014/main" id="{1066378E-80F4-A37D-CF78-4F3BC5392CC9}"/>
              </a:ext>
            </a:extLst>
          </p:cNvPr>
          <p:cNvSpPr txBox="1"/>
          <p:nvPr/>
        </p:nvSpPr>
        <p:spPr>
          <a:xfrm>
            <a:off x="2252137" y="4850320"/>
            <a:ext cx="1921884" cy="21361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dirty="0">
                <a:solidFill>
                  <a:srgbClr val="005088"/>
                </a:solidFill>
                <a:latin typeface="Noto Sans JP"/>
                <a:ea typeface="Noto Sans JP"/>
                <a:cs typeface="Noto Sans JP"/>
                <a:sym typeface="Noto Sans JP"/>
              </a:rPr>
              <a:t>面取</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：13</a:t>
            </a:r>
            <a:r>
              <a:rPr lang="en-US" altLang="ja-JP" b="1" dirty="0">
                <a:solidFill>
                  <a:srgbClr val="005088"/>
                </a:solidFill>
                <a:latin typeface="Noto Sans JP"/>
                <a:ea typeface="Noto Sans JP"/>
                <a:cs typeface="Noto Sans JP"/>
                <a:sym typeface="Noto Sans JP"/>
              </a:rPr>
              <a:t>6</a:t>
            </a:r>
            <a:r>
              <a:rPr lang="en-US" b="1" i="0" u="none" strike="noStrike" cap="none" dirty="0">
                <a:solidFill>
                  <a:srgbClr val="005088"/>
                </a:solidFill>
                <a:latin typeface="Noto Sans JP"/>
                <a:ea typeface="Noto Sans JP"/>
                <a:cs typeface="Noto Sans JP"/>
                <a:sym typeface="Noto Sans JP"/>
              </a:rPr>
              <a:t>%）</a:t>
            </a:r>
            <a:endParaRPr dirty="0"/>
          </a:p>
        </p:txBody>
      </p:sp>
      <p:sp>
        <p:nvSpPr>
          <p:cNvPr id="19" name="Google Shape;182;p20">
            <a:extLst>
              <a:ext uri="{FF2B5EF4-FFF2-40B4-BE49-F238E27FC236}">
                <a16:creationId xmlns:a16="http://schemas.microsoft.com/office/drawing/2014/main" id="{F51B7204-822D-3827-D989-6AF525C16FEA}"/>
              </a:ext>
            </a:extLst>
          </p:cNvPr>
          <p:cNvSpPr txBox="1"/>
          <p:nvPr/>
        </p:nvSpPr>
        <p:spPr>
          <a:xfrm>
            <a:off x="2281995" y="5100918"/>
            <a:ext cx="169870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dirty="0">
                <a:solidFill>
                  <a:srgbClr val="FF0000"/>
                </a:solidFill>
                <a:latin typeface="Noto Sans JP"/>
                <a:ea typeface="Noto Sans JP"/>
                <a:cs typeface="Noto Sans JP"/>
                <a:sym typeface="Noto Sans JP"/>
              </a:rPr>
              <a:t>27.5</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21" name="Google Shape;188;p20">
            <a:extLst>
              <a:ext uri="{FF2B5EF4-FFF2-40B4-BE49-F238E27FC236}">
                <a16:creationId xmlns:a16="http://schemas.microsoft.com/office/drawing/2014/main" id="{09775281-67C2-477F-DD58-5A237977A178}"/>
              </a:ext>
            </a:extLst>
          </p:cNvPr>
          <p:cNvSpPr txBox="1"/>
          <p:nvPr/>
        </p:nvSpPr>
        <p:spPr>
          <a:xfrm>
            <a:off x="2249047" y="5647061"/>
            <a:ext cx="1731651"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en-US" sz="1050" b="0" i="0" u="none" strike="noStrike" cap="none" dirty="0">
                <a:solidFill>
                  <a:srgbClr val="475569"/>
                </a:solidFill>
                <a:latin typeface="Noto Sans JP"/>
                <a:ea typeface="Noto Sans JP"/>
                <a:cs typeface="Noto Sans JP"/>
                <a:sym typeface="Noto Sans JP"/>
              </a:rPr>
              <a:t>毎週土曜日を稼働、日稼働を</a:t>
            </a:r>
            <a:r>
              <a:rPr lang="en-US" sz="1050" b="1" i="0" u="none" strike="noStrike" cap="none" dirty="0">
                <a:solidFill>
                  <a:srgbClr val="FF0000"/>
                </a:solidFill>
                <a:latin typeface="Noto Sans JP"/>
                <a:ea typeface="Noto Sans JP"/>
                <a:cs typeface="Noto Sans JP"/>
                <a:sym typeface="Noto Sans JP"/>
              </a:rPr>
              <a:t>2</a:t>
            </a:r>
            <a:r>
              <a:rPr lang="en-US" altLang="ja-JP" sz="1050" b="1" i="0" u="none" strike="noStrike" cap="none" dirty="0">
                <a:solidFill>
                  <a:srgbClr val="FF0000"/>
                </a:solidFill>
                <a:latin typeface="Noto Sans JP"/>
                <a:ea typeface="Noto Sans JP"/>
                <a:cs typeface="Noto Sans JP"/>
                <a:sym typeface="Noto Sans JP"/>
              </a:rPr>
              <a:t>0.7</a:t>
            </a:r>
            <a:r>
              <a:rPr lang="en-US" altLang="ja-JP" sz="1050" b="1" dirty="0">
                <a:solidFill>
                  <a:srgbClr val="FF0000"/>
                </a:solidFill>
                <a:latin typeface="Noto Sans JP"/>
                <a:ea typeface="Noto Sans JP"/>
                <a:cs typeface="Noto Sans JP"/>
                <a:sym typeface="Noto Sans JP"/>
              </a:rPr>
              <a:t>H</a:t>
            </a:r>
            <a:r>
              <a:rPr lang="ja-JP" altLang="en-US" sz="1050" dirty="0">
                <a:solidFill>
                  <a:srgbClr val="475569"/>
                </a:solidFill>
                <a:latin typeface="Noto Sans JP"/>
                <a:ea typeface="Noto Sans JP"/>
                <a:cs typeface="Noto Sans JP"/>
                <a:sym typeface="Noto Sans JP"/>
              </a:rPr>
              <a:t>体制</a:t>
            </a:r>
            <a:endParaRPr dirty="0"/>
          </a:p>
        </p:txBody>
      </p:sp>
      <p:pic>
        <p:nvPicPr>
          <p:cNvPr id="23" name="Google Shape;178;p20" descr="image.png">
            <a:extLst>
              <a:ext uri="{FF2B5EF4-FFF2-40B4-BE49-F238E27FC236}">
                <a16:creationId xmlns:a16="http://schemas.microsoft.com/office/drawing/2014/main" id="{681215E9-C7E5-BEEC-63F2-280AE74EB27C}"/>
              </a:ext>
            </a:extLst>
          </p:cNvPr>
          <p:cNvPicPr preferRelativeResize="0"/>
          <p:nvPr/>
        </p:nvPicPr>
        <p:blipFill rotWithShape="1">
          <a:blip r:embed="rId8">
            <a:alphaModFix/>
            <a:extLst>
              <a:ext uri="{BEBA8EAE-BF5A-486C-A8C5-ECC9F3942E4B}">
                <a14:imgProps xmlns:a14="http://schemas.microsoft.com/office/drawing/2010/main">
                  <a14:imgLayer r:embed="rId7">
                    <a14:imgEffect>
                      <a14:colorTemperature colorTemp="11200"/>
                    </a14:imgEffect>
                  </a14:imgLayer>
                </a14:imgProps>
              </a:ext>
            </a:extLst>
          </a:blip>
          <a:srcRect/>
          <a:stretch/>
        </p:blipFill>
        <p:spPr>
          <a:xfrm>
            <a:off x="4182367" y="4693889"/>
            <a:ext cx="1882218" cy="1923603"/>
          </a:xfrm>
          <a:prstGeom prst="rect">
            <a:avLst/>
          </a:prstGeom>
          <a:noFill/>
          <a:ln>
            <a:noFill/>
          </a:ln>
        </p:spPr>
      </p:pic>
      <p:sp>
        <p:nvSpPr>
          <p:cNvPr id="25" name="Google Shape;181;p20">
            <a:extLst>
              <a:ext uri="{FF2B5EF4-FFF2-40B4-BE49-F238E27FC236}">
                <a16:creationId xmlns:a16="http://schemas.microsoft.com/office/drawing/2014/main" id="{4FF0B541-CB05-60D8-2C89-7930796CACDE}"/>
              </a:ext>
            </a:extLst>
          </p:cNvPr>
          <p:cNvSpPr txBox="1"/>
          <p:nvPr/>
        </p:nvSpPr>
        <p:spPr>
          <a:xfrm>
            <a:off x="4221763" y="4850320"/>
            <a:ext cx="1912077"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成型</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113</a:t>
            </a:r>
            <a:r>
              <a:rPr lang="en-US" b="1" i="0" u="none" strike="noStrike" cap="none" dirty="0">
                <a:solidFill>
                  <a:srgbClr val="005088"/>
                </a:solidFill>
                <a:latin typeface="Noto Sans JP"/>
                <a:ea typeface="Noto Sans JP"/>
                <a:cs typeface="Noto Sans JP"/>
                <a:sym typeface="Noto Sans JP"/>
              </a:rPr>
              <a:t>%）</a:t>
            </a:r>
            <a:endParaRPr dirty="0"/>
          </a:p>
        </p:txBody>
      </p:sp>
      <p:sp>
        <p:nvSpPr>
          <p:cNvPr id="27" name="Google Shape;182;p20">
            <a:extLst>
              <a:ext uri="{FF2B5EF4-FFF2-40B4-BE49-F238E27FC236}">
                <a16:creationId xmlns:a16="http://schemas.microsoft.com/office/drawing/2014/main" id="{83C2DC86-A2A1-8C93-135F-AC09A5C29FE5}"/>
              </a:ext>
            </a:extLst>
          </p:cNvPr>
          <p:cNvSpPr txBox="1"/>
          <p:nvPr/>
        </p:nvSpPr>
        <p:spPr>
          <a:xfrm>
            <a:off x="4251622" y="5110442"/>
            <a:ext cx="1680549"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51.0</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29" name="Google Shape;188;p20">
            <a:extLst>
              <a:ext uri="{FF2B5EF4-FFF2-40B4-BE49-F238E27FC236}">
                <a16:creationId xmlns:a16="http://schemas.microsoft.com/office/drawing/2014/main" id="{9C839361-B099-0661-A32A-7710598EF26D}"/>
              </a:ext>
            </a:extLst>
          </p:cNvPr>
          <p:cNvSpPr txBox="1"/>
          <p:nvPr/>
        </p:nvSpPr>
        <p:spPr>
          <a:xfrm>
            <a:off x="4218674" y="5660167"/>
            <a:ext cx="1776656" cy="775597"/>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「特定</a:t>
            </a:r>
            <a:r>
              <a:rPr lang="en-US" altLang="ja-JP" sz="1050" b="0" i="0" u="none" strike="noStrike" cap="none" dirty="0">
                <a:solidFill>
                  <a:srgbClr val="475569"/>
                </a:solidFill>
                <a:latin typeface="Noto Sans JP"/>
                <a:ea typeface="Noto Sans JP"/>
                <a:cs typeface="Noto Sans JP"/>
                <a:sym typeface="Noto Sans JP"/>
              </a:rPr>
              <a:t>10</a:t>
            </a:r>
            <a:r>
              <a:rPr lang="ja-JP" altLang="en-US" sz="1050" b="0" i="0" u="none" strike="noStrike" cap="none" dirty="0">
                <a:solidFill>
                  <a:srgbClr val="475569"/>
                </a:solidFill>
                <a:latin typeface="Noto Sans JP"/>
                <a:ea typeface="Noto Sans JP"/>
                <a:cs typeface="Noto Sans JP"/>
                <a:sym typeface="Noto Sans JP"/>
              </a:rPr>
              <a:t>ライン」を対象に残業運用。日稼働</a:t>
            </a:r>
            <a:r>
              <a:rPr lang="en-US" altLang="ja-JP" sz="1050" b="1" i="0" u="none" strike="noStrike" cap="none" dirty="0">
                <a:solidFill>
                  <a:srgbClr val="FF0000"/>
                </a:solidFill>
                <a:latin typeface="Noto Sans JP"/>
                <a:ea typeface="Noto Sans JP"/>
                <a:cs typeface="Noto Sans JP"/>
                <a:sym typeface="Noto Sans JP"/>
              </a:rPr>
              <a:t>18.0H</a:t>
            </a:r>
            <a:r>
              <a:rPr lang="ja-JP" altLang="en-US" sz="1050" b="0" i="0" u="none" strike="noStrike" cap="none" dirty="0">
                <a:solidFill>
                  <a:srgbClr val="475569"/>
                </a:solidFill>
                <a:latin typeface="Noto Sans JP"/>
                <a:ea typeface="Noto Sans JP"/>
                <a:cs typeface="Noto Sans JP"/>
                <a:sym typeface="Noto Sans JP"/>
              </a:rPr>
              <a:t>体制</a:t>
            </a:r>
            <a:endParaRPr dirty="0"/>
          </a:p>
        </p:txBody>
      </p:sp>
      <p:pic>
        <p:nvPicPr>
          <p:cNvPr id="31" name="Google Shape;178;p20" descr="image.png">
            <a:extLst>
              <a:ext uri="{FF2B5EF4-FFF2-40B4-BE49-F238E27FC236}">
                <a16:creationId xmlns:a16="http://schemas.microsoft.com/office/drawing/2014/main" id="{121AF811-04AD-7383-39C2-AEBB35E609F1}"/>
              </a:ext>
            </a:extLst>
          </p:cNvPr>
          <p:cNvPicPr preferRelativeResize="0"/>
          <p:nvPr/>
        </p:nvPicPr>
        <p:blipFill rotWithShape="1">
          <a:blip r:embed="rId9">
            <a:alphaModFix/>
            <a:extLst>
              <a:ext uri="{BEBA8EAE-BF5A-486C-A8C5-ECC9F3942E4B}">
                <a14:imgProps xmlns:a14="http://schemas.microsoft.com/office/drawing/2010/main">
                  <a14:imgLayer r:embed="rId7">
                    <a14:imgEffect>
                      <a14:colorTemperature colorTemp="7200"/>
                    </a14:imgEffect>
                  </a14:imgLayer>
                </a14:imgProps>
              </a:ext>
            </a:extLst>
          </a:blip>
          <a:srcRect/>
          <a:stretch/>
        </p:blipFill>
        <p:spPr>
          <a:xfrm>
            <a:off x="6133840" y="4693889"/>
            <a:ext cx="1900373" cy="1923603"/>
          </a:xfrm>
          <a:prstGeom prst="rect">
            <a:avLst/>
          </a:prstGeom>
          <a:noFill/>
          <a:ln>
            <a:noFill/>
          </a:ln>
        </p:spPr>
      </p:pic>
      <p:sp>
        <p:nvSpPr>
          <p:cNvPr id="33" name="Google Shape;181;p20">
            <a:extLst>
              <a:ext uri="{FF2B5EF4-FFF2-40B4-BE49-F238E27FC236}">
                <a16:creationId xmlns:a16="http://schemas.microsoft.com/office/drawing/2014/main" id="{9B892C00-3988-4281-F599-CDB846DFE5DF}"/>
              </a:ext>
            </a:extLst>
          </p:cNvPr>
          <p:cNvSpPr txBox="1"/>
          <p:nvPr/>
        </p:nvSpPr>
        <p:spPr>
          <a:xfrm>
            <a:off x="6173238" y="4863785"/>
            <a:ext cx="1969626" cy="20005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sz="1300" b="1" i="0" u="none" strike="noStrike" cap="none" dirty="0">
                <a:solidFill>
                  <a:srgbClr val="005088"/>
                </a:solidFill>
                <a:latin typeface="Noto Sans JP"/>
                <a:ea typeface="Noto Sans JP"/>
                <a:cs typeface="Noto Sans JP"/>
                <a:sym typeface="Noto Sans JP"/>
              </a:rPr>
              <a:t>メッキ</a:t>
            </a:r>
            <a:r>
              <a:rPr lang="en-US" sz="1300" b="1" i="0" u="none" strike="noStrike" cap="none" dirty="0">
                <a:solidFill>
                  <a:srgbClr val="005088"/>
                </a:solidFill>
                <a:latin typeface="Noto Sans JP"/>
                <a:ea typeface="Noto Sans JP"/>
                <a:cs typeface="Noto Sans JP"/>
                <a:sym typeface="Noto Sans JP"/>
              </a:rPr>
              <a:t>（</a:t>
            </a:r>
            <a:r>
              <a:rPr lang="ja-JP" altLang="en-US" sz="1300" b="1" i="0" u="none" strike="noStrike" cap="none" dirty="0">
                <a:solidFill>
                  <a:srgbClr val="005088"/>
                </a:solidFill>
                <a:latin typeface="Noto Sans JP"/>
                <a:ea typeface="Noto Sans JP"/>
                <a:cs typeface="Noto Sans JP"/>
                <a:sym typeface="Noto Sans JP"/>
              </a:rPr>
              <a:t>負荷率</a:t>
            </a:r>
            <a:r>
              <a:rPr lang="en-US" sz="1300" b="1" i="0" u="none" strike="noStrike" cap="none" dirty="0">
                <a:solidFill>
                  <a:srgbClr val="005088"/>
                </a:solidFill>
                <a:latin typeface="Noto Sans JP"/>
                <a:ea typeface="Noto Sans JP"/>
                <a:cs typeface="Noto Sans JP"/>
                <a:sym typeface="Noto Sans JP"/>
              </a:rPr>
              <a:t>：</a:t>
            </a:r>
            <a:r>
              <a:rPr lang="en-US" altLang="ja-JP" sz="1300" b="1" dirty="0">
                <a:solidFill>
                  <a:srgbClr val="005088"/>
                </a:solidFill>
                <a:latin typeface="Noto Sans JP"/>
                <a:ea typeface="Noto Sans JP"/>
                <a:cs typeface="Noto Sans JP"/>
                <a:sym typeface="Noto Sans JP"/>
              </a:rPr>
              <a:t>105</a:t>
            </a:r>
            <a:r>
              <a:rPr lang="en-US" sz="1300" b="1" i="0" u="none" strike="noStrike" cap="none" dirty="0">
                <a:solidFill>
                  <a:srgbClr val="005088"/>
                </a:solidFill>
                <a:latin typeface="Noto Sans JP"/>
                <a:ea typeface="Noto Sans JP"/>
                <a:cs typeface="Noto Sans JP"/>
                <a:sym typeface="Noto Sans JP"/>
              </a:rPr>
              <a:t>%）</a:t>
            </a:r>
            <a:endParaRPr sz="1300" dirty="0"/>
          </a:p>
        </p:txBody>
      </p:sp>
      <p:sp>
        <p:nvSpPr>
          <p:cNvPr id="35" name="Google Shape;182;p20">
            <a:extLst>
              <a:ext uri="{FF2B5EF4-FFF2-40B4-BE49-F238E27FC236}">
                <a16:creationId xmlns:a16="http://schemas.microsoft.com/office/drawing/2014/main" id="{A9B437B1-B62A-14B7-3073-0EBD8E5C3E43}"/>
              </a:ext>
            </a:extLst>
          </p:cNvPr>
          <p:cNvSpPr txBox="1"/>
          <p:nvPr/>
        </p:nvSpPr>
        <p:spPr>
          <a:xfrm>
            <a:off x="6203096" y="5110442"/>
            <a:ext cx="169870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36.9</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37" name="Google Shape;188;p20">
            <a:extLst>
              <a:ext uri="{FF2B5EF4-FFF2-40B4-BE49-F238E27FC236}">
                <a16:creationId xmlns:a16="http://schemas.microsoft.com/office/drawing/2014/main" id="{8A9370CF-7A5A-202E-35CF-7F13654248F1}"/>
              </a:ext>
            </a:extLst>
          </p:cNvPr>
          <p:cNvSpPr txBox="1"/>
          <p:nvPr/>
        </p:nvSpPr>
        <p:spPr>
          <a:xfrm>
            <a:off x="6148635" y="5672185"/>
            <a:ext cx="1830647"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休日出勤を</a:t>
            </a:r>
            <a:r>
              <a:rPr lang="en-US" altLang="ja-JP" sz="1050" b="1" i="0" u="none" strike="noStrike" cap="none" dirty="0">
                <a:solidFill>
                  <a:srgbClr val="FF0000"/>
                </a:solidFill>
                <a:latin typeface="Noto Sans JP"/>
                <a:ea typeface="Noto Sans JP"/>
                <a:cs typeface="Noto Sans JP"/>
                <a:sym typeface="Noto Sans JP"/>
              </a:rPr>
              <a:t>1</a:t>
            </a:r>
            <a:r>
              <a:rPr lang="ja-JP" altLang="en-US" sz="1050" b="1" i="0" u="none" strike="noStrike" cap="none" dirty="0">
                <a:solidFill>
                  <a:srgbClr val="FF0000"/>
                </a:solidFill>
                <a:latin typeface="Noto Sans JP"/>
                <a:ea typeface="Noto Sans JP"/>
                <a:cs typeface="Noto Sans JP"/>
                <a:sym typeface="Noto Sans JP"/>
              </a:rPr>
              <a:t>日</a:t>
            </a:r>
            <a:r>
              <a:rPr lang="ja-JP" altLang="en-US" sz="1050" b="0" i="0" u="none" strike="noStrike" cap="none" dirty="0">
                <a:solidFill>
                  <a:srgbClr val="475569"/>
                </a:solidFill>
                <a:latin typeface="Noto Sans JP"/>
                <a:ea typeface="Noto Sans JP"/>
                <a:cs typeface="Noto Sans JP"/>
                <a:sym typeface="Noto Sans JP"/>
              </a:rPr>
              <a:t>追加、突発停止をゼロに。</a:t>
            </a:r>
            <a:endParaRPr dirty="0"/>
          </a:p>
        </p:txBody>
      </p:sp>
      <p:pic>
        <p:nvPicPr>
          <p:cNvPr id="39" name="Google Shape;178;p20" descr="image.png">
            <a:extLst>
              <a:ext uri="{FF2B5EF4-FFF2-40B4-BE49-F238E27FC236}">
                <a16:creationId xmlns:a16="http://schemas.microsoft.com/office/drawing/2014/main" id="{24DD69EE-3737-199C-ACF6-541BE7EFEDFB}"/>
              </a:ext>
            </a:extLst>
          </p:cNvPr>
          <p:cNvPicPr preferRelativeResize="0"/>
          <p:nvPr/>
        </p:nvPicPr>
        <p:blipFill rotWithShape="1">
          <a:blip r:embed="rId6">
            <a:alphaModFix/>
            <a:duotone>
              <a:prstClr val="black"/>
              <a:schemeClr val="accent3">
                <a:tint val="45000"/>
                <a:satMod val="400000"/>
              </a:schemeClr>
            </a:duotone>
            <a:extLst>
              <a:ext uri="{BEBA8EAE-BF5A-486C-A8C5-ECC9F3942E4B}">
                <a14:imgProps xmlns:a14="http://schemas.microsoft.com/office/drawing/2010/main">
                  <a14:imgLayer r:embed="rId7">
                    <a14:imgEffect>
                      <a14:colorTemperature colorTemp="8800"/>
                    </a14:imgEffect>
                  </a14:imgLayer>
                </a14:imgProps>
              </a:ext>
            </a:extLst>
          </a:blip>
          <a:srcRect/>
          <a:stretch/>
        </p:blipFill>
        <p:spPr>
          <a:xfrm>
            <a:off x="8103468" y="4693889"/>
            <a:ext cx="1900372" cy="1923603"/>
          </a:xfrm>
          <a:prstGeom prst="rect">
            <a:avLst/>
          </a:prstGeom>
          <a:noFill/>
          <a:ln>
            <a:noFill/>
          </a:ln>
        </p:spPr>
      </p:pic>
      <p:sp>
        <p:nvSpPr>
          <p:cNvPr id="41" name="Google Shape;181;p20">
            <a:extLst>
              <a:ext uri="{FF2B5EF4-FFF2-40B4-BE49-F238E27FC236}">
                <a16:creationId xmlns:a16="http://schemas.microsoft.com/office/drawing/2014/main" id="{405C2B27-1248-6FCA-6C6D-D98D47AD384D}"/>
              </a:ext>
            </a:extLst>
          </p:cNvPr>
          <p:cNvSpPr txBox="1"/>
          <p:nvPr/>
        </p:nvSpPr>
        <p:spPr>
          <a:xfrm>
            <a:off x="8142864" y="4845558"/>
            <a:ext cx="1930231"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検査</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104</a:t>
            </a:r>
            <a:r>
              <a:rPr lang="en-US" b="1" i="0" u="none" strike="noStrike" cap="none" dirty="0">
                <a:solidFill>
                  <a:srgbClr val="005088"/>
                </a:solidFill>
                <a:latin typeface="Noto Sans JP"/>
                <a:ea typeface="Noto Sans JP"/>
                <a:cs typeface="Noto Sans JP"/>
                <a:sym typeface="Noto Sans JP"/>
              </a:rPr>
              <a:t>%）</a:t>
            </a:r>
            <a:endParaRPr dirty="0"/>
          </a:p>
        </p:txBody>
      </p:sp>
      <p:sp>
        <p:nvSpPr>
          <p:cNvPr id="43" name="Google Shape;182;p20">
            <a:extLst>
              <a:ext uri="{FF2B5EF4-FFF2-40B4-BE49-F238E27FC236}">
                <a16:creationId xmlns:a16="http://schemas.microsoft.com/office/drawing/2014/main" id="{E8C9EC48-B062-C8EF-0319-9A37DDDF7CCE}"/>
              </a:ext>
            </a:extLst>
          </p:cNvPr>
          <p:cNvSpPr txBox="1"/>
          <p:nvPr/>
        </p:nvSpPr>
        <p:spPr>
          <a:xfrm>
            <a:off x="8172723" y="5110442"/>
            <a:ext cx="162882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47.2</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45" name="Google Shape;188;p20">
            <a:extLst>
              <a:ext uri="{FF2B5EF4-FFF2-40B4-BE49-F238E27FC236}">
                <a16:creationId xmlns:a16="http://schemas.microsoft.com/office/drawing/2014/main" id="{068CDBC2-AD6A-B800-9C3C-E4450747B618}"/>
              </a:ext>
            </a:extLst>
          </p:cNvPr>
          <p:cNvSpPr txBox="1"/>
          <p:nvPr/>
        </p:nvSpPr>
        <p:spPr>
          <a:xfrm>
            <a:off x="8180951" y="5672185"/>
            <a:ext cx="1822889"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人員</a:t>
            </a:r>
            <a:r>
              <a:rPr lang="en-US" altLang="ja-JP" sz="1050" b="0" i="0" u="none" strike="noStrike" cap="none" dirty="0">
                <a:solidFill>
                  <a:srgbClr val="FF0000"/>
                </a:solidFill>
                <a:latin typeface="Noto Sans JP"/>
                <a:ea typeface="Noto Sans JP"/>
                <a:cs typeface="Noto Sans JP"/>
                <a:sym typeface="Noto Sans JP"/>
              </a:rPr>
              <a:t>11</a:t>
            </a:r>
            <a:r>
              <a:rPr lang="ja-JP" altLang="en-US" sz="1050" b="0" i="0" u="none" strike="noStrike" cap="none" dirty="0">
                <a:solidFill>
                  <a:srgbClr val="FF0000"/>
                </a:solidFill>
                <a:latin typeface="Noto Sans JP"/>
                <a:ea typeface="Noto Sans JP"/>
                <a:cs typeface="Noto Sans JP"/>
                <a:sym typeface="Noto Sans JP"/>
              </a:rPr>
              <a:t>名</a:t>
            </a:r>
            <a:r>
              <a:rPr lang="ja-JP" altLang="en-US" sz="1050" b="0" i="0" u="none" strike="noStrike" cap="none" dirty="0">
                <a:solidFill>
                  <a:srgbClr val="475569"/>
                </a:solidFill>
                <a:latin typeface="Noto Sans JP"/>
                <a:ea typeface="Noto Sans JP"/>
                <a:cs typeface="Noto Sans JP"/>
                <a:sym typeface="Noto Sans JP"/>
              </a:rPr>
              <a:t>の定時稼働内（日均</a:t>
            </a:r>
            <a:r>
              <a:rPr lang="en-US" altLang="ja-JP" sz="1050" b="1" i="0" u="none" strike="noStrike" cap="none" dirty="0">
                <a:solidFill>
                  <a:srgbClr val="FF0000"/>
                </a:solidFill>
                <a:latin typeface="Noto Sans JP"/>
                <a:ea typeface="Noto Sans JP"/>
                <a:cs typeface="Noto Sans JP"/>
                <a:sym typeface="Noto Sans JP"/>
              </a:rPr>
              <a:t>7.9H</a:t>
            </a:r>
            <a:r>
              <a:rPr lang="ja-JP" altLang="en-US" sz="1050" b="0" i="0" u="none" strike="noStrike" cap="none" dirty="0">
                <a:solidFill>
                  <a:srgbClr val="475569"/>
                </a:solidFill>
                <a:latin typeface="Noto Sans JP"/>
                <a:ea typeface="Noto Sans JP"/>
                <a:cs typeface="Noto Sans JP"/>
                <a:sym typeface="Noto Sans JP"/>
              </a:rPr>
              <a:t>）で収まる計画。</a:t>
            </a:r>
            <a:endParaRPr dirty="0"/>
          </a:p>
        </p:txBody>
      </p:sp>
      <p:pic>
        <p:nvPicPr>
          <p:cNvPr id="47" name="Google Shape;178;p20" descr="image.png">
            <a:extLst>
              <a:ext uri="{FF2B5EF4-FFF2-40B4-BE49-F238E27FC236}">
                <a16:creationId xmlns:a16="http://schemas.microsoft.com/office/drawing/2014/main" id="{C3B8E57C-530F-7B42-B113-E89A79D74B1F}"/>
              </a:ext>
            </a:extLst>
          </p:cNvPr>
          <p:cNvPicPr preferRelativeResize="0"/>
          <p:nvPr/>
        </p:nvPicPr>
        <p:blipFill rotWithShape="1">
          <a:blip r:embed="rId8">
            <a:alphaModFix/>
            <a:duotone>
              <a:prstClr val="black"/>
              <a:schemeClr val="accent6">
                <a:tint val="45000"/>
                <a:satMod val="400000"/>
              </a:schemeClr>
            </a:duotone>
            <a:extLst>
              <a:ext uri="{BEBA8EAE-BF5A-486C-A8C5-ECC9F3942E4B}">
                <a14:imgProps xmlns:a14="http://schemas.microsoft.com/office/drawing/2010/main">
                  <a14:imgLayer r:embed="rId7">
                    <a14:imgEffect>
                      <a14:colorTemperature colorTemp="11200"/>
                    </a14:imgEffect>
                  </a14:imgLayer>
                </a14:imgProps>
              </a:ext>
            </a:extLst>
          </a:blip>
          <a:srcRect/>
          <a:stretch/>
        </p:blipFill>
        <p:spPr>
          <a:xfrm>
            <a:off x="10142350" y="4684365"/>
            <a:ext cx="1900372" cy="1923603"/>
          </a:xfrm>
          <a:prstGeom prst="rect">
            <a:avLst/>
          </a:prstGeom>
          <a:noFill/>
          <a:ln>
            <a:noFill/>
          </a:ln>
        </p:spPr>
      </p:pic>
      <p:sp>
        <p:nvSpPr>
          <p:cNvPr id="49" name="Google Shape;181;p20">
            <a:extLst>
              <a:ext uri="{FF2B5EF4-FFF2-40B4-BE49-F238E27FC236}">
                <a16:creationId xmlns:a16="http://schemas.microsoft.com/office/drawing/2014/main" id="{7F07838F-9709-8937-64CC-B07D5A564B03}"/>
              </a:ext>
            </a:extLst>
          </p:cNvPr>
          <p:cNvSpPr txBox="1"/>
          <p:nvPr/>
        </p:nvSpPr>
        <p:spPr>
          <a:xfrm>
            <a:off x="10181747" y="4844643"/>
            <a:ext cx="1959820"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溶接</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109</a:t>
            </a:r>
            <a:r>
              <a:rPr lang="en-US" b="1" i="0" u="none" strike="noStrike" cap="none" dirty="0">
                <a:solidFill>
                  <a:srgbClr val="005088"/>
                </a:solidFill>
                <a:latin typeface="Noto Sans JP"/>
                <a:ea typeface="Noto Sans JP"/>
                <a:cs typeface="Noto Sans JP"/>
                <a:sym typeface="Noto Sans JP"/>
              </a:rPr>
              <a:t>%）</a:t>
            </a:r>
            <a:endParaRPr dirty="0"/>
          </a:p>
        </p:txBody>
      </p:sp>
      <p:sp>
        <p:nvSpPr>
          <p:cNvPr id="51" name="Google Shape;182;p20">
            <a:extLst>
              <a:ext uri="{FF2B5EF4-FFF2-40B4-BE49-F238E27FC236}">
                <a16:creationId xmlns:a16="http://schemas.microsoft.com/office/drawing/2014/main" id="{A77D7519-EFF0-CD04-F35B-BF82987CC169}"/>
              </a:ext>
            </a:extLst>
          </p:cNvPr>
          <p:cNvSpPr txBox="1"/>
          <p:nvPr/>
        </p:nvSpPr>
        <p:spPr>
          <a:xfrm>
            <a:off x="10211605" y="5100918"/>
            <a:ext cx="1664036"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8</a:t>
            </a:r>
            <a:r>
              <a:rPr lang="en-US" altLang="ja-JP" sz="1050" b="1" dirty="0">
                <a:solidFill>
                  <a:srgbClr val="FF0000"/>
                </a:solidFill>
                <a:latin typeface="Noto Sans JP"/>
                <a:ea typeface="Noto Sans JP"/>
                <a:cs typeface="Noto Sans JP"/>
                <a:sym typeface="Noto Sans JP"/>
              </a:rPr>
              <a:t>.5</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53" name="Google Shape;188;p20">
            <a:extLst>
              <a:ext uri="{FF2B5EF4-FFF2-40B4-BE49-F238E27FC236}">
                <a16:creationId xmlns:a16="http://schemas.microsoft.com/office/drawing/2014/main" id="{9C825740-6A2B-C0B1-0C62-FFBAFB499CB5}"/>
              </a:ext>
            </a:extLst>
          </p:cNvPr>
          <p:cNvSpPr txBox="1"/>
          <p:nvPr/>
        </p:nvSpPr>
        <p:spPr>
          <a:xfrm>
            <a:off x="10181746" y="5682811"/>
            <a:ext cx="1821310" cy="775597"/>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高負荷な溶接</a:t>
            </a:r>
            <a:r>
              <a:rPr lang="en-US" altLang="ja-JP" sz="1050" b="0" i="0" u="none" strike="noStrike" cap="none" dirty="0">
                <a:solidFill>
                  <a:srgbClr val="475569"/>
                </a:solidFill>
                <a:latin typeface="Noto Sans JP"/>
                <a:ea typeface="Noto Sans JP"/>
                <a:cs typeface="Noto Sans JP"/>
                <a:sym typeface="Noto Sans JP"/>
              </a:rPr>
              <a:t>SP</a:t>
            </a:r>
            <a:r>
              <a:rPr lang="ja-JP" altLang="en-US" sz="1050" b="0" i="0" u="none" strike="noStrike" cap="none" dirty="0">
                <a:solidFill>
                  <a:srgbClr val="475569"/>
                </a:solidFill>
                <a:latin typeface="Noto Sans JP"/>
                <a:ea typeface="Noto Sans JP"/>
                <a:cs typeface="Noto Sans JP"/>
                <a:sym typeface="Noto Sans JP"/>
              </a:rPr>
              <a:t>へのマルチタスク応援要員としての配置</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
        <p:cNvGrpSpPr/>
        <p:nvPr/>
      </p:nvGrpSpPr>
      <p:grpSpPr>
        <a:xfrm>
          <a:off x="0" y="0"/>
          <a:ext cx="0" cy="0"/>
          <a:chOff x="0" y="0"/>
          <a:chExt cx="0" cy="0"/>
        </a:xfrm>
      </p:grpSpPr>
      <p:pic>
        <p:nvPicPr>
          <p:cNvPr id="202" name="Google Shape;202;p21" descr="image.png"/>
          <p:cNvPicPr preferRelativeResize="0"/>
          <p:nvPr/>
        </p:nvPicPr>
        <p:blipFill rotWithShape="1">
          <a:blip r:embed="rId4">
            <a:alphaModFix/>
          </a:blip>
          <a:srcRect/>
          <a:stretch/>
        </p:blipFill>
        <p:spPr>
          <a:xfrm>
            <a:off x="0" y="0"/>
            <a:ext cx="12192000" cy="6858000"/>
          </a:xfrm>
          <a:prstGeom prst="rect">
            <a:avLst/>
          </a:prstGeom>
          <a:noFill/>
          <a:ln>
            <a:noFill/>
          </a:ln>
        </p:spPr>
      </p:pic>
      <p:pic>
        <p:nvPicPr>
          <p:cNvPr id="203" name="Google Shape;203;p21" descr="image.png"/>
          <p:cNvPicPr preferRelativeResize="0"/>
          <p:nvPr/>
        </p:nvPicPr>
        <p:blipFill rotWithShape="1">
          <a:blip r:embed="rId5">
            <a:alphaModFix/>
          </a:blip>
          <a:srcRect/>
          <a:stretch/>
        </p:blipFill>
        <p:spPr>
          <a:xfrm>
            <a:off x="609600" y="1417290"/>
            <a:ext cx="10972800" cy="2400300"/>
          </a:xfrm>
          <a:prstGeom prst="rect">
            <a:avLst/>
          </a:prstGeom>
          <a:noFill/>
          <a:ln>
            <a:noFill/>
          </a:ln>
        </p:spPr>
      </p:pic>
      <p:sp>
        <p:nvSpPr>
          <p:cNvPr id="204" name="Google Shape;204;p21"/>
          <p:cNvSpPr txBox="1"/>
          <p:nvPr/>
        </p:nvSpPr>
        <p:spPr>
          <a:xfrm>
            <a:off x="762000" y="1099473"/>
            <a:ext cx="93233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005088"/>
                </a:solidFill>
                <a:latin typeface="Noto Sans JP"/>
                <a:ea typeface="Noto Sans JP"/>
                <a:cs typeface="Noto Sans JP"/>
                <a:sym typeface="Noto Sans JP"/>
              </a:rPr>
              <a:t> 7月内示：1,168.7 千本 |  8月内示：873.7 千本</a:t>
            </a:r>
            <a:endParaRPr dirty="0"/>
          </a:p>
        </p:txBody>
      </p:sp>
      <p:graphicFrame>
        <p:nvGraphicFramePr>
          <p:cNvPr id="205" name="Google Shape;205;p21"/>
          <p:cNvGraphicFramePr/>
          <p:nvPr>
            <p:extLst>
              <p:ext uri="{D42A27DB-BD31-4B8C-83A1-F6EECF244321}">
                <p14:modId xmlns:p14="http://schemas.microsoft.com/office/powerpoint/2010/main" val="1434678350"/>
              </p:ext>
            </p:extLst>
          </p:nvPr>
        </p:nvGraphicFramePr>
        <p:xfrm>
          <a:off x="619125" y="1426814"/>
          <a:ext cx="10944225" cy="4265415"/>
        </p:xfrm>
        <a:graphic>
          <a:graphicData uri="http://schemas.openxmlformats.org/drawingml/2006/table">
            <a:tbl>
              <a:tblPr firstRow="1" bandRow="1">
                <a:noFill/>
                <a:tableStyleId>{6533D3A8-D3F5-4CE0-8612-AE69E67BF3B3}</a:tableStyleId>
              </a:tblPr>
              <a:tblGrid>
                <a:gridCol w="1030325">
                  <a:extLst>
                    <a:ext uri="{9D8B030D-6E8A-4147-A177-3AD203B41FA5}">
                      <a16:colId xmlns:a16="http://schemas.microsoft.com/office/drawing/2014/main" val="20000"/>
                    </a:ext>
                  </a:extLst>
                </a:gridCol>
                <a:gridCol w="1838025">
                  <a:extLst>
                    <a:ext uri="{9D8B030D-6E8A-4147-A177-3AD203B41FA5}">
                      <a16:colId xmlns:a16="http://schemas.microsoft.com/office/drawing/2014/main" val="20001"/>
                    </a:ext>
                  </a:extLst>
                </a:gridCol>
                <a:gridCol w="2417575">
                  <a:extLst>
                    <a:ext uri="{9D8B030D-6E8A-4147-A177-3AD203B41FA5}">
                      <a16:colId xmlns:a16="http://schemas.microsoft.com/office/drawing/2014/main" val="20002"/>
                    </a:ext>
                  </a:extLst>
                </a:gridCol>
                <a:gridCol w="1838025">
                  <a:extLst>
                    <a:ext uri="{9D8B030D-6E8A-4147-A177-3AD203B41FA5}">
                      <a16:colId xmlns:a16="http://schemas.microsoft.com/office/drawing/2014/main" val="20003"/>
                    </a:ext>
                  </a:extLst>
                </a:gridCol>
                <a:gridCol w="2417575">
                  <a:extLst>
                    <a:ext uri="{9D8B030D-6E8A-4147-A177-3AD203B41FA5}">
                      <a16:colId xmlns:a16="http://schemas.microsoft.com/office/drawing/2014/main" val="20004"/>
                    </a:ext>
                  </a:extLst>
                </a:gridCol>
                <a:gridCol w="1402700">
                  <a:extLst>
                    <a:ext uri="{9D8B030D-6E8A-4147-A177-3AD203B41FA5}">
                      <a16:colId xmlns:a16="http://schemas.microsoft.com/office/drawing/2014/main" val="20005"/>
                    </a:ext>
                  </a:extLst>
                </a:gridCol>
              </a:tblGrid>
              <a:tr h="609345">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工程名前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前月実績在庫高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前月実績在庫率 (在庫高÷内示)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当月予測在庫高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当月予測在庫率 (在庫高÷内示)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増減 (予測-前月)</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切断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143.9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143.2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△0.7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成型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156.1</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143.4</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△12.7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メッキ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191.9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0.17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196.8</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0.23</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b="1" i="0" u="none" dirty="0">
                          <a:solidFill>
                            <a:srgbClr val="10B981"/>
                          </a:solidFill>
                          <a:latin typeface="游ゴシック" panose="020B0400000000000000" pitchFamily="50" charset="-128"/>
                          <a:ea typeface="游ゴシック" panose="020B0400000000000000" pitchFamily="50" charset="-128"/>
                          <a:cs typeface="Roboto Mono"/>
                          <a:sym typeface="Roboto Mono"/>
                        </a:rPr>
                        <a:t>4.9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40.7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0.04</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50.2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0.06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400" b="1" i="0" u="none" dirty="0">
                          <a:solidFill>
                            <a:srgbClr val="10B981"/>
                          </a:solidFill>
                          <a:latin typeface="游ゴシック" panose="020B0400000000000000" pitchFamily="50" charset="-128"/>
                          <a:ea typeface="游ゴシック" panose="020B0400000000000000" pitchFamily="50" charset="-128"/>
                          <a:cs typeface="Roboto Mono"/>
                          <a:sym typeface="Roboto Mono"/>
                        </a:rPr>
                        <a:t>9.5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仕掛品合計</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532.6</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0.45</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538.8</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0.62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dirty="0">
                          <a:solidFill>
                            <a:srgbClr val="10B981"/>
                          </a:solidFill>
                          <a:latin typeface="游ゴシック" panose="020B0400000000000000" pitchFamily="50" charset="-128"/>
                          <a:ea typeface="游ゴシック" panose="020B0400000000000000" pitchFamily="50" charset="-128"/>
                          <a:cs typeface="Roboto Mono"/>
                          <a:sym typeface="Roboto Mono"/>
                        </a:rPr>
                        <a:t>6.2</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5"/>
                  </a:ext>
                </a:extLst>
              </a:tr>
              <a:tr h="609345">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製品</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444.7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0.39</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411.7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0.47</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tc>
                  <a:txBody>
                    <a:bodyPr/>
                    <a:lstStyle/>
                    <a:p>
                      <a:pPr marL="0" marR="0" lvl="0" indent="0" algn="ctr" rtl="0">
                        <a:spcBef>
                          <a:spcPts val="0"/>
                        </a:spcBef>
                        <a:spcAft>
                          <a:spcPts val="0"/>
                        </a:spcAft>
                        <a:buNone/>
                      </a:pPr>
                      <a:r>
                        <a:rPr lang="en-US" sz="1400" b="1" i="0" u="none" dirty="0">
                          <a:solidFill>
                            <a:srgbClr val="EF4444"/>
                          </a:solidFill>
                          <a:latin typeface="游ゴシック" panose="020B0400000000000000" pitchFamily="50" charset="-128"/>
                          <a:ea typeface="游ゴシック" panose="020B0400000000000000" pitchFamily="50" charset="-128"/>
                          <a:cs typeface="Roboto Mono"/>
                          <a:sym typeface="Roboto Mono"/>
                        </a:rPr>
                        <a:t>△33.0</a:t>
                      </a:r>
                      <a:endParaRPr sz="14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8F0"/>
                    </a:solidFill>
                  </a:tcPr>
                </a:tc>
                <a:extLst>
                  <a:ext uri="{0D108BD9-81ED-4DB2-BD59-A6C34878D82A}">
                    <a16:rowId xmlns:a16="http://schemas.microsoft.com/office/drawing/2014/main" val="10006"/>
                  </a:ext>
                </a:extLst>
              </a:tr>
            </a:tbl>
          </a:graphicData>
        </a:graphic>
      </p:graphicFrame>
      <p:sp>
        <p:nvSpPr>
          <p:cNvPr id="206" name="Google Shape;206;p21"/>
          <p:cNvSpPr txBox="1"/>
          <p:nvPr/>
        </p:nvSpPr>
        <p:spPr>
          <a:xfrm>
            <a:off x="809625" y="6023745"/>
            <a:ext cx="107823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特記事項：</a:t>
            </a:r>
            <a:r>
              <a:rPr lang="en-US" sz="1050" b="0" i="0" u="none" strike="noStrike" cap="none" dirty="0">
                <a:solidFill>
                  <a:srgbClr val="475569"/>
                </a:solidFill>
                <a:latin typeface="Noto Sans JP"/>
                <a:ea typeface="Noto Sans JP"/>
                <a:cs typeface="Noto Sans JP"/>
                <a:sym typeface="Noto Sans JP"/>
              </a:rPr>
              <a:t>8月内示が873.7千本と、7月比で </a:t>
            </a:r>
            <a:r>
              <a:rPr lang="en-US" sz="1050" b="1" i="0" u="none" strike="noStrike" cap="none" dirty="0">
                <a:solidFill>
                  <a:srgbClr val="475569"/>
                </a:solidFill>
                <a:latin typeface="Noto Sans JP"/>
                <a:ea typeface="Noto Sans JP"/>
                <a:cs typeface="Noto Sans JP"/>
                <a:sym typeface="Noto Sans JP"/>
              </a:rPr>
              <a:t>大幅に減少（約25%減）</a:t>
            </a:r>
            <a:r>
              <a:rPr lang="en-US" sz="1050" b="0" i="0" u="none" strike="noStrike" cap="none" dirty="0">
                <a:solidFill>
                  <a:srgbClr val="475569"/>
                </a:solidFill>
                <a:latin typeface="Noto Sans JP"/>
                <a:ea typeface="Noto Sans JP"/>
                <a:cs typeface="Noto Sans JP"/>
                <a:sym typeface="Noto Sans JP"/>
              </a:rPr>
              <a:t> します。</a:t>
            </a:r>
            <a:r>
              <a:rPr lang="ja-JP" altLang="en-US" sz="1050" b="0" i="0" u="none" strike="noStrike" cap="none" dirty="0">
                <a:solidFill>
                  <a:srgbClr val="475569"/>
                </a:solidFill>
                <a:latin typeface="Noto Sans JP"/>
                <a:ea typeface="Noto Sans JP"/>
                <a:cs typeface="Noto Sans JP"/>
                <a:sym typeface="Noto Sans JP"/>
              </a:rPr>
              <a:t>日当たり出荷数が</a:t>
            </a:r>
            <a:r>
              <a:rPr lang="en-US" altLang="ja-JP" sz="1050" b="1" i="0" u="none" strike="noStrike" cap="none" dirty="0">
                <a:solidFill>
                  <a:srgbClr val="475569"/>
                </a:solidFill>
                <a:latin typeface="Noto Sans JP"/>
                <a:ea typeface="Noto Sans JP"/>
                <a:cs typeface="Noto Sans JP"/>
                <a:sym typeface="Noto Sans JP"/>
              </a:rPr>
              <a:t>107</a:t>
            </a:r>
            <a:r>
              <a:rPr lang="ja-JP" altLang="en-US" sz="1050" b="1" i="0" u="none" strike="noStrike" cap="none" dirty="0">
                <a:solidFill>
                  <a:srgbClr val="475569"/>
                </a:solidFill>
                <a:latin typeface="Noto Sans JP"/>
                <a:ea typeface="Noto Sans JP"/>
                <a:cs typeface="Noto Sans JP"/>
                <a:sym typeface="Noto Sans JP"/>
              </a:rPr>
              <a:t>％</a:t>
            </a:r>
            <a:r>
              <a:rPr lang="ja-JP" altLang="en-US" sz="1050" b="0" i="0" u="none" strike="noStrike" cap="none" dirty="0">
                <a:solidFill>
                  <a:srgbClr val="475569"/>
                </a:solidFill>
                <a:latin typeface="Noto Sans JP"/>
                <a:ea typeface="Noto Sans JP"/>
                <a:cs typeface="Noto Sans JP"/>
                <a:sym typeface="Noto Sans JP"/>
              </a:rPr>
              <a:t>増加</a:t>
            </a:r>
            <a:endParaRPr dirty="0"/>
          </a:p>
        </p:txBody>
      </p:sp>
      <p:sp>
        <p:nvSpPr>
          <p:cNvPr id="207" name="Google Shape;207;p21"/>
          <p:cNvSpPr txBox="1"/>
          <p:nvPr/>
        </p:nvSpPr>
        <p:spPr>
          <a:xfrm>
            <a:off x="809625" y="6294165"/>
            <a:ext cx="107823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在庫への影響：</a:t>
            </a:r>
            <a:r>
              <a:rPr lang="en-US" sz="1050" b="0" i="0" u="none" strike="noStrike" cap="none" dirty="0">
                <a:solidFill>
                  <a:srgbClr val="475569"/>
                </a:solidFill>
                <a:latin typeface="Noto Sans JP"/>
                <a:ea typeface="Noto Sans JP"/>
                <a:cs typeface="Noto Sans JP"/>
                <a:sym typeface="Noto Sans JP"/>
              </a:rPr>
              <a:t>仕掛品合計はほぼ横ばい（+6.2千本）ですが、製品在庫は出荷変動を吸収するため </a:t>
            </a:r>
            <a:r>
              <a:rPr lang="en-US" sz="1050" b="1" i="0" u="none" strike="noStrike" cap="none" dirty="0">
                <a:solidFill>
                  <a:srgbClr val="475569"/>
                </a:solidFill>
                <a:latin typeface="Noto Sans JP"/>
                <a:ea typeface="Noto Sans JP"/>
                <a:cs typeface="Noto Sans JP"/>
                <a:sym typeface="Noto Sans JP"/>
              </a:rPr>
              <a:t>33.0千本</a:t>
            </a:r>
            <a:r>
              <a:rPr lang="ja-JP" altLang="en-US" sz="1050" b="1" i="0" u="none" strike="noStrike" cap="none" dirty="0">
                <a:solidFill>
                  <a:srgbClr val="475569"/>
                </a:solidFill>
                <a:latin typeface="Noto Sans JP"/>
                <a:ea typeface="Noto Sans JP"/>
                <a:cs typeface="Noto Sans JP"/>
                <a:sym typeface="Noto Sans JP"/>
              </a:rPr>
              <a:t>減少</a:t>
            </a:r>
            <a:r>
              <a:rPr lang="en-US" sz="1050" b="0" i="0" u="none" strike="noStrike" cap="none" dirty="0">
                <a:solidFill>
                  <a:srgbClr val="475569"/>
                </a:solidFill>
                <a:latin typeface="Noto Sans JP"/>
                <a:ea typeface="Noto Sans JP"/>
                <a:cs typeface="Noto Sans JP"/>
                <a:sym typeface="Noto Sans JP"/>
              </a:rPr>
              <a:t> する予測です。</a:t>
            </a:r>
            <a:endParaRPr dirty="0"/>
          </a:p>
        </p:txBody>
      </p:sp>
      <p:pic>
        <p:nvPicPr>
          <p:cNvPr id="208" name="Google Shape;208;p21" descr="image.png"/>
          <p:cNvPicPr preferRelativeResize="0"/>
          <p:nvPr/>
        </p:nvPicPr>
        <p:blipFill rotWithShape="1">
          <a:blip r:embed="rId6">
            <a:alphaModFix/>
          </a:blip>
          <a:srcRect/>
          <a:stretch/>
        </p:blipFill>
        <p:spPr>
          <a:xfrm>
            <a:off x="609600" y="1093440"/>
            <a:ext cx="103733" cy="133350"/>
          </a:xfrm>
          <a:prstGeom prst="rect">
            <a:avLst/>
          </a:prstGeom>
          <a:noFill/>
          <a:ln>
            <a:noFill/>
          </a:ln>
        </p:spPr>
      </p:pic>
      <p:sp>
        <p:nvSpPr>
          <p:cNvPr id="210" name="Google Shape;210;p21"/>
          <p:cNvSpPr txBox="1"/>
          <p:nvPr/>
        </p:nvSpPr>
        <p:spPr>
          <a:xfrm>
            <a:off x="619125" y="6042795"/>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211" name="Google Shape;211;p21"/>
          <p:cNvSpPr txBox="1"/>
          <p:nvPr/>
        </p:nvSpPr>
        <p:spPr>
          <a:xfrm>
            <a:off x="619125" y="6313215"/>
            <a:ext cx="66675" cy="171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825" b="0" i="0" u="none" strike="noStrike" cap="none" dirty="0">
                <a:solidFill>
                  <a:srgbClr val="005088"/>
                </a:solidFill>
                <a:latin typeface="Noto Sans JP"/>
                <a:ea typeface="Noto Sans JP"/>
                <a:cs typeface="Noto Sans JP"/>
                <a:sym typeface="Noto Sans JP"/>
              </a:rPr>
              <a:t>■</a:t>
            </a:r>
            <a:endParaRPr dirty="0"/>
          </a:p>
        </p:txBody>
      </p:sp>
      <p:sp>
        <p:nvSpPr>
          <p:cNvPr id="212" name="Google Shape;212;p21"/>
          <p:cNvSpPr txBox="1"/>
          <p:nvPr/>
        </p:nvSpPr>
        <p:spPr>
          <a:xfrm>
            <a:off x="762000" y="457200"/>
            <a:ext cx="11361420"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err="1">
                <a:solidFill>
                  <a:srgbClr val="0F172A"/>
                </a:solidFill>
                <a:latin typeface="Noto Sans JP"/>
                <a:ea typeface="Noto Sans JP"/>
                <a:cs typeface="Noto Sans JP"/>
                <a:sym typeface="Noto Sans JP"/>
              </a:rPr>
              <a:t>7月末時点の在庫予測</a:t>
            </a:r>
            <a:endParaRPr dirty="0"/>
          </a:p>
        </p:txBody>
      </p:sp>
      <p:sp>
        <p:nvSpPr>
          <p:cNvPr id="213" name="Google Shape;213;p21"/>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Tree>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7"/>
        <p:cNvGrpSpPr/>
        <p:nvPr/>
      </p:nvGrpSpPr>
      <p:grpSpPr>
        <a:xfrm>
          <a:off x="0" y="0"/>
          <a:ext cx="0" cy="0"/>
          <a:chOff x="0" y="0"/>
          <a:chExt cx="0" cy="0"/>
        </a:xfrm>
      </p:grpSpPr>
      <p:pic>
        <p:nvPicPr>
          <p:cNvPr id="218" name="Google Shape;218;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9" name="Google Shape;219;p22"/>
          <p:cNvSpPr/>
          <p:nvPr/>
        </p:nvSpPr>
        <p:spPr>
          <a:xfrm>
            <a:off x="5715000" y="2805112"/>
            <a:ext cx="762000" cy="3810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220" name="Google Shape;220;p22"/>
          <p:cNvSpPr txBox="1"/>
          <p:nvPr/>
        </p:nvSpPr>
        <p:spPr>
          <a:xfrm>
            <a:off x="3353000" y="3071812"/>
            <a:ext cx="5485998" cy="609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005088"/>
                </a:solidFill>
                <a:latin typeface="Noto Sans JP"/>
                <a:ea typeface="Noto Sans JP"/>
                <a:cs typeface="Noto Sans JP"/>
                <a:sym typeface="Noto Sans JP"/>
              </a:rPr>
              <a:t>PART 03. 8月度 生産計画</a:t>
            </a:r>
            <a:endParaRPr dirty="0"/>
          </a:p>
        </p:txBody>
      </p:sp>
      <p:sp>
        <p:nvSpPr>
          <p:cNvPr id="221" name="Google Shape;221;p22"/>
          <p:cNvSpPr txBox="1"/>
          <p:nvPr/>
        </p:nvSpPr>
        <p:spPr>
          <a:xfrm>
            <a:off x="3543185" y="3794596"/>
            <a:ext cx="5105628"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dirty="0">
                <a:solidFill>
                  <a:srgbClr val="64748B"/>
                </a:solidFill>
                <a:latin typeface="Noto Sans JP"/>
                <a:ea typeface="Noto Sans JP"/>
                <a:cs typeface="Noto Sans JP"/>
                <a:sym typeface="Noto Sans JP"/>
              </a:rPr>
              <a:t>稼働日17日の短縮影響と</a:t>
            </a:r>
            <a:r>
              <a:rPr lang="ja-JP" altLang="en-US" sz="1500" b="0" i="0" u="none" strike="noStrike" cap="none" dirty="0">
                <a:solidFill>
                  <a:srgbClr val="64748B"/>
                </a:solidFill>
                <a:latin typeface="Noto Sans JP"/>
                <a:ea typeface="Noto Sans JP"/>
                <a:cs typeface="Noto Sans JP"/>
                <a:sym typeface="Noto Sans JP"/>
              </a:rPr>
              <a:t>日当たり</a:t>
            </a:r>
            <a:r>
              <a:rPr lang="en-US" sz="1500" b="0" i="0" u="none" strike="noStrike" cap="none" dirty="0">
                <a:solidFill>
                  <a:srgbClr val="64748B"/>
                </a:solidFill>
                <a:latin typeface="Noto Sans JP"/>
                <a:ea typeface="Noto Sans JP"/>
                <a:cs typeface="Noto Sans JP"/>
                <a:sym typeface="Noto Sans JP"/>
              </a:rPr>
              <a:t>需要</a:t>
            </a:r>
            <a:r>
              <a:rPr lang="ja-JP" altLang="en-US" sz="1500" b="0" i="0" u="none" strike="noStrike" cap="none" dirty="0">
                <a:solidFill>
                  <a:srgbClr val="64748B"/>
                </a:solidFill>
                <a:latin typeface="Noto Sans JP"/>
                <a:ea typeface="Noto Sans JP"/>
                <a:cs typeface="Noto Sans JP"/>
                <a:sym typeface="Noto Sans JP"/>
              </a:rPr>
              <a:t>増</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pic>
        <p:nvPicPr>
          <p:cNvPr id="227" name="Google Shape;227;p23" descr="image.png"/>
          <p:cNvPicPr preferRelativeResize="0"/>
          <p:nvPr/>
        </p:nvPicPr>
        <p:blipFill rotWithShape="1">
          <a:blip r:embed="rId3">
            <a:alphaModFix/>
          </a:blip>
          <a:srcRect/>
          <a:stretch/>
        </p:blipFill>
        <p:spPr>
          <a:xfrm>
            <a:off x="609600" y="1398240"/>
            <a:ext cx="10972800" cy="2733675"/>
          </a:xfrm>
          <a:prstGeom prst="rect">
            <a:avLst/>
          </a:prstGeom>
          <a:noFill/>
          <a:ln>
            <a:noFill/>
          </a:ln>
        </p:spPr>
      </p:pic>
      <p:sp>
        <p:nvSpPr>
          <p:cNvPr id="228" name="Google Shape;228;p23"/>
          <p:cNvSpPr txBox="1"/>
          <p:nvPr/>
        </p:nvSpPr>
        <p:spPr>
          <a:xfrm>
            <a:off x="762000" y="1095087"/>
            <a:ext cx="8464301" cy="161583"/>
          </a:xfrm>
          <a:prstGeom prst="rect">
            <a:avLst/>
          </a:prstGeom>
          <a:noFill/>
          <a:ln>
            <a:noFill/>
          </a:ln>
        </p:spPr>
        <p:txBody>
          <a:bodyPr spcFirstLastPara="1" wrap="square" lIns="0" tIns="0" rIns="0" bIns="0" anchor="t" anchorCtr="0">
            <a:spAutoFit/>
          </a:bodyPr>
          <a:lstStyle/>
          <a:p>
            <a:pPr lvl="0"/>
            <a:r>
              <a:rPr lang="en-US" sz="1050" b="1" i="0" u="none" strike="noStrike" cap="none">
                <a:solidFill>
                  <a:srgbClr val="005088"/>
                </a:solidFill>
                <a:latin typeface="Noto Sans JP"/>
                <a:ea typeface="Noto Sans JP"/>
                <a:cs typeface="Noto Sans JP"/>
                <a:sym typeface="Noto Sans JP"/>
              </a:rPr>
              <a:t> 8月稼働日：17日 (夏季連休影響あり) |  8月内示：873.7 千本 (日当たり：54.6 千本</a:t>
            </a:r>
            <a:r>
              <a:rPr lang="ja-JP" altLang="en-US" sz="1050" b="1" i="0" u="none" strike="noStrike" cap="none">
                <a:solidFill>
                  <a:srgbClr val="005088"/>
                </a:solidFill>
                <a:latin typeface="Noto Sans JP"/>
                <a:ea typeface="Noto Sans JP"/>
                <a:cs typeface="Noto Sans JP"/>
                <a:sym typeface="Noto Sans JP"/>
              </a:rPr>
              <a:t>、</a:t>
            </a:r>
            <a:r>
              <a:rPr lang="en-US" altLang="ja-JP" sz="1050" b="1">
                <a:solidFill>
                  <a:srgbClr val="005088"/>
                </a:solidFill>
                <a:latin typeface="Noto Sans JP"/>
                <a:ea typeface="Noto Sans JP"/>
                <a:cs typeface="Noto Sans JP"/>
                <a:sym typeface="Noto Sans JP"/>
              </a:rPr>
              <a:t>7</a:t>
            </a:r>
            <a:r>
              <a:rPr lang="ja-JP" altLang="en-US" sz="1050" b="1" i="0" u="none" strike="noStrike" cap="none">
                <a:solidFill>
                  <a:srgbClr val="005088"/>
                </a:solidFill>
                <a:latin typeface="Noto Sans JP"/>
                <a:ea typeface="Noto Sans JP"/>
                <a:cs typeface="Noto Sans JP"/>
                <a:sym typeface="Noto Sans JP"/>
              </a:rPr>
              <a:t>月比で約</a:t>
            </a:r>
            <a:r>
              <a:rPr lang="en-US" altLang="ja-JP" sz="1050" b="1" i="0" u="none" strike="noStrike" cap="none">
                <a:solidFill>
                  <a:srgbClr val="005088"/>
                </a:solidFill>
                <a:latin typeface="Noto Sans JP"/>
                <a:ea typeface="Noto Sans JP"/>
                <a:cs typeface="Noto Sans JP"/>
                <a:sym typeface="Noto Sans JP"/>
              </a:rPr>
              <a:t>7%</a:t>
            </a:r>
            <a:r>
              <a:rPr lang="ja-JP" altLang="en-US" sz="1050" b="1" i="0" u="none" strike="noStrike" cap="none">
                <a:solidFill>
                  <a:srgbClr val="005088"/>
                </a:solidFill>
                <a:latin typeface="Noto Sans JP"/>
                <a:ea typeface="Noto Sans JP"/>
                <a:cs typeface="Noto Sans JP"/>
                <a:sym typeface="Noto Sans JP"/>
              </a:rPr>
              <a:t>増加）</a:t>
            </a:r>
            <a:endParaRPr dirty="0"/>
          </a:p>
        </p:txBody>
      </p:sp>
      <p:graphicFrame>
        <p:nvGraphicFramePr>
          <p:cNvPr id="229" name="Google Shape;229;p23"/>
          <p:cNvGraphicFramePr/>
          <p:nvPr>
            <p:extLst>
              <p:ext uri="{D42A27DB-BD31-4B8C-83A1-F6EECF244321}">
                <p14:modId xmlns:p14="http://schemas.microsoft.com/office/powerpoint/2010/main" val="2902026726"/>
              </p:ext>
            </p:extLst>
          </p:nvPr>
        </p:nvGraphicFramePr>
        <p:xfrm>
          <a:off x="297951" y="1398240"/>
          <a:ext cx="11615467" cy="3225128"/>
        </p:xfrm>
        <a:graphic>
          <a:graphicData uri="http://schemas.openxmlformats.org/drawingml/2006/table">
            <a:tbl>
              <a:tblPr firstRow="1" bandRow="1">
                <a:noFill/>
                <a:tableStyleId>{6533D3A8-D3F5-4CE0-8612-AE69E67BF3B3}</a:tableStyleId>
              </a:tblPr>
              <a:tblGrid>
                <a:gridCol w="728660">
                  <a:extLst>
                    <a:ext uri="{9D8B030D-6E8A-4147-A177-3AD203B41FA5}">
                      <a16:colId xmlns:a16="http://schemas.microsoft.com/office/drawing/2014/main" val="20000"/>
                    </a:ext>
                  </a:extLst>
                </a:gridCol>
                <a:gridCol w="1333939">
                  <a:extLst>
                    <a:ext uri="{9D8B030D-6E8A-4147-A177-3AD203B41FA5}">
                      <a16:colId xmlns:a16="http://schemas.microsoft.com/office/drawing/2014/main" val="20001"/>
                    </a:ext>
                  </a:extLst>
                </a:gridCol>
                <a:gridCol w="1333939">
                  <a:extLst>
                    <a:ext uri="{9D8B030D-6E8A-4147-A177-3AD203B41FA5}">
                      <a16:colId xmlns:a16="http://schemas.microsoft.com/office/drawing/2014/main" val="20002"/>
                    </a:ext>
                  </a:extLst>
                </a:gridCol>
                <a:gridCol w="1233802">
                  <a:extLst>
                    <a:ext uri="{9D8B030D-6E8A-4147-A177-3AD203B41FA5}">
                      <a16:colId xmlns:a16="http://schemas.microsoft.com/office/drawing/2014/main" val="20003"/>
                    </a:ext>
                  </a:extLst>
                </a:gridCol>
                <a:gridCol w="1333939">
                  <a:extLst>
                    <a:ext uri="{9D8B030D-6E8A-4147-A177-3AD203B41FA5}">
                      <a16:colId xmlns:a16="http://schemas.microsoft.com/office/drawing/2014/main" val="20004"/>
                    </a:ext>
                  </a:extLst>
                </a:gridCol>
                <a:gridCol w="1019599">
                  <a:extLst>
                    <a:ext uri="{9D8B030D-6E8A-4147-A177-3AD203B41FA5}">
                      <a16:colId xmlns:a16="http://schemas.microsoft.com/office/drawing/2014/main" val="20005"/>
                    </a:ext>
                  </a:extLst>
                </a:gridCol>
                <a:gridCol w="1127324">
                  <a:extLst>
                    <a:ext uri="{9D8B030D-6E8A-4147-A177-3AD203B41FA5}">
                      <a16:colId xmlns:a16="http://schemas.microsoft.com/office/drawing/2014/main" val="20006"/>
                    </a:ext>
                  </a:extLst>
                </a:gridCol>
                <a:gridCol w="1127324">
                  <a:extLst>
                    <a:ext uri="{9D8B030D-6E8A-4147-A177-3AD203B41FA5}">
                      <a16:colId xmlns:a16="http://schemas.microsoft.com/office/drawing/2014/main" val="20007"/>
                    </a:ext>
                  </a:extLst>
                </a:gridCol>
                <a:gridCol w="793428">
                  <a:extLst>
                    <a:ext uri="{9D8B030D-6E8A-4147-A177-3AD203B41FA5}">
                      <a16:colId xmlns:a16="http://schemas.microsoft.com/office/drawing/2014/main" val="20008"/>
                    </a:ext>
                  </a:extLst>
                </a:gridCol>
                <a:gridCol w="1583513">
                  <a:extLst>
                    <a:ext uri="{9D8B030D-6E8A-4147-A177-3AD203B41FA5}">
                      <a16:colId xmlns:a16="http://schemas.microsoft.com/office/drawing/2014/main" val="20009"/>
                    </a:ext>
                  </a:extLst>
                </a:gridCol>
              </a:tblGrid>
              <a:tr h="403141">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工程計画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日当たり (千本)</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設備・人員</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標準能率 (本/H)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標準稼働直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定時時間 (H)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生産所要 (H)</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負荷率</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ctr" rtl="0">
                        <a:spcBef>
                          <a:spcPts val="0"/>
                        </a:spcBef>
                        <a:spcAft>
                          <a:spcPts val="0"/>
                        </a:spcAft>
                        <a:buNone/>
                      </a:pPr>
                      <a:r>
                        <a:rPr lang="en-US" sz="1200" b="1" i="0" u="none" dirty="0">
                          <a:solidFill>
                            <a:srgbClr val="FFFFFF"/>
                          </a:solidFill>
                          <a:latin typeface="游ゴシック" panose="020B0400000000000000" pitchFamily="50" charset="-128"/>
                          <a:ea typeface="游ゴシック" panose="020B0400000000000000" pitchFamily="50" charset="-128"/>
                          <a:cs typeface="Noto Sans JP"/>
                          <a:sym typeface="Noto Sans JP"/>
                        </a:rPr>
                        <a:t>日均稼働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切断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878.9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51.7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5.5台</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445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142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1,978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139%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21.2</a:t>
                      </a:r>
                      <a:r>
                        <a:rPr lang="en-US" altLang="ja-JP"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(毎週土稼働)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extLst>
                  <a:ext uri="{0D108BD9-81ED-4DB2-BD59-A6C34878D82A}">
                    <a16:rowId xmlns:a16="http://schemas.microsoft.com/office/drawing/2014/main" val="10001"/>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面取</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452.6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26.6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4.5台 (2工程)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295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116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1,534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13</a:t>
                      </a:r>
                      <a:r>
                        <a:rPr lang="en-US" altLang="ja-JP"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a:t>
                      </a: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20.1 (毎週土稼働)</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extLst>
                  <a:ext uri="{0D108BD9-81ED-4DB2-BD59-A6C34878D82A}">
                    <a16:rowId xmlns:a16="http://schemas.microsoft.com/office/drawing/2014/main" val="10002"/>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成型</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873.7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51.4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24ライン</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122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62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7,161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115%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17.8 (残業10L)</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3"/>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メッキ</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627.3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36.9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1台</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1,620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410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107%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22.5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4"/>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検査</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805.0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47.3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11人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540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1,491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104%</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8.0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102.8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6.0</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6人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131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77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785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101%</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200" b="0" i="0" u="none" dirty="0">
                          <a:solidFill>
                            <a:srgbClr val="334155"/>
                          </a:solidFill>
                          <a:latin typeface="游ゴシック" panose="020B0400000000000000" pitchFamily="50" charset="-128"/>
                          <a:ea typeface="游ゴシック" panose="020B0400000000000000" pitchFamily="50" charset="-128"/>
                          <a:cs typeface="Roboto Mono"/>
                          <a:sym typeface="Roboto Mono"/>
                        </a:rPr>
                        <a:t>7.8</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6"/>
                  </a:ext>
                </a:extLst>
              </a:tr>
              <a:tr h="403141">
                <a:tc>
                  <a:txBody>
                    <a:bodyPr/>
                    <a:lstStyle/>
                    <a:p>
                      <a:pPr marL="0" marR="0" lvl="0" indent="0" algn="ctr" rtl="0">
                        <a:spcBef>
                          <a:spcPts val="0"/>
                        </a:spcBef>
                        <a:spcAft>
                          <a:spcPts val="0"/>
                        </a:spcAft>
                        <a:buNone/>
                      </a:pPr>
                      <a:r>
                        <a:rPr lang="en-US" sz="1200" b="1" i="0" u="none" dirty="0">
                          <a:solidFill>
                            <a:srgbClr val="0F172A"/>
                          </a:solidFill>
                          <a:latin typeface="游ゴシック" panose="020B0400000000000000" pitchFamily="50" charset="-128"/>
                          <a:ea typeface="游ゴシック" panose="020B0400000000000000" pitchFamily="50" charset="-128"/>
                          <a:cs typeface="Roboto Mono"/>
                          <a:sym typeface="Roboto Mono"/>
                        </a:rPr>
                        <a:t>溶接SP</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45.9</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2.7</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2人</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145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2直</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25</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316</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122%</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tc>
                  <a:txBody>
                    <a:bodyPr/>
                    <a:lstStyle/>
                    <a:p>
                      <a:pPr marL="0" marR="0" lvl="0" indent="0" algn="ctr" rtl="0">
                        <a:spcBef>
                          <a:spcPts val="0"/>
                        </a:spcBef>
                        <a:spcAft>
                          <a:spcPts val="0"/>
                        </a:spcAft>
                        <a:buNone/>
                      </a:pPr>
                      <a:r>
                        <a:rPr lang="en-US" sz="1200" b="1" i="0" u="none" dirty="0">
                          <a:solidFill>
                            <a:srgbClr val="334155"/>
                          </a:solidFill>
                          <a:latin typeface="游ゴシック" panose="020B0400000000000000" pitchFamily="50" charset="-128"/>
                          <a:ea typeface="游ゴシック" panose="020B0400000000000000" pitchFamily="50" charset="-128"/>
                          <a:cs typeface="Roboto Mono"/>
                          <a:sym typeface="Roboto Mono"/>
                        </a:rPr>
                        <a:t>9.3</a:t>
                      </a:r>
                      <a:endParaRPr sz="1200" dirty="0">
                        <a:latin typeface="游ゴシック" panose="020B0400000000000000" pitchFamily="50" charset="-128"/>
                        <a:ea typeface="游ゴシック" panose="020B0400000000000000" pitchFamily="50"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3C7"/>
                    </a:solidFill>
                  </a:tcPr>
                </a:tc>
                <a:extLst>
                  <a:ext uri="{0D108BD9-81ED-4DB2-BD59-A6C34878D82A}">
                    <a16:rowId xmlns:a16="http://schemas.microsoft.com/office/drawing/2014/main" val="10007"/>
                  </a:ext>
                </a:extLst>
              </a:tr>
            </a:tbl>
          </a:graphicData>
        </a:graphic>
      </p:graphicFrame>
      <p:pic>
        <p:nvPicPr>
          <p:cNvPr id="230" name="Google Shape;230;p23" descr="image.png"/>
          <p:cNvPicPr preferRelativeResize="0"/>
          <p:nvPr/>
        </p:nvPicPr>
        <p:blipFill rotWithShape="1">
          <a:blip r:embed="rId4">
            <a:alphaModFix/>
          </a:blip>
          <a:srcRect/>
          <a:stretch/>
        </p:blipFill>
        <p:spPr>
          <a:xfrm>
            <a:off x="609600" y="1093440"/>
            <a:ext cx="103733" cy="133350"/>
          </a:xfrm>
          <a:prstGeom prst="rect">
            <a:avLst/>
          </a:prstGeom>
          <a:noFill/>
          <a:ln>
            <a:noFill/>
          </a:ln>
        </p:spPr>
      </p:pic>
      <p:sp>
        <p:nvSpPr>
          <p:cNvPr id="232" name="Google Shape;232;p23"/>
          <p:cNvSpPr txBox="1"/>
          <p:nvPr/>
        </p:nvSpPr>
        <p:spPr>
          <a:xfrm>
            <a:off x="762000" y="457200"/>
            <a:ext cx="11361420"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8月度 生産計画と工程負荷予測</a:t>
            </a:r>
            <a:endParaRPr dirty="0"/>
          </a:p>
        </p:txBody>
      </p:sp>
      <p:sp>
        <p:nvSpPr>
          <p:cNvPr id="233" name="Google Shape;233;p23"/>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3" name="Google Shape;178;p20" descr="image.png">
            <a:extLst>
              <a:ext uri="{FF2B5EF4-FFF2-40B4-BE49-F238E27FC236}">
                <a16:creationId xmlns:a16="http://schemas.microsoft.com/office/drawing/2014/main" id="{3743AE62-B1E8-7D11-D8B8-49B0D31A7E44}"/>
              </a:ext>
            </a:extLst>
          </p:cNvPr>
          <p:cNvPicPr preferRelativeResize="0"/>
          <p:nvPr/>
        </p:nvPicPr>
        <p:blipFill rotWithShape="1">
          <a:blip r:embed="rId5">
            <a:alphaModFix/>
            <a:grayscl/>
          </a:blip>
          <a:srcRect/>
          <a:stretch/>
        </p:blipFill>
        <p:spPr>
          <a:xfrm>
            <a:off x="219182" y="4684365"/>
            <a:ext cx="1961281" cy="1923603"/>
          </a:xfrm>
          <a:prstGeom prst="rect">
            <a:avLst/>
          </a:prstGeom>
          <a:noFill/>
          <a:ln>
            <a:noFill/>
          </a:ln>
        </p:spPr>
      </p:pic>
      <p:sp>
        <p:nvSpPr>
          <p:cNvPr id="5" name="Google Shape;181;p20">
            <a:extLst>
              <a:ext uri="{FF2B5EF4-FFF2-40B4-BE49-F238E27FC236}">
                <a16:creationId xmlns:a16="http://schemas.microsoft.com/office/drawing/2014/main" id="{56739B5A-D836-0A4D-1084-E4843DA6D729}"/>
              </a:ext>
            </a:extLst>
          </p:cNvPr>
          <p:cNvSpPr txBox="1"/>
          <p:nvPr/>
        </p:nvSpPr>
        <p:spPr>
          <a:xfrm>
            <a:off x="258580" y="4840796"/>
            <a:ext cx="1921884"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b="1" i="0" u="none" strike="noStrike" cap="none" dirty="0">
                <a:solidFill>
                  <a:srgbClr val="005088"/>
                </a:solidFill>
                <a:latin typeface="Noto Sans JP"/>
                <a:ea typeface="Noto Sans JP"/>
                <a:cs typeface="Noto Sans JP"/>
                <a:sym typeface="Noto Sans JP"/>
              </a:rPr>
              <a:t>切断（</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：13</a:t>
            </a:r>
            <a:r>
              <a:rPr lang="en-US" altLang="ja-JP" b="1" dirty="0">
                <a:solidFill>
                  <a:srgbClr val="005088"/>
                </a:solidFill>
                <a:latin typeface="Noto Sans JP"/>
                <a:ea typeface="Noto Sans JP"/>
                <a:cs typeface="Noto Sans JP"/>
                <a:sym typeface="Noto Sans JP"/>
              </a:rPr>
              <a:t>9</a:t>
            </a:r>
            <a:r>
              <a:rPr lang="en-US" b="1" i="0" u="none" strike="noStrike" cap="none" dirty="0">
                <a:solidFill>
                  <a:srgbClr val="005088"/>
                </a:solidFill>
                <a:latin typeface="Noto Sans JP"/>
                <a:ea typeface="Noto Sans JP"/>
                <a:cs typeface="Noto Sans JP"/>
                <a:sym typeface="Noto Sans JP"/>
              </a:rPr>
              <a:t>%）</a:t>
            </a:r>
            <a:endParaRPr dirty="0"/>
          </a:p>
        </p:txBody>
      </p:sp>
      <p:sp>
        <p:nvSpPr>
          <p:cNvPr id="7" name="Google Shape;182;p20">
            <a:extLst>
              <a:ext uri="{FF2B5EF4-FFF2-40B4-BE49-F238E27FC236}">
                <a16:creationId xmlns:a16="http://schemas.microsoft.com/office/drawing/2014/main" id="{BDEEF90B-D2EB-0AEB-6774-6319647944CF}"/>
              </a:ext>
            </a:extLst>
          </p:cNvPr>
          <p:cNvSpPr txBox="1"/>
          <p:nvPr/>
        </p:nvSpPr>
        <p:spPr>
          <a:xfrm>
            <a:off x="288438" y="5100918"/>
            <a:ext cx="1704749"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51.7</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9" name="Google Shape;188;p20">
            <a:extLst>
              <a:ext uri="{FF2B5EF4-FFF2-40B4-BE49-F238E27FC236}">
                <a16:creationId xmlns:a16="http://schemas.microsoft.com/office/drawing/2014/main" id="{B5A1BEA4-C284-7B68-FB83-38214A353643}"/>
              </a:ext>
            </a:extLst>
          </p:cNvPr>
          <p:cNvSpPr txBox="1"/>
          <p:nvPr/>
        </p:nvSpPr>
        <p:spPr>
          <a:xfrm>
            <a:off x="288437" y="5654967"/>
            <a:ext cx="1846819"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en-US" sz="1050" b="0" i="0" u="none" strike="noStrike" cap="none" dirty="0">
                <a:solidFill>
                  <a:srgbClr val="475569"/>
                </a:solidFill>
                <a:latin typeface="Noto Sans JP"/>
                <a:ea typeface="Noto Sans JP"/>
                <a:cs typeface="Noto Sans JP"/>
                <a:sym typeface="Noto Sans JP"/>
              </a:rPr>
              <a:t>毎週土曜日を稼働日とし、日稼働</a:t>
            </a:r>
            <a:r>
              <a:rPr lang="en-US" sz="1050" b="1" i="0" u="none" strike="noStrike" cap="none" dirty="0">
                <a:solidFill>
                  <a:srgbClr val="FF0000"/>
                </a:solidFill>
                <a:latin typeface="Noto Sans JP"/>
                <a:ea typeface="Noto Sans JP"/>
                <a:cs typeface="Noto Sans JP"/>
                <a:sym typeface="Noto Sans JP"/>
              </a:rPr>
              <a:t>21.</a:t>
            </a:r>
            <a:r>
              <a:rPr lang="en-US" altLang="ja-JP" sz="1050" b="1" i="0" u="none" strike="noStrike" cap="none" dirty="0">
                <a:solidFill>
                  <a:srgbClr val="FF0000"/>
                </a:solidFill>
                <a:latin typeface="Noto Sans JP"/>
                <a:ea typeface="Noto Sans JP"/>
                <a:cs typeface="Noto Sans JP"/>
                <a:sym typeface="Noto Sans JP"/>
              </a:rPr>
              <a:t>2H</a:t>
            </a:r>
            <a:r>
              <a:rPr lang="ja-JP" altLang="en-US" sz="1050" i="0" u="none" strike="noStrike" cap="none" dirty="0">
                <a:solidFill>
                  <a:srgbClr val="475569"/>
                </a:solidFill>
                <a:latin typeface="Noto Sans JP"/>
                <a:ea typeface="Noto Sans JP"/>
                <a:cs typeface="Noto Sans JP"/>
                <a:sym typeface="Noto Sans JP"/>
              </a:rPr>
              <a:t>体制</a:t>
            </a:r>
            <a:endParaRPr dirty="0"/>
          </a:p>
        </p:txBody>
      </p:sp>
      <p:pic>
        <p:nvPicPr>
          <p:cNvPr id="11" name="Google Shape;178;p20" descr="image.png">
            <a:extLst>
              <a:ext uri="{FF2B5EF4-FFF2-40B4-BE49-F238E27FC236}">
                <a16:creationId xmlns:a16="http://schemas.microsoft.com/office/drawing/2014/main" id="{0DDD42C3-8F01-D287-3243-C884197235A8}"/>
              </a:ext>
            </a:extLst>
          </p:cNvPr>
          <p:cNvPicPr preferRelativeResize="0"/>
          <p:nvPr/>
        </p:nvPicPr>
        <p:blipFill rotWithShape="1">
          <a:blip r:embed="rId6">
            <a:alphaModFix/>
            <a:duotone>
              <a:prstClr val="black"/>
              <a:schemeClr val="accent5">
                <a:tint val="45000"/>
                <a:satMod val="400000"/>
              </a:schemeClr>
            </a:duotone>
            <a:extLst>
              <a:ext uri="{BEBA8EAE-BF5A-486C-A8C5-ECC9F3942E4B}">
                <a14:imgProps xmlns:a14="http://schemas.microsoft.com/office/drawing/2010/main">
                  <a14:imgLayer r:embed="rId7">
                    <a14:imgEffect>
                      <a14:colorTemperature colorTemp="8800"/>
                    </a14:imgEffect>
                  </a14:imgLayer>
                </a14:imgProps>
              </a:ext>
            </a:extLst>
          </a:blip>
          <a:srcRect/>
          <a:stretch/>
        </p:blipFill>
        <p:spPr>
          <a:xfrm>
            <a:off x="2212740" y="4684365"/>
            <a:ext cx="1921884" cy="1923603"/>
          </a:xfrm>
          <a:prstGeom prst="rect">
            <a:avLst/>
          </a:prstGeom>
          <a:noFill/>
          <a:ln>
            <a:noFill/>
          </a:ln>
        </p:spPr>
      </p:pic>
      <p:sp>
        <p:nvSpPr>
          <p:cNvPr id="13" name="Google Shape;181;p20">
            <a:extLst>
              <a:ext uri="{FF2B5EF4-FFF2-40B4-BE49-F238E27FC236}">
                <a16:creationId xmlns:a16="http://schemas.microsoft.com/office/drawing/2014/main" id="{99F3F393-9EFD-252C-5B20-9FD6C9349C56}"/>
              </a:ext>
            </a:extLst>
          </p:cNvPr>
          <p:cNvSpPr txBox="1"/>
          <p:nvPr/>
        </p:nvSpPr>
        <p:spPr>
          <a:xfrm>
            <a:off x="2252137" y="4850320"/>
            <a:ext cx="1921884" cy="21361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dirty="0">
                <a:solidFill>
                  <a:srgbClr val="005088"/>
                </a:solidFill>
                <a:latin typeface="Noto Sans JP"/>
                <a:ea typeface="Noto Sans JP"/>
                <a:cs typeface="Noto Sans JP"/>
                <a:sym typeface="Noto Sans JP"/>
              </a:rPr>
              <a:t>面取</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：13</a:t>
            </a:r>
            <a:r>
              <a:rPr lang="en-US" altLang="ja-JP" b="1" i="0" u="none" strike="noStrike" cap="none" dirty="0">
                <a:solidFill>
                  <a:srgbClr val="005088"/>
                </a:solidFill>
                <a:latin typeface="Noto Sans JP"/>
                <a:ea typeface="Noto Sans JP"/>
                <a:cs typeface="Noto Sans JP"/>
                <a:sym typeface="Noto Sans JP"/>
              </a:rPr>
              <a:t>2</a:t>
            </a:r>
            <a:r>
              <a:rPr lang="en-US" b="1" i="0" u="none" strike="noStrike" cap="none" dirty="0">
                <a:solidFill>
                  <a:srgbClr val="005088"/>
                </a:solidFill>
                <a:latin typeface="Noto Sans JP"/>
                <a:ea typeface="Noto Sans JP"/>
                <a:cs typeface="Noto Sans JP"/>
                <a:sym typeface="Noto Sans JP"/>
              </a:rPr>
              <a:t>%）</a:t>
            </a:r>
            <a:endParaRPr dirty="0"/>
          </a:p>
        </p:txBody>
      </p:sp>
      <p:sp>
        <p:nvSpPr>
          <p:cNvPr id="15" name="Google Shape;182;p20">
            <a:extLst>
              <a:ext uri="{FF2B5EF4-FFF2-40B4-BE49-F238E27FC236}">
                <a16:creationId xmlns:a16="http://schemas.microsoft.com/office/drawing/2014/main" id="{A4082A5C-C64C-4BBD-19BF-964F5353520F}"/>
              </a:ext>
            </a:extLst>
          </p:cNvPr>
          <p:cNvSpPr txBox="1"/>
          <p:nvPr/>
        </p:nvSpPr>
        <p:spPr>
          <a:xfrm>
            <a:off x="2281995" y="5100918"/>
            <a:ext cx="169870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dirty="0">
                <a:solidFill>
                  <a:srgbClr val="FF0000"/>
                </a:solidFill>
                <a:latin typeface="Noto Sans JP"/>
                <a:ea typeface="Noto Sans JP"/>
                <a:cs typeface="Noto Sans JP"/>
                <a:sym typeface="Noto Sans JP"/>
              </a:rPr>
              <a:t>26.6</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17" name="Google Shape;188;p20">
            <a:extLst>
              <a:ext uri="{FF2B5EF4-FFF2-40B4-BE49-F238E27FC236}">
                <a16:creationId xmlns:a16="http://schemas.microsoft.com/office/drawing/2014/main" id="{A26B8F17-4071-1FA8-0FC2-48E934F8029F}"/>
              </a:ext>
            </a:extLst>
          </p:cNvPr>
          <p:cNvSpPr txBox="1"/>
          <p:nvPr/>
        </p:nvSpPr>
        <p:spPr>
          <a:xfrm>
            <a:off x="2249047" y="5647061"/>
            <a:ext cx="1831117"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en-US" sz="1050" b="0" i="0" u="none" strike="noStrike" cap="none" dirty="0">
                <a:solidFill>
                  <a:srgbClr val="475569"/>
                </a:solidFill>
                <a:latin typeface="Noto Sans JP"/>
                <a:ea typeface="Noto Sans JP"/>
                <a:cs typeface="Noto Sans JP"/>
                <a:sym typeface="Noto Sans JP"/>
              </a:rPr>
              <a:t>毎週土曜日を稼働日とし、日稼働を</a:t>
            </a:r>
            <a:r>
              <a:rPr lang="en-US" sz="1050" b="1" i="0" u="none" strike="noStrike" cap="none" dirty="0">
                <a:solidFill>
                  <a:srgbClr val="FF0000"/>
                </a:solidFill>
                <a:latin typeface="Noto Sans JP"/>
                <a:ea typeface="Noto Sans JP"/>
                <a:cs typeface="Noto Sans JP"/>
                <a:sym typeface="Noto Sans JP"/>
              </a:rPr>
              <a:t>2</a:t>
            </a:r>
            <a:r>
              <a:rPr lang="en-US" altLang="ja-JP" sz="1050" b="1" i="0" u="none" strike="noStrike" cap="none" dirty="0">
                <a:solidFill>
                  <a:srgbClr val="FF0000"/>
                </a:solidFill>
                <a:latin typeface="Noto Sans JP"/>
                <a:ea typeface="Noto Sans JP"/>
                <a:cs typeface="Noto Sans JP"/>
                <a:sym typeface="Noto Sans JP"/>
              </a:rPr>
              <a:t>0.1</a:t>
            </a:r>
            <a:r>
              <a:rPr lang="en-US" altLang="ja-JP" sz="1050" b="1" dirty="0">
                <a:solidFill>
                  <a:srgbClr val="FF0000"/>
                </a:solidFill>
                <a:latin typeface="Noto Sans JP"/>
                <a:ea typeface="Noto Sans JP"/>
                <a:cs typeface="Noto Sans JP"/>
                <a:sym typeface="Noto Sans JP"/>
              </a:rPr>
              <a:t>H</a:t>
            </a:r>
            <a:r>
              <a:rPr lang="ja-JP" altLang="en-US" sz="1050" dirty="0">
                <a:solidFill>
                  <a:srgbClr val="475569"/>
                </a:solidFill>
                <a:latin typeface="Noto Sans JP"/>
                <a:ea typeface="Noto Sans JP"/>
                <a:cs typeface="Noto Sans JP"/>
                <a:sym typeface="Noto Sans JP"/>
              </a:rPr>
              <a:t>体制</a:t>
            </a:r>
            <a:endParaRPr dirty="0"/>
          </a:p>
        </p:txBody>
      </p:sp>
      <p:pic>
        <p:nvPicPr>
          <p:cNvPr id="19" name="Google Shape;178;p20" descr="image.png">
            <a:extLst>
              <a:ext uri="{FF2B5EF4-FFF2-40B4-BE49-F238E27FC236}">
                <a16:creationId xmlns:a16="http://schemas.microsoft.com/office/drawing/2014/main" id="{F5FF2120-40D3-8DB5-4F97-4EE06005CC95}"/>
              </a:ext>
            </a:extLst>
          </p:cNvPr>
          <p:cNvPicPr preferRelativeResize="0"/>
          <p:nvPr/>
        </p:nvPicPr>
        <p:blipFill rotWithShape="1">
          <a:blip r:embed="rId8">
            <a:alphaModFix/>
            <a:extLst>
              <a:ext uri="{BEBA8EAE-BF5A-486C-A8C5-ECC9F3942E4B}">
                <a14:imgProps xmlns:a14="http://schemas.microsoft.com/office/drawing/2010/main">
                  <a14:imgLayer r:embed="rId7">
                    <a14:imgEffect>
                      <a14:colorTemperature colorTemp="11200"/>
                    </a14:imgEffect>
                  </a14:imgLayer>
                </a14:imgProps>
              </a:ext>
            </a:extLst>
          </a:blip>
          <a:srcRect/>
          <a:stretch/>
        </p:blipFill>
        <p:spPr>
          <a:xfrm>
            <a:off x="4182367" y="4693889"/>
            <a:ext cx="1882218" cy="1923603"/>
          </a:xfrm>
          <a:prstGeom prst="rect">
            <a:avLst/>
          </a:prstGeom>
          <a:noFill/>
          <a:ln>
            <a:noFill/>
          </a:ln>
        </p:spPr>
      </p:pic>
      <p:sp>
        <p:nvSpPr>
          <p:cNvPr id="21" name="Google Shape;181;p20">
            <a:extLst>
              <a:ext uri="{FF2B5EF4-FFF2-40B4-BE49-F238E27FC236}">
                <a16:creationId xmlns:a16="http://schemas.microsoft.com/office/drawing/2014/main" id="{39CF29C3-D894-53CF-320C-269566FAB30F}"/>
              </a:ext>
            </a:extLst>
          </p:cNvPr>
          <p:cNvSpPr txBox="1"/>
          <p:nvPr/>
        </p:nvSpPr>
        <p:spPr>
          <a:xfrm>
            <a:off x="4221763" y="4850320"/>
            <a:ext cx="1912077"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成型</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115</a:t>
            </a:r>
            <a:r>
              <a:rPr lang="en-US" b="1" i="0" u="none" strike="noStrike" cap="none" dirty="0">
                <a:solidFill>
                  <a:srgbClr val="005088"/>
                </a:solidFill>
                <a:latin typeface="Noto Sans JP"/>
                <a:ea typeface="Noto Sans JP"/>
                <a:cs typeface="Noto Sans JP"/>
                <a:sym typeface="Noto Sans JP"/>
              </a:rPr>
              <a:t>%）</a:t>
            </a:r>
            <a:endParaRPr dirty="0"/>
          </a:p>
        </p:txBody>
      </p:sp>
      <p:sp>
        <p:nvSpPr>
          <p:cNvPr id="23" name="Google Shape;182;p20">
            <a:extLst>
              <a:ext uri="{FF2B5EF4-FFF2-40B4-BE49-F238E27FC236}">
                <a16:creationId xmlns:a16="http://schemas.microsoft.com/office/drawing/2014/main" id="{EFE6D013-B060-8228-A4D6-964542EDEC14}"/>
              </a:ext>
            </a:extLst>
          </p:cNvPr>
          <p:cNvSpPr txBox="1"/>
          <p:nvPr/>
        </p:nvSpPr>
        <p:spPr>
          <a:xfrm>
            <a:off x="4251622" y="5110442"/>
            <a:ext cx="1680549"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51.4</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25" name="Google Shape;188;p20">
            <a:extLst>
              <a:ext uri="{FF2B5EF4-FFF2-40B4-BE49-F238E27FC236}">
                <a16:creationId xmlns:a16="http://schemas.microsoft.com/office/drawing/2014/main" id="{B90C1709-F1F9-88BF-51A0-9851BB5D9C68}"/>
              </a:ext>
            </a:extLst>
          </p:cNvPr>
          <p:cNvSpPr txBox="1"/>
          <p:nvPr/>
        </p:nvSpPr>
        <p:spPr>
          <a:xfrm>
            <a:off x="4218674" y="5660167"/>
            <a:ext cx="1776656" cy="775597"/>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「特定</a:t>
            </a:r>
            <a:r>
              <a:rPr lang="en-US" altLang="ja-JP" sz="1050" b="0" i="0" u="none" strike="noStrike" cap="none" dirty="0">
                <a:solidFill>
                  <a:srgbClr val="475569"/>
                </a:solidFill>
                <a:latin typeface="Noto Sans JP"/>
                <a:ea typeface="Noto Sans JP"/>
                <a:cs typeface="Noto Sans JP"/>
                <a:sym typeface="Noto Sans JP"/>
              </a:rPr>
              <a:t>10</a:t>
            </a:r>
            <a:r>
              <a:rPr lang="ja-JP" altLang="en-US" sz="1050" b="0" i="0" u="none" strike="noStrike" cap="none" dirty="0">
                <a:solidFill>
                  <a:srgbClr val="475569"/>
                </a:solidFill>
                <a:latin typeface="Noto Sans JP"/>
                <a:ea typeface="Noto Sans JP"/>
                <a:cs typeface="Noto Sans JP"/>
                <a:sym typeface="Noto Sans JP"/>
              </a:rPr>
              <a:t>ライン」を対象に残業運用。日稼働</a:t>
            </a:r>
            <a:r>
              <a:rPr lang="en-US" altLang="ja-JP" sz="1050" b="1" i="0" u="none" strike="noStrike" cap="none" dirty="0">
                <a:solidFill>
                  <a:srgbClr val="FF0000"/>
                </a:solidFill>
                <a:latin typeface="Noto Sans JP"/>
                <a:ea typeface="Noto Sans JP"/>
                <a:cs typeface="Noto Sans JP"/>
                <a:sym typeface="Noto Sans JP"/>
              </a:rPr>
              <a:t>17.8H</a:t>
            </a:r>
            <a:r>
              <a:rPr lang="ja-JP" altLang="en-US" sz="1050" b="0" i="0" u="none" strike="noStrike" cap="none" dirty="0">
                <a:solidFill>
                  <a:srgbClr val="475569"/>
                </a:solidFill>
                <a:latin typeface="Noto Sans JP"/>
                <a:ea typeface="Noto Sans JP"/>
                <a:cs typeface="Noto Sans JP"/>
                <a:sym typeface="Noto Sans JP"/>
              </a:rPr>
              <a:t>体制</a:t>
            </a:r>
            <a:endParaRPr dirty="0"/>
          </a:p>
        </p:txBody>
      </p:sp>
      <p:pic>
        <p:nvPicPr>
          <p:cNvPr id="27" name="Google Shape;178;p20" descr="image.png">
            <a:extLst>
              <a:ext uri="{FF2B5EF4-FFF2-40B4-BE49-F238E27FC236}">
                <a16:creationId xmlns:a16="http://schemas.microsoft.com/office/drawing/2014/main" id="{EF9482A3-BC7E-90BD-9123-8DC4AE48C6D2}"/>
              </a:ext>
            </a:extLst>
          </p:cNvPr>
          <p:cNvPicPr preferRelativeResize="0"/>
          <p:nvPr/>
        </p:nvPicPr>
        <p:blipFill rotWithShape="1">
          <a:blip r:embed="rId9">
            <a:alphaModFix/>
            <a:extLst>
              <a:ext uri="{BEBA8EAE-BF5A-486C-A8C5-ECC9F3942E4B}">
                <a14:imgProps xmlns:a14="http://schemas.microsoft.com/office/drawing/2010/main">
                  <a14:imgLayer r:embed="rId7">
                    <a14:imgEffect>
                      <a14:colorTemperature colorTemp="7200"/>
                    </a14:imgEffect>
                  </a14:imgLayer>
                </a14:imgProps>
              </a:ext>
            </a:extLst>
          </a:blip>
          <a:srcRect/>
          <a:stretch/>
        </p:blipFill>
        <p:spPr>
          <a:xfrm>
            <a:off x="6133840" y="4693889"/>
            <a:ext cx="1900373" cy="1923603"/>
          </a:xfrm>
          <a:prstGeom prst="rect">
            <a:avLst/>
          </a:prstGeom>
          <a:noFill/>
          <a:ln>
            <a:noFill/>
          </a:ln>
        </p:spPr>
      </p:pic>
      <p:sp>
        <p:nvSpPr>
          <p:cNvPr id="29" name="Google Shape;181;p20">
            <a:extLst>
              <a:ext uri="{FF2B5EF4-FFF2-40B4-BE49-F238E27FC236}">
                <a16:creationId xmlns:a16="http://schemas.microsoft.com/office/drawing/2014/main" id="{955FBBFE-4E6E-98C8-EDBD-AE28429083CF}"/>
              </a:ext>
            </a:extLst>
          </p:cNvPr>
          <p:cNvSpPr txBox="1"/>
          <p:nvPr/>
        </p:nvSpPr>
        <p:spPr>
          <a:xfrm>
            <a:off x="6173238" y="4863785"/>
            <a:ext cx="1969626" cy="20005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sz="1300" b="1" i="0" u="none" strike="noStrike" cap="none" dirty="0">
                <a:solidFill>
                  <a:srgbClr val="005088"/>
                </a:solidFill>
                <a:latin typeface="Noto Sans JP"/>
                <a:ea typeface="Noto Sans JP"/>
                <a:cs typeface="Noto Sans JP"/>
                <a:sym typeface="Noto Sans JP"/>
              </a:rPr>
              <a:t>メッキ</a:t>
            </a:r>
            <a:r>
              <a:rPr lang="en-US" sz="1300" b="1" i="0" u="none" strike="noStrike" cap="none" dirty="0">
                <a:solidFill>
                  <a:srgbClr val="005088"/>
                </a:solidFill>
                <a:latin typeface="Noto Sans JP"/>
                <a:ea typeface="Noto Sans JP"/>
                <a:cs typeface="Noto Sans JP"/>
                <a:sym typeface="Noto Sans JP"/>
              </a:rPr>
              <a:t>（</a:t>
            </a:r>
            <a:r>
              <a:rPr lang="ja-JP" altLang="en-US" sz="1300" b="1" i="0" u="none" strike="noStrike" cap="none" dirty="0">
                <a:solidFill>
                  <a:srgbClr val="005088"/>
                </a:solidFill>
                <a:latin typeface="Noto Sans JP"/>
                <a:ea typeface="Noto Sans JP"/>
                <a:cs typeface="Noto Sans JP"/>
                <a:sym typeface="Noto Sans JP"/>
              </a:rPr>
              <a:t>負荷率</a:t>
            </a:r>
            <a:r>
              <a:rPr lang="en-US" sz="1300" b="1" i="0" u="none" strike="noStrike" cap="none" dirty="0">
                <a:solidFill>
                  <a:srgbClr val="005088"/>
                </a:solidFill>
                <a:latin typeface="Noto Sans JP"/>
                <a:ea typeface="Noto Sans JP"/>
                <a:cs typeface="Noto Sans JP"/>
                <a:sym typeface="Noto Sans JP"/>
              </a:rPr>
              <a:t>：</a:t>
            </a:r>
            <a:r>
              <a:rPr lang="en-US" altLang="ja-JP" sz="1300" b="1" dirty="0">
                <a:solidFill>
                  <a:srgbClr val="005088"/>
                </a:solidFill>
                <a:latin typeface="Noto Sans JP"/>
                <a:ea typeface="Noto Sans JP"/>
                <a:cs typeface="Noto Sans JP"/>
                <a:sym typeface="Noto Sans JP"/>
              </a:rPr>
              <a:t>107</a:t>
            </a:r>
            <a:r>
              <a:rPr lang="en-US" sz="1300" b="1" i="0" u="none" strike="noStrike" cap="none" dirty="0">
                <a:solidFill>
                  <a:srgbClr val="005088"/>
                </a:solidFill>
                <a:latin typeface="Noto Sans JP"/>
                <a:ea typeface="Noto Sans JP"/>
                <a:cs typeface="Noto Sans JP"/>
                <a:sym typeface="Noto Sans JP"/>
              </a:rPr>
              <a:t>%）</a:t>
            </a:r>
            <a:endParaRPr sz="1300" dirty="0"/>
          </a:p>
        </p:txBody>
      </p:sp>
      <p:sp>
        <p:nvSpPr>
          <p:cNvPr id="31" name="Google Shape;182;p20">
            <a:extLst>
              <a:ext uri="{FF2B5EF4-FFF2-40B4-BE49-F238E27FC236}">
                <a16:creationId xmlns:a16="http://schemas.microsoft.com/office/drawing/2014/main" id="{38778E44-3EBD-D4B0-EB3A-8C96ED4CE1E5}"/>
              </a:ext>
            </a:extLst>
          </p:cNvPr>
          <p:cNvSpPr txBox="1"/>
          <p:nvPr/>
        </p:nvSpPr>
        <p:spPr>
          <a:xfrm>
            <a:off x="6203096" y="5110442"/>
            <a:ext cx="169870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36.9</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33" name="Google Shape;188;p20">
            <a:extLst>
              <a:ext uri="{FF2B5EF4-FFF2-40B4-BE49-F238E27FC236}">
                <a16:creationId xmlns:a16="http://schemas.microsoft.com/office/drawing/2014/main" id="{C944BEEC-3B6C-810C-CA5C-F7BC5D55ACD9}"/>
              </a:ext>
            </a:extLst>
          </p:cNvPr>
          <p:cNvSpPr txBox="1"/>
          <p:nvPr/>
        </p:nvSpPr>
        <p:spPr>
          <a:xfrm>
            <a:off x="6148635" y="5672185"/>
            <a:ext cx="1830647"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休日出勤を追加</a:t>
            </a:r>
            <a:r>
              <a:rPr lang="ja-JP" altLang="en-US" sz="1050" b="0" i="0" u="none" strike="noStrike" cap="none" dirty="0">
                <a:solidFill>
                  <a:srgbClr val="FF0000"/>
                </a:solidFill>
                <a:latin typeface="Noto Sans JP"/>
                <a:ea typeface="Noto Sans JP"/>
                <a:cs typeface="Noto Sans JP"/>
                <a:sym typeface="Noto Sans JP"/>
              </a:rPr>
              <a:t>なし</a:t>
            </a:r>
            <a:r>
              <a:rPr lang="ja-JP" altLang="en-US" sz="1050" b="0" i="0" u="none" strike="noStrike" cap="none" dirty="0">
                <a:solidFill>
                  <a:srgbClr val="475569"/>
                </a:solidFill>
                <a:latin typeface="Noto Sans JP"/>
                <a:ea typeface="Noto Sans JP"/>
                <a:cs typeface="Noto Sans JP"/>
                <a:sym typeface="Noto Sans JP"/>
              </a:rPr>
              <a:t>、突発停止をゼロに。</a:t>
            </a:r>
            <a:endParaRPr dirty="0"/>
          </a:p>
        </p:txBody>
      </p:sp>
      <p:pic>
        <p:nvPicPr>
          <p:cNvPr id="35" name="Google Shape;178;p20" descr="image.png">
            <a:extLst>
              <a:ext uri="{FF2B5EF4-FFF2-40B4-BE49-F238E27FC236}">
                <a16:creationId xmlns:a16="http://schemas.microsoft.com/office/drawing/2014/main" id="{92C53D4A-1A17-F1BD-007D-5FC4A4603BCF}"/>
              </a:ext>
            </a:extLst>
          </p:cNvPr>
          <p:cNvPicPr preferRelativeResize="0"/>
          <p:nvPr/>
        </p:nvPicPr>
        <p:blipFill rotWithShape="1">
          <a:blip r:embed="rId6">
            <a:alphaModFix/>
            <a:duotone>
              <a:prstClr val="black"/>
              <a:schemeClr val="accent3">
                <a:tint val="45000"/>
                <a:satMod val="400000"/>
              </a:schemeClr>
            </a:duotone>
            <a:extLst>
              <a:ext uri="{BEBA8EAE-BF5A-486C-A8C5-ECC9F3942E4B}">
                <a14:imgProps xmlns:a14="http://schemas.microsoft.com/office/drawing/2010/main">
                  <a14:imgLayer r:embed="rId7">
                    <a14:imgEffect>
                      <a14:colorTemperature colorTemp="8800"/>
                    </a14:imgEffect>
                  </a14:imgLayer>
                </a14:imgProps>
              </a:ext>
            </a:extLst>
          </a:blip>
          <a:srcRect/>
          <a:stretch/>
        </p:blipFill>
        <p:spPr>
          <a:xfrm>
            <a:off x="8103468" y="4693889"/>
            <a:ext cx="1900372" cy="1923603"/>
          </a:xfrm>
          <a:prstGeom prst="rect">
            <a:avLst/>
          </a:prstGeom>
          <a:noFill/>
          <a:ln>
            <a:noFill/>
          </a:ln>
        </p:spPr>
      </p:pic>
      <p:sp>
        <p:nvSpPr>
          <p:cNvPr id="37" name="Google Shape;181;p20">
            <a:extLst>
              <a:ext uri="{FF2B5EF4-FFF2-40B4-BE49-F238E27FC236}">
                <a16:creationId xmlns:a16="http://schemas.microsoft.com/office/drawing/2014/main" id="{5F998D21-E625-B5F7-C12B-C7D9D49187EA}"/>
              </a:ext>
            </a:extLst>
          </p:cNvPr>
          <p:cNvSpPr txBox="1"/>
          <p:nvPr/>
        </p:nvSpPr>
        <p:spPr>
          <a:xfrm>
            <a:off x="8142864" y="4845558"/>
            <a:ext cx="1930231"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検査</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104</a:t>
            </a:r>
            <a:r>
              <a:rPr lang="en-US" b="1" i="0" u="none" strike="noStrike" cap="none" dirty="0">
                <a:solidFill>
                  <a:srgbClr val="005088"/>
                </a:solidFill>
                <a:latin typeface="Noto Sans JP"/>
                <a:ea typeface="Noto Sans JP"/>
                <a:cs typeface="Noto Sans JP"/>
                <a:sym typeface="Noto Sans JP"/>
              </a:rPr>
              <a:t>%）</a:t>
            </a:r>
            <a:endParaRPr dirty="0"/>
          </a:p>
        </p:txBody>
      </p:sp>
      <p:sp>
        <p:nvSpPr>
          <p:cNvPr id="39" name="Google Shape;182;p20">
            <a:extLst>
              <a:ext uri="{FF2B5EF4-FFF2-40B4-BE49-F238E27FC236}">
                <a16:creationId xmlns:a16="http://schemas.microsoft.com/office/drawing/2014/main" id="{3D2C78C8-E24F-1062-05C2-394E18E74E79}"/>
              </a:ext>
            </a:extLst>
          </p:cNvPr>
          <p:cNvSpPr txBox="1"/>
          <p:nvPr/>
        </p:nvSpPr>
        <p:spPr>
          <a:xfrm>
            <a:off x="8172723" y="5110442"/>
            <a:ext cx="1628823"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47.3</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41" name="Google Shape;188;p20">
            <a:extLst>
              <a:ext uri="{FF2B5EF4-FFF2-40B4-BE49-F238E27FC236}">
                <a16:creationId xmlns:a16="http://schemas.microsoft.com/office/drawing/2014/main" id="{47BDEB9A-126F-6B14-1F7E-AC16652EFDA3}"/>
              </a:ext>
            </a:extLst>
          </p:cNvPr>
          <p:cNvSpPr txBox="1"/>
          <p:nvPr/>
        </p:nvSpPr>
        <p:spPr>
          <a:xfrm>
            <a:off x="8180951" y="5672185"/>
            <a:ext cx="1822889"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人員</a:t>
            </a:r>
            <a:r>
              <a:rPr lang="en-US" altLang="ja-JP" sz="1050" b="0" i="0" u="none" strike="noStrike" cap="none" dirty="0">
                <a:solidFill>
                  <a:srgbClr val="FF0000"/>
                </a:solidFill>
                <a:latin typeface="Noto Sans JP"/>
                <a:ea typeface="Noto Sans JP"/>
                <a:cs typeface="Noto Sans JP"/>
                <a:sym typeface="Noto Sans JP"/>
              </a:rPr>
              <a:t>11</a:t>
            </a:r>
            <a:r>
              <a:rPr lang="ja-JP" altLang="en-US" sz="1050" b="0" i="0" u="none" strike="noStrike" cap="none" dirty="0">
                <a:solidFill>
                  <a:srgbClr val="FF0000"/>
                </a:solidFill>
                <a:latin typeface="Noto Sans JP"/>
                <a:ea typeface="Noto Sans JP"/>
                <a:cs typeface="Noto Sans JP"/>
                <a:sym typeface="Noto Sans JP"/>
              </a:rPr>
              <a:t>名</a:t>
            </a:r>
            <a:r>
              <a:rPr lang="ja-JP" altLang="en-US" sz="1050" b="0" i="0" u="none" strike="noStrike" cap="none" dirty="0">
                <a:solidFill>
                  <a:srgbClr val="475569"/>
                </a:solidFill>
                <a:latin typeface="Noto Sans JP"/>
                <a:ea typeface="Noto Sans JP"/>
                <a:cs typeface="Noto Sans JP"/>
                <a:sym typeface="Noto Sans JP"/>
              </a:rPr>
              <a:t>の定時稼働内（日均</a:t>
            </a:r>
            <a:r>
              <a:rPr lang="en-US" altLang="ja-JP" sz="1050" b="1" dirty="0">
                <a:solidFill>
                  <a:srgbClr val="FF0000"/>
                </a:solidFill>
                <a:latin typeface="Noto Sans JP"/>
                <a:ea typeface="Noto Sans JP"/>
                <a:cs typeface="Noto Sans JP"/>
                <a:sym typeface="Noto Sans JP"/>
              </a:rPr>
              <a:t>8.0</a:t>
            </a:r>
            <a:r>
              <a:rPr lang="en-US" altLang="ja-JP" sz="1050" b="1" i="0" u="none" strike="noStrike" cap="none" dirty="0">
                <a:solidFill>
                  <a:srgbClr val="FF0000"/>
                </a:solidFill>
                <a:latin typeface="Noto Sans JP"/>
                <a:ea typeface="Noto Sans JP"/>
                <a:cs typeface="Noto Sans JP"/>
                <a:sym typeface="Noto Sans JP"/>
              </a:rPr>
              <a:t>H</a:t>
            </a:r>
            <a:r>
              <a:rPr lang="ja-JP" altLang="en-US" sz="1050" b="0" i="0" u="none" strike="noStrike" cap="none" dirty="0">
                <a:solidFill>
                  <a:srgbClr val="475569"/>
                </a:solidFill>
                <a:latin typeface="Noto Sans JP"/>
                <a:ea typeface="Noto Sans JP"/>
                <a:cs typeface="Noto Sans JP"/>
                <a:sym typeface="Noto Sans JP"/>
              </a:rPr>
              <a:t>）で収まる計画。</a:t>
            </a:r>
            <a:endParaRPr dirty="0"/>
          </a:p>
        </p:txBody>
      </p:sp>
      <p:pic>
        <p:nvPicPr>
          <p:cNvPr id="43" name="Google Shape;178;p20" descr="image.png">
            <a:extLst>
              <a:ext uri="{FF2B5EF4-FFF2-40B4-BE49-F238E27FC236}">
                <a16:creationId xmlns:a16="http://schemas.microsoft.com/office/drawing/2014/main" id="{858E47CD-4CB0-CB22-99E0-DE8002C22079}"/>
              </a:ext>
            </a:extLst>
          </p:cNvPr>
          <p:cNvPicPr preferRelativeResize="0"/>
          <p:nvPr/>
        </p:nvPicPr>
        <p:blipFill rotWithShape="1">
          <a:blip r:embed="rId8">
            <a:alphaModFix/>
            <a:duotone>
              <a:prstClr val="black"/>
              <a:schemeClr val="accent6">
                <a:tint val="45000"/>
                <a:satMod val="400000"/>
              </a:schemeClr>
            </a:duotone>
            <a:extLst>
              <a:ext uri="{BEBA8EAE-BF5A-486C-A8C5-ECC9F3942E4B}">
                <a14:imgProps xmlns:a14="http://schemas.microsoft.com/office/drawing/2010/main">
                  <a14:imgLayer r:embed="rId7">
                    <a14:imgEffect>
                      <a14:colorTemperature colorTemp="11200"/>
                    </a14:imgEffect>
                  </a14:imgLayer>
                </a14:imgProps>
              </a:ext>
            </a:extLst>
          </a:blip>
          <a:srcRect/>
          <a:stretch/>
        </p:blipFill>
        <p:spPr>
          <a:xfrm>
            <a:off x="10142350" y="4684365"/>
            <a:ext cx="1900372" cy="1923603"/>
          </a:xfrm>
          <a:prstGeom prst="rect">
            <a:avLst/>
          </a:prstGeom>
          <a:noFill/>
          <a:ln>
            <a:noFill/>
          </a:ln>
        </p:spPr>
      </p:pic>
      <p:sp>
        <p:nvSpPr>
          <p:cNvPr id="45" name="Google Shape;181;p20">
            <a:extLst>
              <a:ext uri="{FF2B5EF4-FFF2-40B4-BE49-F238E27FC236}">
                <a16:creationId xmlns:a16="http://schemas.microsoft.com/office/drawing/2014/main" id="{133BA061-B2B7-6F9B-B4FE-144524D39582}"/>
              </a:ext>
            </a:extLst>
          </p:cNvPr>
          <p:cNvSpPr txBox="1"/>
          <p:nvPr/>
        </p:nvSpPr>
        <p:spPr>
          <a:xfrm>
            <a:off x="10181747" y="4844643"/>
            <a:ext cx="1959820" cy="21544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ja-JP" altLang="en-US" b="1" i="0" u="none" strike="noStrike" cap="none" dirty="0">
                <a:solidFill>
                  <a:srgbClr val="005088"/>
                </a:solidFill>
                <a:latin typeface="Noto Sans JP"/>
                <a:ea typeface="Noto Sans JP"/>
                <a:cs typeface="Noto Sans JP"/>
                <a:sym typeface="Noto Sans JP"/>
              </a:rPr>
              <a:t>溶接</a:t>
            </a:r>
            <a:r>
              <a:rPr lang="en-US" b="1" i="0" u="none" strike="noStrike" cap="none" dirty="0">
                <a:solidFill>
                  <a:srgbClr val="005088"/>
                </a:solidFill>
                <a:latin typeface="Noto Sans JP"/>
                <a:ea typeface="Noto Sans JP"/>
                <a:cs typeface="Noto Sans JP"/>
                <a:sym typeface="Noto Sans JP"/>
              </a:rPr>
              <a:t>（</a:t>
            </a:r>
            <a:r>
              <a:rPr lang="ja-JP" altLang="en-US" b="1" i="0" u="none" strike="noStrike" cap="none" dirty="0">
                <a:solidFill>
                  <a:srgbClr val="005088"/>
                </a:solidFill>
                <a:latin typeface="Noto Sans JP"/>
                <a:ea typeface="Noto Sans JP"/>
                <a:cs typeface="Noto Sans JP"/>
                <a:sym typeface="Noto Sans JP"/>
              </a:rPr>
              <a:t>負荷率</a:t>
            </a:r>
            <a:r>
              <a:rPr lang="en-US" b="1" i="0" u="none" strike="noStrike" cap="none" dirty="0">
                <a:solidFill>
                  <a:srgbClr val="005088"/>
                </a:solidFill>
                <a:latin typeface="Noto Sans JP"/>
                <a:ea typeface="Noto Sans JP"/>
                <a:cs typeface="Noto Sans JP"/>
                <a:sym typeface="Noto Sans JP"/>
              </a:rPr>
              <a:t>：</a:t>
            </a:r>
            <a:r>
              <a:rPr lang="en-US" altLang="ja-JP" b="1" dirty="0">
                <a:solidFill>
                  <a:srgbClr val="005088"/>
                </a:solidFill>
                <a:latin typeface="Noto Sans JP"/>
                <a:ea typeface="Noto Sans JP"/>
                <a:cs typeface="Noto Sans JP"/>
                <a:sym typeface="Noto Sans JP"/>
              </a:rPr>
              <a:t>112</a:t>
            </a:r>
            <a:r>
              <a:rPr lang="en-US" b="1" i="0" u="none" strike="noStrike" cap="none" dirty="0">
                <a:solidFill>
                  <a:srgbClr val="005088"/>
                </a:solidFill>
                <a:latin typeface="Noto Sans JP"/>
                <a:ea typeface="Noto Sans JP"/>
                <a:cs typeface="Noto Sans JP"/>
                <a:sym typeface="Noto Sans JP"/>
              </a:rPr>
              <a:t>%）</a:t>
            </a:r>
            <a:endParaRPr dirty="0"/>
          </a:p>
        </p:txBody>
      </p:sp>
      <p:sp>
        <p:nvSpPr>
          <p:cNvPr id="47" name="Google Shape;182;p20">
            <a:extLst>
              <a:ext uri="{FF2B5EF4-FFF2-40B4-BE49-F238E27FC236}">
                <a16:creationId xmlns:a16="http://schemas.microsoft.com/office/drawing/2014/main" id="{3B570C0E-020C-C3AD-3DC5-D2F91BEF9AE7}"/>
              </a:ext>
            </a:extLst>
          </p:cNvPr>
          <p:cNvSpPr txBox="1"/>
          <p:nvPr/>
        </p:nvSpPr>
        <p:spPr>
          <a:xfrm>
            <a:off x="10211605" y="5100918"/>
            <a:ext cx="1664036"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分析：</a:t>
            </a:r>
            <a:r>
              <a:rPr lang="ja-JP" altLang="en-US" sz="1050" b="1" i="0" u="none" strike="noStrike" cap="none" dirty="0">
                <a:solidFill>
                  <a:srgbClr val="475569"/>
                </a:solidFill>
                <a:latin typeface="Noto Sans JP"/>
                <a:ea typeface="Noto Sans JP"/>
                <a:cs typeface="Noto Sans JP"/>
                <a:sym typeface="Noto Sans JP"/>
              </a:rPr>
              <a:t>日当たり生産</a:t>
            </a:r>
            <a:r>
              <a:rPr lang="en-US" altLang="ja-JP" sz="1050" b="1" i="0" u="none" strike="noStrike" cap="none" dirty="0">
                <a:solidFill>
                  <a:srgbClr val="FF0000"/>
                </a:solidFill>
                <a:latin typeface="Noto Sans JP"/>
                <a:ea typeface="Noto Sans JP"/>
                <a:cs typeface="Noto Sans JP"/>
                <a:sym typeface="Noto Sans JP"/>
              </a:rPr>
              <a:t>8</a:t>
            </a:r>
            <a:r>
              <a:rPr lang="en-US" altLang="ja-JP" sz="1050" b="1" dirty="0">
                <a:solidFill>
                  <a:srgbClr val="FF0000"/>
                </a:solidFill>
                <a:latin typeface="Noto Sans JP"/>
                <a:ea typeface="Noto Sans JP"/>
                <a:cs typeface="Noto Sans JP"/>
                <a:sym typeface="Noto Sans JP"/>
              </a:rPr>
              <a:t>.7</a:t>
            </a:r>
            <a:r>
              <a:rPr lang="ja-JP" altLang="en-US" sz="1050" b="1" i="0" u="none" strike="noStrike" cap="none" dirty="0">
                <a:solidFill>
                  <a:srgbClr val="475569"/>
                </a:solidFill>
                <a:latin typeface="Noto Sans JP"/>
                <a:ea typeface="Noto Sans JP"/>
                <a:cs typeface="Noto Sans JP"/>
                <a:sym typeface="Noto Sans JP"/>
              </a:rPr>
              <a:t>、</a:t>
            </a:r>
            <a:endParaRPr dirty="0"/>
          </a:p>
        </p:txBody>
      </p:sp>
      <p:sp>
        <p:nvSpPr>
          <p:cNvPr id="49" name="Google Shape;188;p20">
            <a:extLst>
              <a:ext uri="{FF2B5EF4-FFF2-40B4-BE49-F238E27FC236}">
                <a16:creationId xmlns:a16="http://schemas.microsoft.com/office/drawing/2014/main" id="{BE67BAD6-5EEE-B744-5A71-399A9F10B086}"/>
              </a:ext>
            </a:extLst>
          </p:cNvPr>
          <p:cNvSpPr txBox="1"/>
          <p:nvPr/>
        </p:nvSpPr>
        <p:spPr>
          <a:xfrm>
            <a:off x="10181746" y="5682811"/>
            <a:ext cx="1821310" cy="775597"/>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dirty="0">
                <a:solidFill>
                  <a:srgbClr val="475569"/>
                </a:solidFill>
                <a:latin typeface="Noto Sans JP"/>
                <a:ea typeface="Noto Sans JP"/>
                <a:cs typeface="Noto Sans JP"/>
                <a:sym typeface="Noto Sans JP"/>
              </a:rPr>
              <a:t>対策：</a:t>
            </a:r>
            <a:r>
              <a:rPr lang="ja-JP" altLang="en-US" sz="1050" b="0" i="0" u="none" strike="noStrike" cap="none" dirty="0">
                <a:solidFill>
                  <a:srgbClr val="475569"/>
                </a:solidFill>
                <a:latin typeface="Noto Sans JP"/>
                <a:ea typeface="Noto Sans JP"/>
                <a:cs typeface="Noto Sans JP"/>
                <a:sym typeface="Noto Sans JP"/>
              </a:rPr>
              <a:t>高負荷な溶接</a:t>
            </a:r>
            <a:r>
              <a:rPr lang="en-US" altLang="ja-JP" sz="1050" b="0" i="0" u="none" strike="noStrike" cap="none" dirty="0">
                <a:solidFill>
                  <a:srgbClr val="475569"/>
                </a:solidFill>
                <a:latin typeface="Noto Sans JP"/>
                <a:ea typeface="Noto Sans JP"/>
                <a:cs typeface="Noto Sans JP"/>
                <a:sym typeface="Noto Sans JP"/>
              </a:rPr>
              <a:t>SP</a:t>
            </a:r>
            <a:r>
              <a:rPr lang="ja-JP" altLang="en-US" sz="1050" b="0" i="0" u="none" strike="noStrike" cap="none" dirty="0">
                <a:solidFill>
                  <a:srgbClr val="475569"/>
                </a:solidFill>
                <a:latin typeface="Noto Sans JP"/>
                <a:ea typeface="Noto Sans JP"/>
                <a:cs typeface="Noto Sans JP"/>
                <a:sym typeface="Noto Sans JP"/>
              </a:rPr>
              <a:t>へのマルチタスク応援要員としての配置</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9F6D71F3-EC9D-C31C-9A4A-24579EB2D1D6}"/>
            </a:ext>
          </a:extLst>
        </p:cNvPr>
        <p:cNvGrpSpPr/>
        <p:nvPr/>
      </p:nvGrpSpPr>
      <p:grpSpPr>
        <a:xfrm>
          <a:off x="0" y="0"/>
          <a:ext cx="0" cy="0"/>
          <a:chOff x="0" y="0"/>
          <a:chExt cx="0" cy="0"/>
        </a:xfrm>
      </p:grpSpPr>
      <p:pic>
        <p:nvPicPr>
          <p:cNvPr id="218" name="Google Shape;218;p22" descr="image.png">
            <a:extLst>
              <a:ext uri="{FF2B5EF4-FFF2-40B4-BE49-F238E27FC236}">
                <a16:creationId xmlns:a16="http://schemas.microsoft.com/office/drawing/2014/main" id="{330137B0-321C-4859-7322-F6857E14224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9" name="Google Shape;219;p22">
            <a:extLst>
              <a:ext uri="{FF2B5EF4-FFF2-40B4-BE49-F238E27FC236}">
                <a16:creationId xmlns:a16="http://schemas.microsoft.com/office/drawing/2014/main" id="{CDE3F680-A6D0-2A15-A16C-73E0CC31BF6B}"/>
              </a:ext>
            </a:extLst>
          </p:cNvPr>
          <p:cNvSpPr/>
          <p:nvPr/>
        </p:nvSpPr>
        <p:spPr>
          <a:xfrm>
            <a:off x="5715000" y="2805112"/>
            <a:ext cx="762000" cy="3810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220" name="Google Shape;220;p22">
            <a:extLst>
              <a:ext uri="{FF2B5EF4-FFF2-40B4-BE49-F238E27FC236}">
                <a16:creationId xmlns:a16="http://schemas.microsoft.com/office/drawing/2014/main" id="{BC503F56-274E-D07E-2D77-3DD654DC3E23}"/>
              </a:ext>
            </a:extLst>
          </p:cNvPr>
          <p:cNvSpPr txBox="1"/>
          <p:nvPr/>
        </p:nvSpPr>
        <p:spPr>
          <a:xfrm>
            <a:off x="2599362" y="3071812"/>
            <a:ext cx="6678202"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005088"/>
                </a:solidFill>
                <a:latin typeface="Noto Sans JP"/>
                <a:ea typeface="Noto Sans JP"/>
                <a:cs typeface="Noto Sans JP"/>
                <a:sym typeface="Noto Sans JP"/>
              </a:rPr>
              <a:t>PART 04.</a:t>
            </a:r>
            <a:r>
              <a:rPr lang="ja-JP" altLang="en-US" sz="3600" b="1" i="0" u="none" strike="noStrike" cap="none" dirty="0">
                <a:solidFill>
                  <a:srgbClr val="005088"/>
                </a:solidFill>
                <a:latin typeface="Noto Sans JP"/>
                <a:ea typeface="Noto Sans JP"/>
                <a:cs typeface="Noto Sans JP"/>
                <a:sym typeface="Noto Sans JP"/>
              </a:rPr>
              <a:t>生産シミュレーション</a:t>
            </a:r>
            <a:endParaRPr dirty="0"/>
          </a:p>
        </p:txBody>
      </p:sp>
      <p:sp>
        <p:nvSpPr>
          <p:cNvPr id="221" name="Google Shape;221;p22">
            <a:extLst>
              <a:ext uri="{FF2B5EF4-FFF2-40B4-BE49-F238E27FC236}">
                <a16:creationId xmlns:a16="http://schemas.microsoft.com/office/drawing/2014/main" id="{253AF102-3782-3182-C0D1-65D9B8C9AA51}"/>
              </a:ext>
            </a:extLst>
          </p:cNvPr>
          <p:cNvSpPr txBox="1"/>
          <p:nvPr/>
        </p:nvSpPr>
        <p:spPr>
          <a:xfrm>
            <a:off x="2383604" y="3794596"/>
            <a:ext cx="7674796"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altLang="ja-JP" sz="1500" b="0" i="0" u="none" strike="noStrike" cap="none" dirty="0">
                <a:solidFill>
                  <a:srgbClr val="64748B"/>
                </a:solidFill>
                <a:latin typeface="Noto Sans JP"/>
                <a:ea typeface="Noto Sans JP"/>
                <a:cs typeface="Noto Sans JP"/>
                <a:sym typeface="Noto Sans JP"/>
              </a:rPr>
              <a:t>2026</a:t>
            </a:r>
            <a:r>
              <a:rPr lang="ja-JP" altLang="en-US" sz="1500" b="0" i="0" u="none" strike="noStrike" cap="none" dirty="0">
                <a:solidFill>
                  <a:srgbClr val="64748B"/>
                </a:solidFill>
                <a:latin typeface="Noto Sans JP"/>
                <a:ea typeface="Noto Sans JP"/>
                <a:cs typeface="Noto Sans JP"/>
                <a:sym typeface="Noto Sans JP"/>
              </a:rPr>
              <a:t>年度から</a:t>
            </a:r>
            <a:r>
              <a:rPr lang="en-US" altLang="ja-JP" sz="1500" b="0" i="0" u="none" strike="noStrike" cap="none" dirty="0">
                <a:solidFill>
                  <a:srgbClr val="64748B"/>
                </a:solidFill>
                <a:latin typeface="Noto Sans JP"/>
                <a:ea typeface="Noto Sans JP"/>
                <a:cs typeface="Noto Sans JP"/>
                <a:sym typeface="Noto Sans JP"/>
              </a:rPr>
              <a:t>2027</a:t>
            </a:r>
            <a:r>
              <a:rPr lang="ja-JP" altLang="en-US" sz="1500" b="0" i="0" u="none" strike="noStrike" cap="none" dirty="0">
                <a:solidFill>
                  <a:srgbClr val="64748B"/>
                </a:solidFill>
                <a:latin typeface="Noto Sans JP"/>
                <a:ea typeface="Noto Sans JP"/>
                <a:cs typeface="Noto Sans JP"/>
                <a:sym typeface="Noto Sans JP"/>
              </a:rPr>
              <a:t>年</a:t>
            </a:r>
            <a:r>
              <a:rPr lang="en-US" altLang="ja-JP" sz="1500" b="0" i="0" u="none" strike="noStrike" cap="none" dirty="0">
                <a:solidFill>
                  <a:srgbClr val="64748B"/>
                </a:solidFill>
                <a:latin typeface="Noto Sans JP"/>
                <a:ea typeface="Noto Sans JP"/>
                <a:cs typeface="Noto Sans JP"/>
                <a:sym typeface="Noto Sans JP"/>
              </a:rPr>
              <a:t>3</a:t>
            </a:r>
            <a:r>
              <a:rPr lang="ja-JP" altLang="en-US" sz="1500" b="0" i="0" u="none" strike="noStrike" cap="none" dirty="0">
                <a:solidFill>
                  <a:srgbClr val="64748B"/>
                </a:solidFill>
                <a:latin typeface="Noto Sans JP"/>
                <a:ea typeface="Noto Sans JP"/>
                <a:cs typeface="Noto Sans JP"/>
                <a:sym typeface="Noto Sans JP"/>
              </a:rPr>
              <a:t>月</a:t>
            </a:r>
            <a:r>
              <a:rPr lang="ja-JP" altLang="en-US" sz="1500" b="0" i="0" u="none" strike="noStrike" cap="none">
                <a:solidFill>
                  <a:srgbClr val="64748B"/>
                </a:solidFill>
                <a:latin typeface="Noto Sans JP"/>
                <a:ea typeface="Noto Sans JP"/>
                <a:cs typeface="Noto Sans JP"/>
                <a:sym typeface="Noto Sans JP"/>
              </a:rPr>
              <a:t>にかけたメッキ・検査工程</a:t>
            </a:r>
            <a:r>
              <a:rPr lang="ja-JP" altLang="en-US" sz="1500" b="0" i="0" u="none" strike="noStrike" cap="none" dirty="0">
                <a:solidFill>
                  <a:srgbClr val="64748B"/>
                </a:solidFill>
                <a:latin typeface="Noto Sans JP"/>
                <a:ea typeface="Noto Sans JP"/>
                <a:cs typeface="Noto Sans JP"/>
                <a:sym typeface="Noto Sans JP"/>
              </a:rPr>
              <a:t>の長期シミュレーション予測モデル</a:t>
            </a:r>
            <a:endParaRPr dirty="0"/>
          </a:p>
        </p:txBody>
      </p:sp>
    </p:spTree>
    <p:extLst>
      <p:ext uri="{BB962C8B-B14F-4D97-AF65-F5344CB8AC3E}">
        <p14:creationId xmlns:p14="http://schemas.microsoft.com/office/powerpoint/2010/main" val="284174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グラフ 4">
            <a:extLst>
              <a:ext uri="{FF2B5EF4-FFF2-40B4-BE49-F238E27FC236}">
                <a16:creationId xmlns:a16="http://schemas.microsoft.com/office/drawing/2014/main" id="{FFDCD0D1-A5A6-1787-CAA4-560ED7CDFCBA}"/>
              </a:ext>
            </a:extLst>
          </p:cNvPr>
          <p:cNvGraphicFramePr>
            <a:graphicFrameLocks/>
          </p:cNvGraphicFramePr>
          <p:nvPr>
            <p:extLst>
              <p:ext uri="{D42A27DB-BD31-4B8C-83A1-F6EECF244321}">
                <p14:modId xmlns:p14="http://schemas.microsoft.com/office/powerpoint/2010/main" val="231172963"/>
              </p:ext>
            </p:extLst>
          </p:nvPr>
        </p:nvGraphicFramePr>
        <p:xfrm>
          <a:off x="349321" y="1068512"/>
          <a:ext cx="11496781" cy="3595956"/>
        </p:xfrm>
        <a:graphic>
          <a:graphicData uri="http://schemas.openxmlformats.org/drawingml/2006/chart">
            <c:chart xmlns:c="http://schemas.openxmlformats.org/drawingml/2006/chart" xmlns:r="http://schemas.openxmlformats.org/officeDocument/2006/relationships" r:id="rId3"/>
          </a:graphicData>
        </a:graphic>
      </p:graphicFrame>
      <p:sp>
        <p:nvSpPr>
          <p:cNvPr id="7" name="Google Shape;232;p23">
            <a:extLst>
              <a:ext uri="{FF2B5EF4-FFF2-40B4-BE49-F238E27FC236}">
                <a16:creationId xmlns:a16="http://schemas.microsoft.com/office/drawing/2014/main" id="{E65F915D-C7EF-06E8-160E-74BE89C89B28}"/>
              </a:ext>
            </a:extLst>
          </p:cNvPr>
          <p:cNvSpPr txBox="1"/>
          <p:nvPr/>
        </p:nvSpPr>
        <p:spPr>
          <a:xfrm>
            <a:off x="762000" y="457200"/>
            <a:ext cx="11361420"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altLang="ja-JP" sz="2550" b="1" i="0" u="none" strike="noStrike" cap="none" dirty="0">
                <a:solidFill>
                  <a:srgbClr val="0F172A"/>
                </a:solidFill>
                <a:latin typeface="Noto Sans JP"/>
                <a:ea typeface="Noto Sans JP"/>
                <a:cs typeface="Noto Sans JP"/>
                <a:sym typeface="Noto Sans JP"/>
              </a:rPr>
              <a:t>2026</a:t>
            </a:r>
            <a:r>
              <a:rPr lang="ja-JP" altLang="en-US" sz="2550" b="1" i="0" u="none" strike="noStrike" cap="none" dirty="0">
                <a:solidFill>
                  <a:srgbClr val="0F172A"/>
                </a:solidFill>
                <a:latin typeface="Noto Sans JP"/>
                <a:ea typeface="Noto Sans JP"/>
                <a:cs typeface="Noto Sans JP"/>
                <a:sym typeface="Noto Sans JP"/>
              </a:rPr>
              <a:t>年度 社内</a:t>
            </a:r>
            <a:r>
              <a:rPr lang="ja-JP" altLang="en-US" sz="2550" b="1" i="0" u="none" strike="noStrike" cap="none" dirty="0">
                <a:solidFill>
                  <a:srgbClr val="FF0000"/>
                </a:solidFill>
                <a:latin typeface="Noto Sans JP"/>
                <a:ea typeface="Noto Sans JP"/>
                <a:cs typeface="Noto Sans JP"/>
                <a:sym typeface="Noto Sans JP"/>
              </a:rPr>
              <a:t>メッキ</a:t>
            </a:r>
            <a:r>
              <a:rPr lang="ja-JP" altLang="en-US" sz="2550" b="1" i="0" u="none" strike="noStrike" cap="none" dirty="0">
                <a:solidFill>
                  <a:srgbClr val="0F172A"/>
                </a:solidFill>
                <a:latin typeface="Noto Sans JP"/>
                <a:ea typeface="Noto Sans JP"/>
                <a:cs typeface="Noto Sans JP"/>
                <a:sym typeface="Noto Sans JP"/>
              </a:rPr>
              <a:t>月別生産シミュレーション</a:t>
            </a:r>
            <a:endParaRPr dirty="0"/>
          </a:p>
        </p:txBody>
      </p:sp>
      <p:sp>
        <p:nvSpPr>
          <p:cNvPr id="9" name="Google Shape;233;p23">
            <a:extLst>
              <a:ext uri="{FF2B5EF4-FFF2-40B4-BE49-F238E27FC236}">
                <a16:creationId xmlns:a16="http://schemas.microsoft.com/office/drawing/2014/main" id="{504640AB-9E8E-FFAC-6255-A9BC3A335ADE}"/>
              </a:ext>
            </a:extLst>
          </p:cNvPr>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1" name="テキスト ボックス 10">
            <a:extLst>
              <a:ext uri="{FF2B5EF4-FFF2-40B4-BE49-F238E27FC236}">
                <a16:creationId xmlns:a16="http://schemas.microsoft.com/office/drawing/2014/main" id="{00EDA660-DB4A-7A6B-34D8-34F5DB896083}"/>
              </a:ext>
            </a:extLst>
          </p:cNvPr>
          <p:cNvSpPr txBox="1"/>
          <p:nvPr/>
        </p:nvSpPr>
        <p:spPr>
          <a:xfrm>
            <a:off x="250005" y="5026458"/>
            <a:ext cx="11691990" cy="1526059"/>
          </a:xfrm>
          <a:prstGeom prst="rect">
            <a:avLst/>
          </a:prstGeom>
          <a:noFill/>
        </p:spPr>
        <p:txBody>
          <a:bodyPr wrap="square">
            <a:spAutoFit/>
          </a:bodyPr>
          <a:lstStyle/>
          <a:p>
            <a:pPr>
              <a:spcAft>
                <a:spcPts val="600"/>
              </a:spcAft>
            </a:pPr>
            <a:r>
              <a:rPr lang="ja-JP" altLang="en-US" b="1" dirty="0">
                <a:solidFill>
                  <a:srgbClr val="005088"/>
                </a:solidFill>
                <a:latin typeface="Noto Sans JP" panose="020B0200000000000000" pitchFamily="50" charset="-128"/>
                <a:ea typeface="Noto Sans JP" panose="020B0200000000000000" pitchFamily="50" charset="-128"/>
              </a:rPr>
              <a:t>メッキ</a:t>
            </a:r>
            <a:r>
              <a:rPr lang="ja-JP" altLang="ja-JP" b="1" dirty="0">
                <a:solidFill>
                  <a:srgbClr val="005088"/>
                </a:solidFill>
                <a:latin typeface="Noto Sans JP" panose="020B0200000000000000" pitchFamily="50" charset="-128"/>
                <a:ea typeface="Noto Sans JP" panose="020B0200000000000000" pitchFamily="50" charset="-128"/>
              </a:rPr>
              <a:t>工程シミュレーション分析</a:t>
            </a:r>
          </a:p>
          <a:p>
            <a:pPr algn="l">
              <a:buNone/>
            </a:pPr>
            <a:r>
              <a:rPr lang="ja-JP" altLang="ja-JP" b="1" i="0" dirty="0">
                <a:solidFill>
                  <a:srgbClr val="475569"/>
                </a:solidFill>
                <a:effectLst/>
                <a:latin typeface="Noto Sans JP" panose="020B0200000000000000" pitchFamily="50" charset="-128"/>
                <a:ea typeface="Noto Sans JP" panose="020B0200000000000000" pitchFamily="50" charset="-128"/>
              </a:rPr>
              <a:t>1. 稼働日数の変動対策:</a:t>
            </a:r>
            <a:br>
              <a:rPr lang="ja-JP" altLang="ja-JP" b="0" i="0" dirty="0">
                <a:solidFill>
                  <a:srgbClr val="475569"/>
                </a:solidFill>
                <a:effectLst/>
                <a:latin typeface="Noto Sans JP" panose="020B0200000000000000" pitchFamily="50" charset="-128"/>
                <a:ea typeface="Noto Sans JP" panose="020B0200000000000000" pitchFamily="50" charset="-128"/>
              </a:rPr>
            </a:br>
            <a:r>
              <a:rPr lang="ja-JP" altLang="ja-JP" b="0" i="0" dirty="0">
                <a:solidFill>
                  <a:srgbClr val="475569"/>
                </a:solidFill>
                <a:effectLst/>
                <a:latin typeface="Noto Sans JP" panose="020B0200000000000000" pitchFamily="50" charset="-128"/>
                <a:ea typeface="Noto Sans JP" panose="020B0200000000000000" pitchFamily="50" charset="-128"/>
              </a:rPr>
              <a:t>8月(17日)の短縮操業による製品供給への支障を防ぐため、前月の休日出勤（7月,9月各土曜追加稼働）により事前ビルドアップを計っています。</a:t>
            </a:r>
          </a:p>
          <a:p>
            <a:pPr algn="l">
              <a:spcBef>
                <a:spcPts val="450"/>
              </a:spcBef>
              <a:buNone/>
            </a:pPr>
            <a:r>
              <a:rPr lang="ja-JP" altLang="ja-JP" b="1" i="0" dirty="0">
                <a:solidFill>
                  <a:srgbClr val="475569"/>
                </a:solidFill>
                <a:effectLst/>
                <a:latin typeface="Noto Sans JP" panose="020B0200000000000000" pitchFamily="50" charset="-128"/>
                <a:ea typeface="Noto Sans JP" panose="020B0200000000000000" pitchFamily="50" charset="-128"/>
              </a:rPr>
              <a:t>2. 期末に向けた在庫コントロール:</a:t>
            </a:r>
            <a:br>
              <a:rPr lang="ja-JP" altLang="ja-JP" b="0" i="0" dirty="0">
                <a:solidFill>
                  <a:srgbClr val="475569"/>
                </a:solidFill>
                <a:effectLst/>
                <a:latin typeface="Noto Sans JP" panose="020B0200000000000000" pitchFamily="50" charset="-128"/>
                <a:ea typeface="Noto Sans JP" panose="020B0200000000000000" pitchFamily="50" charset="-128"/>
              </a:rPr>
            </a:br>
            <a:r>
              <a:rPr lang="ja-JP" altLang="ja-JP" b="0" i="0" dirty="0">
                <a:solidFill>
                  <a:srgbClr val="475569"/>
                </a:solidFill>
                <a:effectLst/>
                <a:latin typeface="Noto Sans JP" panose="020B0200000000000000" pitchFamily="50" charset="-128"/>
                <a:ea typeface="Noto Sans JP" panose="020B0200000000000000" pitchFamily="50" charset="-128"/>
              </a:rPr>
              <a:t>需要</a:t>
            </a:r>
            <a:r>
              <a:rPr lang="ja-JP" altLang="en-US" b="0" i="0" dirty="0">
                <a:solidFill>
                  <a:srgbClr val="475569"/>
                </a:solidFill>
                <a:effectLst/>
                <a:latin typeface="Noto Sans JP" panose="020B0200000000000000" pitchFamily="50" charset="-128"/>
                <a:ea typeface="Noto Sans JP" panose="020B0200000000000000" pitchFamily="50" charset="-128"/>
              </a:rPr>
              <a:t>日当たり</a:t>
            </a:r>
            <a:r>
              <a:rPr lang="en-US" altLang="ja-JP" b="0" i="0" dirty="0">
                <a:solidFill>
                  <a:srgbClr val="475569"/>
                </a:solidFill>
                <a:effectLst/>
                <a:latin typeface="Noto Sans JP" panose="020B0200000000000000" pitchFamily="50" charset="-128"/>
                <a:ea typeface="Noto Sans JP" panose="020B0200000000000000" pitchFamily="50" charset="-128"/>
              </a:rPr>
              <a:t>50</a:t>
            </a:r>
            <a:r>
              <a:rPr lang="ja-JP" altLang="en-US" b="0" i="0" dirty="0">
                <a:solidFill>
                  <a:srgbClr val="475569"/>
                </a:solidFill>
                <a:effectLst/>
                <a:latin typeface="Noto Sans JP" panose="020B0200000000000000" pitchFamily="50" charset="-128"/>
                <a:ea typeface="Noto Sans JP" panose="020B0200000000000000" pitchFamily="50" charset="-128"/>
              </a:rPr>
              <a:t>以上が続いて、</a:t>
            </a:r>
            <a:r>
              <a:rPr lang="ja-JP" altLang="en-US" dirty="0">
                <a:solidFill>
                  <a:srgbClr val="475569"/>
                </a:solidFill>
                <a:latin typeface="Noto Sans JP" panose="020B0200000000000000" pitchFamily="50" charset="-128"/>
                <a:ea typeface="Noto Sans JP" panose="020B0200000000000000" pitchFamily="50" charset="-128"/>
              </a:rPr>
              <a:t>社内メッキ</a:t>
            </a:r>
            <a:r>
              <a:rPr lang="en-US" altLang="ja-JP" dirty="0">
                <a:solidFill>
                  <a:srgbClr val="475569"/>
                </a:solidFill>
                <a:latin typeface="Noto Sans JP" panose="020B0200000000000000" pitchFamily="50" charset="-128"/>
                <a:ea typeface="Noto Sans JP" panose="020B0200000000000000" pitchFamily="50" charset="-128"/>
              </a:rPr>
              <a:t>10</a:t>
            </a:r>
            <a:r>
              <a:rPr lang="ja-JP" altLang="en-US" dirty="0">
                <a:solidFill>
                  <a:srgbClr val="475569"/>
                </a:solidFill>
                <a:latin typeface="Noto Sans JP" panose="020B0200000000000000" pitchFamily="50" charset="-128"/>
                <a:ea typeface="Noto Sans JP" panose="020B0200000000000000" pitchFamily="50" charset="-128"/>
              </a:rPr>
              <a:t>月までフル生産、</a:t>
            </a:r>
            <a:r>
              <a:rPr lang="ja-JP" altLang="ja-JP" b="0" i="0" dirty="0">
                <a:solidFill>
                  <a:srgbClr val="475569"/>
                </a:solidFill>
                <a:effectLst/>
                <a:latin typeface="Noto Sans JP" panose="020B0200000000000000" pitchFamily="50" charset="-128"/>
                <a:ea typeface="Noto Sans JP" panose="020B0200000000000000" pitchFamily="50" charset="-128"/>
              </a:rPr>
              <a:t>11月以降、日当たり生産量を</a:t>
            </a:r>
            <a:r>
              <a:rPr lang="ja-JP" altLang="ja-JP" b="1" i="0" dirty="0">
                <a:solidFill>
                  <a:srgbClr val="475569"/>
                </a:solidFill>
                <a:effectLst/>
                <a:latin typeface="Noto Sans JP" panose="020B0200000000000000" pitchFamily="50" charset="-128"/>
                <a:ea typeface="Noto Sans JP" panose="020B0200000000000000" pitchFamily="50" charset="-128"/>
              </a:rPr>
              <a:t>36.9千本 ➡️ 35.5千本</a:t>
            </a:r>
            <a:r>
              <a:rPr lang="ja-JP" altLang="ja-JP" b="0" i="0" dirty="0">
                <a:solidFill>
                  <a:srgbClr val="475569"/>
                </a:solidFill>
                <a:effectLst/>
                <a:latin typeface="Noto Sans JP" panose="020B0200000000000000" pitchFamily="50" charset="-128"/>
                <a:ea typeface="Noto Sans JP" panose="020B0200000000000000" pitchFamily="50" charset="-128"/>
              </a:rPr>
              <a:t>に抑制（減速運転）することで、適正圧縮する計画モデルです。</a:t>
            </a:r>
          </a:p>
        </p:txBody>
      </p:sp>
      <p:sp>
        <p:nvSpPr>
          <p:cNvPr id="15" name="テキスト ボックス 14">
            <a:extLst>
              <a:ext uri="{FF2B5EF4-FFF2-40B4-BE49-F238E27FC236}">
                <a16:creationId xmlns:a16="http://schemas.microsoft.com/office/drawing/2014/main" id="{E831F1DC-2BC6-03B1-222D-543298DB3613}"/>
              </a:ext>
            </a:extLst>
          </p:cNvPr>
          <p:cNvSpPr txBox="1"/>
          <p:nvPr/>
        </p:nvSpPr>
        <p:spPr>
          <a:xfrm>
            <a:off x="5658117" y="3572083"/>
            <a:ext cx="437883" cy="32197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ja-JP" sz="1400" b="1" kern="1200" dirty="0">
                <a:solidFill>
                  <a:srgbClr val="FF0000"/>
                </a:solidFill>
                <a:latin typeface="+mj-ea"/>
                <a:ea typeface="+mj-ea"/>
              </a:rPr>
              <a:t>+2</a:t>
            </a:r>
            <a:endParaRPr lang="ja-JP" altLang="en-US" sz="1400" b="1" kern="1200" dirty="0">
              <a:solidFill>
                <a:srgbClr val="FF0000"/>
              </a:solidFill>
              <a:latin typeface="+mj-ea"/>
              <a:ea typeface="+mj-ea"/>
            </a:endParaRPr>
          </a:p>
        </p:txBody>
      </p:sp>
      <p:sp>
        <p:nvSpPr>
          <p:cNvPr id="17" name="テキスト ボックス 16">
            <a:extLst>
              <a:ext uri="{FF2B5EF4-FFF2-40B4-BE49-F238E27FC236}">
                <a16:creationId xmlns:a16="http://schemas.microsoft.com/office/drawing/2014/main" id="{FBD731C5-A6B0-F721-D7CF-2DE7067C4BF2}"/>
              </a:ext>
            </a:extLst>
          </p:cNvPr>
          <p:cNvSpPr txBox="1"/>
          <p:nvPr/>
        </p:nvSpPr>
        <p:spPr>
          <a:xfrm>
            <a:off x="4063910" y="3572083"/>
            <a:ext cx="437883" cy="32197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ja-JP" sz="1400" b="1" kern="1200" dirty="0">
                <a:solidFill>
                  <a:srgbClr val="FF0000"/>
                </a:solidFill>
                <a:latin typeface="+mj-ea"/>
                <a:ea typeface="+mj-ea"/>
              </a:rPr>
              <a:t>+1</a:t>
            </a:r>
            <a:endParaRPr lang="ja-JP" altLang="en-US" sz="1400" b="1" kern="1200" dirty="0">
              <a:solidFill>
                <a:srgbClr val="FF0000"/>
              </a:solidFill>
              <a:latin typeface="+mj-ea"/>
              <a:ea typeface="+mj-ea"/>
            </a:endParaRPr>
          </a:p>
        </p:txBody>
      </p:sp>
      <p:sp>
        <p:nvSpPr>
          <p:cNvPr id="19" name="テキスト ボックス 18">
            <a:extLst>
              <a:ext uri="{FF2B5EF4-FFF2-40B4-BE49-F238E27FC236}">
                <a16:creationId xmlns:a16="http://schemas.microsoft.com/office/drawing/2014/main" id="{F049D752-C389-9388-C7F5-02AD81CEA388}"/>
              </a:ext>
            </a:extLst>
          </p:cNvPr>
          <p:cNvSpPr txBox="1"/>
          <p:nvPr/>
        </p:nvSpPr>
        <p:spPr>
          <a:xfrm>
            <a:off x="3266807" y="3572083"/>
            <a:ext cx="437883" cy="32197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ja-JP" sz="1400" b="1" kern="1200" dirty="0">
                <a:solidFill>
                  <a:srgbClr val="FF0000"/>
                </a:solidFill>
                <a:latin typeface="+mj-ea"/>
                <a:ea typeface="+mj-ea"/>
              </a:rPr>
              <a:t>+1</a:t>
            </a:r>
            <a:endParaRPr lang="ja-JP" altLang="en-US" sz="1400" b="1" kern="1200" dirty="0">
              <a:solidFill>
                <a:srgbClr val="FF0000"/>
              </a:solidFill>
              <a:latin typeface="+mj-ea"/>
              <a:ea typeface="+mj-ea"/>
            </a:endParaRPr>
          </a:p>
        </p:txBody>
      </p:sp>
      <p:sp>
        <p:nvSpPr>
          <p:cNvPr id="21" name="テキスト ボックス 20">
            <a:extLst>
              <a:ext uri="{FF2B5EF4-FFF2-40B4-BE49-F238E27FC236}">
                <a16:creationId xmlns:a16="http://schemas.microsoft.com/office/drawing/2014/main" id="{DB99E6B3-A703-CEE5-0E84-2F81D5DA9F6E}"/>
              </a:ext>
            </a:extLst>
          </p:cNvPr>
          <p:cNvSpPr txBox="1"/>
          <p:nvPr/>
        </p:nvSpPr>
        <p:spPr>
          <a:xfrm>
            <a:off x="1637497" y="3572083"/>
            <a:ext cx="437883" cy="32197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ja-JP" sz="1400" b="1" kern="1200" dirty="0">
                <a:solidFill>
                  <a:srgbClr val="FF0000"/>
                </a:solidFill>
                <a:latin typeface="+mj-ea"/>
                <a:ea typeface="+mj-ea"/>
              </a:rPr>
              <a:t>+1</a:t>
            </a:r>
            <a:endParaRPr lang="ja-JP" altLang="en-US" sz="1400" b="1" kern="1200" dirty="0">
              <a:solidFill>
                <a:srgbClr val="FF0000"/>
              </a:solidFill>
              <a:latin typeface="+mj-ea"/>
              <a:ea typeface="+mj-ea"/>
            </a:endParaRPr>
          </a:p>
        </p:txBody>
      </p:sp>
    </p:spTree>
    <p:extLst>
      <p:ext uri="{BB962C8B-B14F-4D97-AF65-F5344CB8AC3E}">
        <p14:creationId xmlns:p14="http://schemas.microsoft.com/office/powerpoint/2010/main" val="3267899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3C2C8-A75F-CBB5-2CAC-4D7D2C32A9D7}"/>
            </a:ext>
          </a:extLst>
        </p:cNvPr>
        <p:cNvGrpSpPr/>
        <p:nvPr/>
      </p:nvGrpSpPr>
      <p:grpSpPr>
        <a:xfrm>
          <a:off x="0" y="0"/>
          <a:ext cx="0" cy="0"/>
          <a:chOff x="0" y="0"/>
          <a:chExt cx="0" cy="0"/>
        </a:xfrm>
      </p:grpSpPr>
      <p:graphicFrame>
        <p:nvGraphicFramePr>
          <p:cNvPr id="3" name="グラフ 2">
            <a:extLst>
              <a:ext uri="{FF2B5EF4-FFF2-40B4-BE49-F238E27FC236}">
                <a16:creationId xmlns:a16="http://schemas.microsoft.com/office/drawing/2014/main" id="{1420B64E-B541-FCDC-1F1D-34D389624890}"/>
              </a:ext>
            </a:extLst>
          </p:cNvPr>
          <p:cNvGraphicFramePr>
            <a:graphicFrameLocks/>
          </p:cNvGraphicFramePr>
          <p:nvPr>
            <p:extLst>
              <p:ext uri="{D42A27DB-BD31-4B8C-83A1-F6EECF244321}">
                <p14:modId xmlns:p14="http://schemas.microsoft.com/office/powerpoint/2010/main" val="2830823140"/>
              </p:ext>
            </p:extLst>
          </p:nvPr>
        </p:nvGraphicFramePr>
        <p:xfrm>
          <a:off x="331903" y="987002"/>
          <a:ext cx="11610092" cy="3513080"/>
        </p:xfrm>
        <a:graphic>
          <a:graphicData uri="http://schemas.openxmlformats.org/drawingml/2006/chart">
            <c:chart xmlns:c="http://schemas.openxmlformats.org/drawingml/2006/chart" xmlns:r="http://schemas.openxmlformats.org/officeDocument/2006/relationships" r:id="rId3"/>
          </a:graphicData>
        </a:graphic>
      </p:graphicFrame>
      <p:sp>
        <p:nvSpPr>
          <p:cNvPr id="7" name="Google Shape;232;p23">
            <a:extLst>
              <a:ext uri="{FF2B5EF4-FFF2-40B4-BE49-F238E27FC236}">
                <a16:creationId xmlns:a16="http://schemas.microsoft.com/office/drawing/2014/main" id="{1373C257-230E-A447-DA90-46B3BF138EEE}"/>
              </a:ext>
            </a:extLst>
          </p:cNvPr>
          <p:cNvSpPr txBox="1"/>
          <p:nvPr/>
        </p:nvSpPr>
        <p:spPr>
          <a:xfrm>
            <a:off x="762000" y="457200"/>
            <a:ext cx="11361420"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altLang="ja-JP" sz="2550" b="1" i="0" u="none" strike="noStrike" cap="none" dirty="0">
                <a:solidFill>
                  <a:srgbClr val="0F172A"/>
                </a:solidFill>
                <a:latin typeface="Noto Sans JP"/>
                <a:ea typeface="Noto Sans JP"/>
                <a:cs typeface="Noto Sans JP"/>
                <a:sym typeface="Noto Sans JP"/>
              </a:rPr>
              <a:t>2026</a:t>
            </a:r>
            <a:r>
              <a:rPr lang="ja-JP" altLang="en-US" sz="2550" b="1" i="0" u="none" strike="noStrike" cap="none" dirty="0">
                <a:solidFill>
                  <a:srgbClr val="0F172A"/>
                </a:solidFill>
                <a:latin typeface="Noto Sans JP"/>
                <a:ea typeface="Noto Sans JP"/>
                <a:cs typeface="Noto Sans JP"/>
                <a:sym typeface="Noto Sans JP"/>
              </a:rPr>
              <a:t>年度 社内</a:t>
            </a:r>
            <a:r>
              <a:rPr lang="ja-JP" altLang="en-US" sz="2550" b="1" i="0" u="none" strike="noStrike" cap="none" dirty="0">
                <a:solidFill>
                  <a:srgbClr val="FF0000"/>
                </a:solidFill>
                <a:latin typeface="Noto Sans JP"/>
                <a:ea typeface="Noto Sans JP"/>
                <a:cs typeface="Noto Sans JP"/>
                <a:sym typeface="Noto Sans JP"/>
              </a:rPr>
              <a:t>検査</a:t>
            </a:r>
            <a:r>
              <a:rPr lang="ja-JP" altLang="en-US" sz="2550" b="1" i="0" u="none" strike="noStrike" cap="none" dirty="0">
                <a:solidFill>
                  <a:srgbClr val="0F172A"/>
                </a:solidFill>
                <a:latin typeface="Noto Sans JP"/>
                <a:ea typeface="Noto Sans JP"/>
                <a:cs typeface="Noto Sans JP"/>
                <a:sym typeface="Noto Sans JP"/>
              </a:rPr>
              <a:t>月別生産シミュレーション</a:t>
            </a:r>
            <a:endParaRPr dirty="0"/>
          </a:p>
        </p:txBody>
      </p:sp>
      <p:sp>
        <p:nvSpPr>
          <p:cNvPr id="9" name="Google Shape;233;p23">
            <a:extLst>
              <a:ext uri="{FF2B5EF4-FFF2-40B4-BE49-F238E27FC236}">
                <a16:creationId xmlns:a16="http://schemas.microsoft.com/office/drawing/2014/main" id="{95B38A92-410B-7D11-F7E3-7D3D2E016CD8}"/>
              </a:ext>
            </a:extLst>
          </p:cNvPr>
          <p:cNvSpPr/>
          <p:nvPr/>
        </p:nvSpPr>
        <p:spPr>
          <a:xfrm>
            <a:off x="609600" y="457200"/>
            <a:ext cx="57150" cy="38859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6" name="テキスト ボックス 5">
            <a:extLst>
              <a:ext uri="{FF2B5EF4-FFF2-40B4-BE49-F238E27FC236}">
                <a16:creationId xmlns:a16="http://schemas.microsoft.com/office/drawing/2014/main" id="{678C7026-7DD2-2EA6-66A5-F6527C57EA0F}"/>
              </a:ext>
            </a:extLst>
          </p:cNvPr>
          <p:cNvSpPr txBox="1"/>
          <p:nvPr/>
        </p:nvSpPr>
        <p:spPr>
          <a:xfrm>
            <a:off x="290954" y="4874741"/>
            <a:ext cx="11610092" cy="1526059"/>
          </a:xfrm>
          <a:prstGeom prst="rect">
            <a:avLst/>
          </a:prstGeom>
          <a:noFill/>
        </p:spPr>
        <p:txBody>
          <a:bodyPr wrap="square">
            <a:spAutoFit/>
          </a:bodyPr>
          <a:lstStyle/>
          <a:p>
            <a:pPr algn="l">
              <a:spcAft>
                <a:spcPts val="600"/>
              </a:spcAft>
              <a:buNone/>
            </a:pPr>
            <a:r>
              <a:rPr lang="ja-JP" altLang="ja-JP" b="1" i="0" dirty="0">
                <a:solidFill>
                  <a:srgbClr val="005088"/>
                </a:solidFill>
                <a:effectLst/>
                <a:latin typeface="Noto Sans JP" panose="020B0200000000000000" pitchFamily="50" charset="-128"/>
                <a:ea typeface="Noto Sans JP" panose="020B0200000000000000" pitchFamily="50" charset="-128"/>
              </a:rPr>
              <a:t>検査工程シミュレーション分析</a:t>
            </a:r>
          </a:p>
          <a:p>
            <a:pPr algn="l">
              <a:buNone/>
            </a:pPr>
            <a:r>
              <a:rPr lang="ja-JP" altLang="ja-JP" b="1" i="0" dirty="0">
                <a:solidFill>
                  <a:srgbClr val="475569"/>
                </a:solidFill>
                <a:effectLst/>
                <a:latin typeface="Noto Sans JP" panose="020B0200000000000000" pitchFamily="50" charset="-128"/>
                <a:ea typeface="Noto Sans JP" panose="020B0200000000000000" pitchFamily="50" charset="-128"/>
              </a:rPr>
              <a:t>1. ボトルネックの平準化:</a:t>
            </a:r>
            <a:br>
              <a:rPr lang="ja-JP" altLang="ja-JP" b="0" i="0" dirty="0">
                <a:solidFill>
                  <a:srgbClr val="475569"/>
                </a:solidFill>
                <a:effectLst/>
                <a:latin typeface="Noto Sans JP" panose="020B0200000000000000" pitchFamily="50" charset="-128"/>
                <a:ea typeface="Noto Sans JP" panose="020B0200000000000000" pitchFamily="50" charset="-128"/>
              </a:rPr>
            </a:br>
            <a:r>
              <a:rPr lang="ja-JP" altLang="ja-JP" b="0" i="0" dirty="0">
                <a:solidFill>
                  <a:srgbClr val="475569"/>
                </a:solidFill>
                <a:effectLst/>
                <a:latin typeface="Noto Sans JP" panose="020B0200000000000000" pitchFamily="50" charset="-128"/>
                <a:ea typeface="Noto Sans JP" panose="020B0200000000000000" pitchFamily="50" charset="-128"/>
              </a:rPr>
              <a:t>7月・9月は日当たり検査量ピーク（</a:t>
            </a:r>
            <a:r>
              <a:rPr lang="ja-JP" altLang="ja-JP" b="1" i="0" dirty="0">
                <a:solidFill>
                  <a:srgbClr val="475569"/>
                </a:solidFill>
                <a:effectLst/>
                <a:latin typeface="Noto Sans JP" panose="020B0200000000000000" pitchFamily="50" charset="-128"/>
                <a:ea typeface="Noto Sans JP" panose="020B0200000000000000" pitchFamily="50" charset="-128"/>
              </a:rPr>
              <a:t>47.2千本/日</a:t>
            </a:r>
            <a:r>
              <a:rPr lang="ja-JP" altLang="ja-JP" b="0" i="0" dirty="0">
                <a:solidFill>
                  <a:srgbClr val="475569"/>
                </a:solidFill>
                <a:effectLst/>
                <a:latin typeface="Noto Sans JP" panose="020B0200000000000000" pitchFamily="50" charset="-128"/>
                <a:ea typeface="Noto Sans JP" panose="020B0200000000000000" pitchFamily="50" charset="-128"/>
              </a:rPr>
              <a:t>）となります。検査員（11人、標準能率540本/H）の適切な配置とシフト最適化により過度な残業を防止します。</a:t>
            </a:r>
          </a:p>
          <a:p>
            <a:pPr algn="l">
              <a:spcBef>
                <a:spcPts val="450"/>
              </a:spcBef>
              <a:buNone/>
            </a:pPr>
            <a:r>
              <a:rPr lang="ja-JP" altLang="ja-JP" b="1" i="0" dirty="0">
                <a:solidFill>
                  <a:srgbClr val="475569"/>
                </a:solidFill>
                <a:effectLst/>
                <a:latin typeface="Noto Sans JP" panose="020B0200000000000000" pitchFamily="50" charset="-128"/>
                <a:ea typeface="Noto Sans JP" panose="020B0200000000000000" pitchFamily="50" charset="-128"/>
              </a:rPr>
              <a:t>2. 遅延ゼロと在庫健全化:</a:t>
            </a:r>
            <a:br>
              <a:rPr lang="ja-JP" altLang="ja-JP" b="0" i="0" dirty="0">
                <a:solidFill>
                  <a:srgbClr val="475569"/>
                </a:solidFill>
                <a:effectLst/>
                <a:latin typeface="Noto Sans JP" panose="020B0200000000000000" pitchFamily="50" charset="-128"/>
                <a:ea typeface="Noto Sans JP" panose="020B0200000000000000" pitchFamily="50" charset="-128"/>
              </a:rPr>
            </a:br>
            <a:r>
              <a:rPr lang="ja-JP" altLang="ja-JP" b="0" i="0" dirty="0">
                <a:solidFill>
                  <a:srgbClr val="475569"/>
                </a:solidFill>
                <a:effectLst/>
                <a:latin typeface="Noto Sans JP" panose="020B0200000000000000" pitchFamily="50" charset="-128"/>
                <a:ea typeface="Noto Sans JP" panose="020B0200000000000000" pitchFamily="50" charset="-128"/>
              </a:rPr>
              <a:t>11月以降、日当たり検査量を</a:t>
            </a:r>
            <a:r>
              <a:rPr lang="ja-JP" altLang="ja-JP" b="1" i="0" dirty="0">
                <a:solidFill>
                  <a:srgbClr val="475569"/>
                </a:solidFill>
                <a:effectLst/>
                <a:latin typeface="Noto Sans JP" panose="020B0200000000000000" pitchFamily="50" charset="-128"/>
                <a:ea typeface="Noto Sans JP" panose="020B0200000000000000" pitchFamily="50" charset="-128"/>
              </a:rPr>
              <a:t>43.0千本/日</a:t>
            </a:r>
            <a:r>
              <a:rPr lang="ja-JP" altLang="ja-JP" b="0" i="0" dirty="0">
                <a:solidFill>
                  <a:srgbClr val="475569"/>
                </a:solidFill>
                <a:effectLst/>
                <a:latin typeface="Noto Sans JP" panose="020B0200000000000000" pitchFamily="50" charset="-128"/>
                <a:ea typeface="Noto Sans JP" panose="020B0200000000000000" pitchFamily="50" charset="-128"/>
              </a:rPr>
              <a:t>へ減速調整し、期末には</a:t>
            </a:r>
            <a:r>
              <a:rPr lang="ja-JP" altLang="ja-JP" b="1" i="0" dirty="0">
                <a:solidFill>
                  <a:srgbClr val="475569"/>
                </a:solidFill>
                <a:effectLst/>
                <a:latin typeface="Noto Sans JP" panose="020B0200000000000000" pitchFamily="50" charset="-128"/>
                <a:ea typeface="Noto Sans JP" panose="020B0200000000000000" pitchFamily="50" charset="-128"/>
              </a:rPr>
              <a:t>420.3千本</a:t>
            </a:r>
            <a:r>
              <a:rPr lang="ja-JP" altLang="ja-JP" b="0" i="0" dirty="0">
                <a:solidFill>
                  <a:srgbClr val="475569"/>
                </a:solidFill>
                <a:effectLst/>
                <a:latin typeface="Noto Sans JP" panose="020B0200000000000000" pitchFamily="50" charset="-128"/>
                <a:ea typeface="Noto Sans JP" panose="020B0200000000000000" pitchFamily="50" charset="-128"/>
              </a:rPr>
              <a:t>の適正安全在庫水準で綺麗に着地させる計画です。</a:t>
            </a:r>
          </a:p>
        </p:txBody>
      </p:sp>
    </p:spTree>
    <p:extLst>
      <p:ext uri="{BB962C8B-B14F-4D97-AF65-F5344CB8AC3E}">
        <p14:creationId xmlns:p14="http://schemas.microsoft.com/office/powerpoint/2010/main" val="4171780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1A6FC9E7-DA4B-CC61-C48A-49AB0B707B92}"/>
            </a:ext>
          </a:extLst>
        </p:cNvPr>
        <p:cNvGrpSpPr/>
        <p:nvPr/>
      </p:nvGrpSpPr>
      <p:grpSpPr>
        <a:xfrm>
          <a:off x="0" y="0"/>
          <a:ext cx="0" cy="0"/>
          <a:chOff x="0" y="0"/>
          <a:chExt cx="0" cy="0"/>
        </a:xfrm>
      </p:grpSpPr>
      <p:pic>
        <p:nvPicPr>
          <p:cNvPr id="218" name="Google Shape;218;p22" descr="image.png">
            <a:extLst>
              <a:ext uri="{FF2B5EF4-FFF2-40B4-BE49-F238E27FC236}">
                <a16:creationId xmlns:a16="http://schemas.microsoft.com/office/drawing/2014/main" id="{874C3DF4-F5B8-4362-5199-49B3A208741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9" name="Google Shape;219;p22">
            <a:extLst>
              <a:ext uri="{FF2B5EF4-FFF2-40B4-BE49-F238E27FC236}">
                <a16:creationId xmlns:a16="http://schemas.microsoft.com/office/drawing/2014/main" id="{CA4CFE81-0956-2C9E-3E54-F52FB966EF95}"/>
              </a:ext>
            </a:extLst>
          </p:cNvPr>
          <p:cNvSpPr/>
          <p:nvPr/>
        </p:nvSpPr>
        <p:spPr>
          <a:xfrm>
            <a:off x="5715000" y="2805112"/>
            <a:ext cx="762000" cy="38100"/>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220" name="Google Shape;220;p22">
            <a:extLst>
              <a:ext uri="{FF2B5EF4-FFF2-40B4-BE49-F238E27FC236}">
                <a16:creationId xmlns:a16="http://schemas.microsoft.com/office/drawing/2014/main" id="{235B1BFE-FF69-097B-B625-409248751D12}"/>
              </a:ext>
            </a:extLst>
          </p:cNvPr>
          <p:cNvSpPr txBox="1"/>
          <p:nvPr/>
        </p:nvSpPr>
        <p:spPr>
          <a:xfrm>
            <a:off x="2599362" y="3071812"/>
            <a:ext cx="6678202"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005088"/>
                </a:solidFill>
                <a:latin typeface="Noto Sans JP"/>
                <a:ea typeface="Noto Sans JP"/>
                <a:cs typeface="Noto Sans JP"/>
                <a:sym typeface="Noto Sans JP"/>
              </a:rPr>
              <a:t>PART 05.</a:t>
            </a:r>
            <a:r>
              <a:rPr lang="ja-JP" altLang="en-US" sz="3600" b="1" i="0" u="none" strike="noStrike" cap="none" dirty="0">
                <a:solidFill>
                  <a:srgbClr val="005088"/>
                </a:solidFill>
                <a:latin typeface="Noto Sans JP"/>
                <a:ea typeface="Noto Sans JP"/>
                <a:cs typeface="Noto Sans JP"/>
                <a:sym typeface="Noto Sans JP"/>
              </a:rPr>
              <a:t>その他連絡事項</a:t>
            </a:r>
            <a:endParaRPr dirty="0"/>
          </a:p>
        </p:txBody>
      </p:sp>
      <p:sp>
        <p:nvSpPr>
          <p:cNvPr id="7" name="Google Shape;221;p22">
            <a:extLst>
              <a:ext uri="{FF2B5EF4-FFF2-40B4-BE49-F238E27FC236}">
                <a16:creationId xmlns:a16="http://schemas.microsoft.com/office/drawing/2014/main" id="{DDDA2C8C-9A03-508D-4E37-B0F6A9890110}"/>
              </a:ext>
            </a:extLst>
          </p:cNvPr>
          <p:cNvSpPr txBox="1"/>
          <p:nvPr/>
        </p:nvSpPr>
        <p:spPr>
          <a:xfrm>
            <a:off x="2383604" y="3794596"/>
            <a:ext cx="7315200"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ja-JP" altLang="en-US" sz="1500" b="0" i="0" u="none" strike="noStrike" cap="none">
                <a:solidFill>
                  <a:srgbClr val="64748B"/>
                </a:solidFill>
                <a:latin typeface="Noto Sans JP"/>
                <a:ea typeface="Noto Sans JP"/>
                <a:cs typeface="Noto Sans JP"/>
                <a:sym typeface="Noto Sans JP"/>
              </a:rPr>
              <a:t>各工程の実績収集方法、在庫</a:t>
            </a:r>
            <a:r>
              <a:rPr lang="ja-JP" altLang="en-US" sz="1500" b="0" i="0" u="none" strike="noStrike" cap="none" dirty="0">
                <a:solidFill>
                  <a:srgbClr val="64748B"/>
                </a:solidFill>
                <a:latin typeface="Noto Sans JP"/>
                <a:ea typeface="Noto Sans JP"/>
                <a:cs typeface="Noto Sans JP"/>
                <a:sym typeface="Noto Sans JP"/>
              </a:rPr>
              <a:t>管理精度向上のため</a:t>
            </a:r>
            <a:r>
              <a:rPr lang="ja-JP" altLang="en-US" sz="1500" b="0" i="0" u="none" strike="noStrike" cap="none">
                <a:solidFill>
                  <a:srgbClr val="64748B"/>
                </a:solidFill>
                <a:latin typeface="Noto Sans JP"/>
                <a:ea typeface="Noto Sans JP"/>
                <a:cs typeface="Noto Sans JP"/>
                <a:sym typeface="Noto Sans JP"/>
              </a:rPr>
              <a:t>の改善</a:t>
            </a:r>
            <a:endParaRPr lang="ja-JP" altLang="en-US" sz="1500" b="0" i="0" u="none" strike="noStrike" cap="none" dirty="0">
              <a:solidFill>
                <a:srgbClr val="64748B"/>
              </a:solidFill>
              <a:latin typeface="Noto Sans JP"/>
              <a:ea typeface="Noto Sans JP"/>
              <a:cs typeface="Noto Sans JP"/>
              <a:sym typeface="Noto Sans JP"/>
            </a:endParaRPr>
          </a:p>
        </p:txBody>
      </p:sp>
    </p:spTree>
    <p:extLst>
      <p:ext uri="{BB962C8B-B14F-4D97-AF65-F5344CB8AC3E}">
        <p14:creationId xmlns:p14="http://schemas.microsoft.com/office/powerpoint/2010/main" val="1818736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0287000" y="-952500"/>
            <a:ext cx="2857500" cy="2857500"/>
          </a:xfrm>
          <a:prstGeom prst="rect">
            <a:avLst/>
          </a:prstGeom>
          <a:noFill/>
          <a:ln>
            <a:noFill/>
          </a:ln>
        </p:spPr>
      </p:pic>
      <p:sp>
        <p:nvSpPr>
          <p:cNvPr id="86" name="Google Shape;86;p13"/>
          <p:cNvSpPr txBox="1"/>
          <p:nvPr/>
        </p:nvSpPr>
        <p:spPr>
          <a:xfrm>
            <a:off x="1915477" y="2244179"/>
            <a:ext cx="8361045" cy="1386780"/>
          </a:xfrm>
          <a:prstGeom prst="rect">
            <a:avLst/>
          </a:prstGeom>
          <a:noFill/>
          <a:ln>
            <a:noFill/>
          </a:ln>
        </p:spPr>
        <p:txBody>
          <a:bodyPr spcFirstLastPara="1" wrap="square" lIns="0" tIns="0" rIns="0" bIns="0" anchor="t" anchorCtr="0">
            <a:spAutoFit/>
          </a:bodyPr>
          <a:lstStyle/>
          <a:p>
            <a:pPr marL="0" marR="0" lvl="0" indent="0" algn="ctr" rtl="0">
              <a:lnSpc>
                <a:spcPct val="139974"/>
              </a:lnSpc>
              <a:spcBef>
                <a:spcPts val="0"/>
              </a:spcBef>
              <a:spcAft>
                <a:spcPts val="0"/>
              </a:spcAft>
              <a:buNone/>
            </a:pPr>
            <a:r>
              <a:rPr lang="en-US" sz="3900" b="1" i="0" u="none" strike="noStrike" cap="none" dirty="0">
                <a:solidFill>
                  <a:srgbClr val="FFFFFF"/>
                </a:solidFill>
                <a:latin typeface="Noto Sans JP"/>
                <a:ea typeface="Noto Sans JP"/>
                <a:cs typeface="Noto Sans JP"/>
                <a:sym typeface="Noto Sans JP"/>
              </a:rPr>
              <a:t>実績修正データ分析に基づく</a:t>
            </a:r>
            <a:br>
              <a:rPr lang="en-US" sz="1800" b="0" i="0" u="none" strike="noStrike" cap="none" dirty="0">
                <a:solidFill>
                  <a:schemeClr val="dk1"/>
                </a:solidFill>
                <a:latin typeface="Calibri"/>
                <a:ea typeface="Calibri"/>
                <a:cs typeface="Calibri"/>
                <a:sym typeface="Calibri"/>
              </a:rPr>
            </a:br>
            <a:r>
              <a:rPr lang="en-US" sz="3900" b="1" i="0" u="none" strike="noStrike" cap="none" dirty="0">
                <a:solidFill>
                  <a:srgbClr val="FFFFFF"/>
                </a:solidFill>
                <a:latin typeface="Noto Sans JP"/>
                <a:ea typeface="Noto Sans JP"/>
                <a:cs typeface="Noto Sans JP"/>
                <a:sym typeface="Noto Sans JP"/>
              </a:rPr>
              <a:t> 在庫管理精度向上のための改善提案</a:t>
            </a:r>
            <a:endParaRPr dirty="0"/>
          </a:p>
        </p:txBody>
      </p:sp>
      <p:sp>
        <p:nvSpPr>
          <p:cNvPr id="87" name="Google Shape;87;p13"/>
          <p:cNvSpPr txBox="1"/>
          <p:nvPr/>
        </p:nvSpPr>
        <p:spPr>
          <a:xfrm>
            <a:off x="3037284" y="4069109"/>
            <a:ext cx="6117282"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CBD5E1"/>
                </a:solidFill>
                <a:latin typeface="Noto Sans JP"/>
                <a:ea typeface="Noto Sans JP"/>
                <a:cs typeface="Noto Sans JP"/>
                <a:sym typeface="Noto Sans JP"/>
              </a:rPr>
              <a:t>〜 メッキ・検査工程におけるボトルネック特定と抜本的対策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txBox="1"/>
          <p:nvPr/>
        </p:nvSpPr>
        <p:spPr>
          <a:xfrm>
            <a:off x="723900" y="476250"/>
            <a:ext cx="11441430" cy="42088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6月度実績：修正比率の微減と件数増加の乖離</a:t>
            </a:r>
            <a:endParaRPr dirty="0"/>
          </a:p>
        </p:txBody>
      </p:sp>
      <p:sp>
        <p:nvSpPr>
          <p:cNvPr id="95" name="Google Shape;95;p14"/>
          <p:cNvSpPr/>
          <p:nvPr/>
        </p:nvSpPr>
        <p:spPr>
          <a:xfrm>
            <a:off x="571500" y="476250"/>
            <a:ext cx="57150" cy="420885"/>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96" name="Google Shape;96;p14"/>
          <p:cNvSpPr txBox="1"/>
          <p:nvPr/>
        </p:nvSpPr>
        <p:spPr>
          <a:xfrm>
            <a:off x="571500" y="2606129"/>
            <a:ext cx="5550693"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F172A"/>
                </a:solidFill>
                <a:latin typeface="Noto Sans JP"/>
                <a:ea typeface="Noto Sans JP"/>
                <a:cs typeface="Noto Sans JP"/>
                <a:sym typeface="Noto Sans JP"/>
              </a:rPr>
              <a:t>データ精度低下が招く生産リスクの可視化</a:t>
            </a:r>
            <a:endParaRPr dirty="0"/>
          </a:p>
        </p:txBody>
      </p:sp>
      <p:sp>
        <p:nvSpPr>
          <p:cNvPr id="97" name="Google Shape;97;p14"/>
          <p:cNvSpPr txBox="1"/>
          <p:nvPr/>
        </p:nvSpPr>
        <p:spPr>
          <a:xfrm>
            <a:off x="838200" y="3130004"/>
            <a:ext cx="501967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6月度実績集計件数：</a:t>
            </a:r>
            <a:r>
              <a:rPr lang="en-US" sz="1200" b="0" i="0" u="none" strike="noStrike" cap="none" dirty="0">
                <a:solidFill>
                  <a:srgbClr val="475569"/>
                </a:solidFill>
                <a:latin typeface="Noto Sans JP"/>
                <a:ea typeface="Noto Sans JP"/>
                <a:cs typeface="Noto Sans JP"/>
                <a:sym typeface="Noto Sans JP"/>
              </a:rPr>
              <a:t> 3,884件に対し、実績修正数は </a:t>
            </a:r>
            <a:r>
              <a:rPr lang="en-US" sz="1200" b="1" i="0" u="none" strike="noStrike" cap="none" dirty="0">
                <a:solidFill>
                  <a:srgbClr val="C2410C"/>
                </a:solidFill>
                <a:latin typeface="Noto Sans JP"/>
                <a:ea typeface="Noto Sans JP"/>
                <a:cs typeface="Noto Sans JP"/>
                <a:sym typeface="Noto Sans JP"/>
              </a:rPr>
              <a:t>221件</a:t>
            </a:r>
            <a:endParaRPr dirty="0"/>
          </a:p>
        </p:txBody>
      </p:sp>
      <p:sp>
        <p:nvSpPr>
          <p:cNvPr id="98" name="Google Shape;98;p14"/>
          <p:cNvSpPr txBox="1"/>
          <p:nvPr/>
        </p:nvSpPr>
        <p:spPr>
          <a:xfrm>
            <a:off x="838200" y="3526184"/>
            <a:ext cx="501967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全体の修正比率：</a:t>
            </a:r>
            <a:r>
              <a:rPr lang="en-US" sz="1200" b="0" i="0" u="none" strike="noStrike" cap="none" dirty="0">
                <a:solidFill>
                  <a:srgbClr val="475569"/>
                </a:solidFill>
                <a:latin typeface="Noto Sans JP"/>
                <a:ea typeface="Noto Sans JP"/>
                <a:cs typeface="Noto Sans JP"/>
                <a:sym typeface="Noto Sans JP"/>
              </a:rPr>
              <a:t> 5.4%（前月比 -0.5pt）と全体では微減傾向</a:t>
            </a:r>
            <a:endParaRPr dirty="0"/>
          </a:p>
        </p:txBody>
      </p:sp>
      <p:sp>
        <p:nvSpPr>
          <p:cNvPr id="99" name="Google Shape;99;p14"/>
          <p:cNvSpPr txBox="1"/>
          <p:nvPr/>
        </p:nvSpPr>
        <p:spPr>
          <a:xfrm>
            <a:off x="838200" y="3922365"/>
            <a:ext cx="501967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修正件数自体の増加：</a:t>
            </a:r>
            <a:r>
              <a:rPr lang="en-US" sz="1200" b="0" i="0" u="none" strike="noStrike" cap="none" dirty="0">
                <a:solidFill>
                  <a:srgbClr val="475569"/>
                </a:solidFill>
                <a:latin typeface="Noto Sans JP"/>
                <a:ea typeface="Noto Sans JP"/>
                <a:cs typeface="Noto Sans JP"/>
                <a:sym typeface="Noto Sans JP"/>
              </a:rPr>
              <a:t> 前月比 </a:t>
            </a:r>
            <a:r>
              <a:rPr lang="en-US" sz="1200" b="1" i="0" u="none" strike="noStrike" cap="none" dirty="0">
                <a:solidFill>
                  <a:srgbClr val="C2410C"/>
                </a:solidFill>
                <a:latin typeface="Noto Sans JP"/>
                <a:ea typeface="Noto Sans JP"/>
                <a:cs typeface="Noto Sans JP"/>
                <a:sym typeface="Noto Sans JP"/>
              </a:rPr>
              <a:t>+12.8%</a:t>
            </a:r>
            <a:r>
              <a:rPr lang="en-US" sz="1200" b="0" i="0" u="none" strike="noStrike" cap="none" dirty="0">
                <a:solidFill>
                  <a:srgbClr val="475569"/>
                </a:solidFill>
                <a:latin typeface="Noto Sans JP"/>
                <a:ea typeface="Noto Sans JP"/>
                <a:cs typeface="Noto Sans JP"/>
                <a:sym typeface="Noto Sans JP"/>
              </a:rPr>
              <a:t> 増加</a:t>
            </a:r>
            <a:endParaRPr dirty="0"/>
          </a:p>
        </p:txBody>
      </p:sp>
      <p:sp>
        <p:nvSpPr>
          <p:cNvPr id="100" name="Google Shape;100;p14"/>
          <p:cNvSpPr txBox="1"/>
          <p:nvPr/>
        </p:nvSpPr>
        <p:spPr>
          <a:xfrm>
            <a:off x="838200" y="4318545"/>
            <a:ext cx="5019675"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放置する重大リスク：</a:t>
            </a:r>
            <a:r>
              <a:rPr lang="en-US" sz="1200" b="0" i="0" u="none" strike="noStrike" cap="none" dirty="0">
                <a:solidFill>
                  <a:srgbClr val="475569"/>
                </a:solidFill>
                <a:latin typeface="Noto Sans JP"/>
                <a:ea typeface="Noto Sans JP"/>
                <a:cs typeface="Noto Sans JP"/>
                <a:sym typeface="Noto Sans JP"/>
              </a:rPr>
              <a:t> 正確な実績の欠落は「在庫の不一致」を招き、最悪の場合「生産計画の遅延</a:t>
            </a:r>
            <a:r>
              <a:rPr lang="en-US" sz="1200" b="0" i="0" u="none" strike="noStrike" cap="none">
                <a:solidFill>
                  <a:srgbClr val="475569"/>
                </a:solidFill>
                <a:latin typeface="Noto Sans JP"/>
                <a:ea typeface="Noto Sans JP"/>
                <a:cs typeface="Noto Sans JP"/>
                <a:sym typeface="Noto Sans JP"/>
              </a:rPr>
              <a:t>」を誘発します</a:t>
            </a:r>
            <a:r>
              <a:rPr lang="ja-JP" altLang="en-US" sz="1200" b="0" i="0" u="none" strike="noStrike" cap="none">
                <a:solidFill>
                  <a:srgbClr val="475569"/>
                </a:solidFill>
                <a:latin typeface="Noto Sans JP"/>
                <a:ea typeface="Noto Sans JP"/>
                <a:cs typeface="Noto Sans JP"/>
                <a:sym typeface="Noto Sans JP"/>
              </a:rPr>
              <a:t>。数字上の改善に見えても、現場リスクは拡大している可能性があります。</a:t>
            </a:r>
            <a:endParaRPr dirty="0"/>
          </a:p>
        </p:txBody>
      </p:sp>
      <p:pic>
        <p:nvPicPr>
          <p:cNvPr id="102" name="Google Shape;102;p14" descr="image.png"/>
          <p:cNvPicPr preferRelativeResize="0"/>
          <p:nvPr/>
        </p:nvPicPr>
        <p:blipFill rotWithShape="1">
          <a:blip r:embed="rId4">
            <a:alphaModFix/>
          </a:blip>
          <a:srcRect/>
          <a:stretch/>
        </p:blipFill>
        <p:spPr>
          <a:xfrm>
            <a:off x="571500" y="3158579"/>
            <a:ext cx="118616" cy="171450"/>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571500" y="3554759"/>
            <a:ext cx="152400" cy="171450"/>
          </a:xfrm>
          <a:prstGeom prst="rect">
            <a:avLst/>
          </a:prstGeom>
          <a:noFill/>
          <a:ln>
            <a:noFill/>
          </a:ln>
        </p:spPr>
      </p:pic>
      <p:pic>
        <p:nvPicPr>
          <p:cNvPr id="104" name="Google Shape;104;p14" descr="image.png"/>
          <p:cNvPicPr preferRelativeResize="0"/>
          <p:nvPr/>
        </p:nvPicPr>
        <p:blipFill rotWithShape="1">
          <a:blip r:embed="rId6">
            <a:alphaModFix/>
          </a:blip>
          <a:srcRect/>
          <a:stretch/>
        </p:blipFill>
        <p:spPr>
          <a:xfrm>
            <a:off x="571500" y="3950940"/>
            <a:ext cx="118616" cy="171450"/>
          </a:xfrm>
          <a:prstGeom prst="rect">
            <a:avLst/>
          </a:prstGeom>
          <a:noFill/>
          <a:ln>
            <a:noFill/>
          </a:ln>
        </p:spPr>
      </p:pic>
      <p:pic>
        <p:nvPicPr>
          <p:cNvPr id="105" name="Google Shape;105;p14" descr="image.png"/>
          <p:cNvPicPr preferRelativeResize="0"/>
          <p:nvPr/>
        </p:nvPicPr>
        <p:blipFill rotWithShape="1">
          <a:blip r:embed="rId7">
            <a:alphaModFix/>
          </a:blip>
          <a:srcRect/>
          <a:stretch/>
        </p:blipFill>
        <p:spPr>
          <a:xfrm>
            <a:off x="571500" y="4347120"/>
            <a:ext cx="118616" cy="171450"/>
          </a:xfrm>
          <a:prstGeom prst="rect">
            <a:avLst/>
          </a:prstGeom>
          <a:noFill/>
          <a:ln>
            <a:noFill/>
          </a:ln>
        </p:spPr>
      </p:pic>
      <p:pic>
        <p:nvPicPr>
          <p:cNvPr id="3" name="図 2">
            <a:extLst>
              <a:ext uri="{FF2B5EF4-FFF2-40B4-BE49-F238E27FC236}">
                <a16:creationId xmlns:a16="http://schemas.microsoft.com/office/drawing/2014/main" id="{CD013B47-A69C-8014-BBFC-7B1A90DA7B2B}"/>
              </a:ext>
            </a:extLst>
          </p:cNvPr>
          <p:cNvPicPr>
            <a:picLocks noChangeAspect="1"/>
          </p:cNvPicPr>
          <p:nvPr/>
        </p:nvPicPr>
        <p:blipFill>
          <a:blip r:embed="rId8">
            <a:extLst>
              <a:ext uri="{28A0092B-C50C-407E-A947-70E740481C1C}">
                <a14:useLocalDpi xmlns:a14="http://schemas.microsoft.com/office/drawing/2010/main" val="0"/>
              </a:ext>
            </a:extLst>
          </a:blip>
          <a:srcRect r="33395"/>
          <a:stretch>
            <a:fillRect/>
          </a:stretch>
        </p:blipFill>
        <p:spPr>
          <a:xfrm>
            <a:off x="6693694" y="1334609"/>
            <a:ext cx="4829950" cy="2391600"/>
          </a:xfrm>
          <a:prstGeom prst="rect">
            <a:avLst/>
          </a:prstGeom>
        </p:spPr>
      </p:pic>
      <p:pic>
        <p:nvPicPr>
          <p:cNvPr id="5" name="図 4">
            <a:extLst>
              <a:ext uri="{FF2B5EF4-FFF2-40B4-BE49-F238E27FC236}">
                <a16:creationId xmlns:a16="http://schemas.microsoft.com/office/drawing/2014/main" id="{6D758609-E26F-BFC0-EB63-47570B602985}"/>
              </a:ext>
            </a:extLst>
          </p:cNvPr>
          <p:cNvPicPr>
            <a:picLocks noChangeAspect="1"/>
          </p:cNvPicPr>
          <p:nvPr/>
        </p:nvPicPr>
        <p:blipFill>
          <a:blip r:embed="rId8">
            <a:extLst>
              <a:ext uri="{28A0092B-C50C-407E-A947-70E740481C1C}">
                <a14:useLocalDpi xmlns:a14="http://schemas.microsoft.com/office/drawing/2010/main" val="0"/>
              </a:ext>
            </a:extLst>
          </a:blip>
          <a:srcRect l="66605"/>
          <a:stretch>
            <a:fillRect/>
          </a:stretch>
        </p:blipFill>
        <p:spPr>
          <a:xfrm>
            <a:off x="7897827" y="3950940"/>
            <a:ext cx="2421683" cy="239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1" name="Google Shape;111;p15" descr="image.png"/>
          <p:cNvPicPr preferRelativeResize="0"/>
          <p:nvPr/>
        </p:nvPicPr>
        <p:blipFill rotWithShape="1">
          <a:blip r:embed="rId4">
            <a:alphaModFix/>
          </a:blip>
          <a:srcRect l="13048" r="58660"/>
          <a:stretch>
            <a:fillRect/>
          </a:stretch>
        </p:blipFill>
        <p:spPr>
          <a:xfrm>
            <a:off x="9087556" y="4059435"/>
            <a:ext cx="2874202" cy="2457600"/>
          </a:xfrm>
          <a:prstGeom prst="rect">
            <a:avLst/>
          </a:prstGeom>
          <a:noFill/>
          <a:ln>
            <a:noFill/>
          </a:ln>
        </p:spPr>
      </p:pic>
      <p:sp>
        <p:nvSpPr>
          <p:cNvPr id="112" name="Google Shape;112;p15"/>
          <p:cNvSpPr txBox="1"/>
          <p:nvPr/>
        </p:nvSpPr>
        <p:spPr>
          <a:xfrm>
            <a:off x="723900" y="476250"/>
            <a:ext cx="11441430" cy="42088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致命的ボトルネック：特定2工程に修正が集中</a:t>
            </a:r>
            <a:endParaRPr dirty="0"/>
          </a:p>
        </p:txBody>
      </p:sp>
      <p:sp>
        <p:nvSpPr>
          <p:cNvPr id="113" name="Google Shape;113;p15"/>
          <p:cNvSpPr/>
          <p:nvPr/>
        </p:nvSpPr>
        <p:spPr>
          <a:xfrm>
            <a:off x="571500" y="476250"/>
            <a:ext cx="57150" cy="420885"/>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14" name="Google Shape;114;p15"/>
          <p:cNvSpPr txBox="1"/>
          <p:nvPr/>
        </p:nvSpPr>
        <p:spPr>
          <a:xfrm>
            <a:off x="6862762" y="2446139"/>
            <a:ext cx="4995624"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0000"/>
                </a:solidFill>
                <a:latin typeface="Noto Sans JP"/>
                <a:ea typeface="Noto Sans JP"/>
                <a:cs typeface="Noto Sans JP"/>
                <a:sym typeface="Noto Sans JP"/>
              </a:rPr>
              <a:t>全11工程中、わずか2工程で大部分を占有</a:t>
            </a:r>
            <a:endParaRPr dirty="0"/>
          </a:p>
        </p:txBody>
      </p:sp>
      <p:sp>
        <p:nvSpPr>
          <p:cNvPr id="115" name="Google Shape;115;p15"/>
          <p:cNvSpPr txBox="1"/>
          <p:nvPr/>
        </p:nvSpPr>
        <p:spPr>
          <a:xfrm>
            <a:off x="6862762" y="2846189"/>
            <a:ext cx="4757737"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Noto Sans JP"/>
                <a:ea typeface="Noto Sans JP"/>
                <a:cs typeface="Noto Sans JP"/>
                <a:sym typeface="Noto Sans JP"/>
              </a:rPr>
              <a:t>データを分析した結果、全体の </a:t>
            </a:r>
            <a:r>
              <a:rPr lang="en-US" sz="1200" b="1" i="0" u="none" strike="noStrike" cap="none" dirty="0">
                <a:solidFill>
                  <a:srgbClr val="C2410C"/>
                </a:solidFill>
                <a:latin typeface="Noto Sans JP"/>
                <a:ea typeface="Noto Sans JP"/>
                <a:cs typeface="Noto Sans JP"/>
                <a:sym typeface="Noto Sans JP"/>
              </a:rPr>
              <a:t>84.6%（221件中187件）</a:t>
            </a:r>
            <a:r>
              <a:rPr lang="en-US" sz="1200" b="0" i="0" u="none" strike="noStrike" cap="none" dirty="0">
                <a:solidFill>
                  <a:srgbClr val="475569"/>
                </a:solidFill>
                <a:latin typeface="Noto Sans JP"/>
                <a:ea typeface="Noto Sans JP"/>
                <a:cs typeface="Noto Sans JP"/>
                <a:sym typeface="Noto Sans JP"/>
              </a:rPr>
              <a:t> が「メッキ」と「検査」の2つの工程のみで発生しています。効率的な改善にはこの2大ボトルネックへの注力が不可欠です。</a:t>
            </a:r>
            <a:endParaRPr dirty="0"/>
          </a:p>
        </p:txBody>
      </p:sp>
      <p:sp>
        <p:nvSpPr>
          <p:cNvPr id="116" name="Google Shape;116;p15"/>
          <p:cNvSpPr/>
          <p:nvPr/>
        </p:nvSpPr>
        <p:spPr>
          <a:xfrm>
            <a:off x="6862762" y="3851820"/>
            <a:ext cx="171450" cy="171450"/>
          </a:xfrm>
          <a:prstGeom prst="roundRect">
            <a:avLst>
              <a:gd name="adj" fmla="val 22222"/>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17" name="Google Shape;117;p15"/>
          <p:cNvSpPr txBox="1"/>
          <p:nvPr/>
        </p:nvSpPr>
        <p:spPr>
          <a:xfrm>
            <a:off x="7167562" y="3815655"/>
            <a:ext cx="4452937"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334155"/>
                </a:solidFill>
                <a:latin typeface="Noto Sans JP"/>
                <a:ea typeface="Noto Sans JP"/>
                <a:cs typeface="Noto Sans JP"/>
                <a:sym typeface="Noto Sans JP"/>
              </a:rPr>
              <a:t>メッキ工程 (111件) </a:t>
            </a:r>
            <a:r>
              <a:rPr lang="en-US" sz="1200" b="1" i="0" u="none" strike="noStrike" cap="none" dirty="0">
                <a:solidFill>
                  <a:srgbClr val="0F172A"/>
                </a:solidFill>
                <a:latin typeface="Noto Sans JP"/>
                <a:ea typeface="Noto Sans JP"/>
                <a:cs typeface="Noto Sans JP"/>
                <a:sym typeface="Noto Sans JP"/>
              </a:rPr>
              <a:t>50.2%</a:t>
            </a:r>
            <a:endParaRPr dirty="0"/>
          </a:p>
        </p:txBody>
      </p:sp>
      <p:sp>
        <p:nvSpPr>
          <p:cNvPr id="118" name="Google Shape;118;p15"/>
          <p:cNvSpPr/>
          <p:nvPr/>
        </p:nvSpPr>
        <p:spPr>
          <a:xfrm>
            <a:off x="6862762" y="4286101"/>
            <a:ext cx="171450" cy="171450"/>
          </a:xfrm>
          <a:prstGeom prst="roundRect">
            <a:avLst>
              <a:gd name="adj" fmla="val 22222"/>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19" name="Google Shape;119;p15"/>
          <p:cNvSpPr txBox="1"/>
          <p:nvPr/>
        </p:nvSpPr>
        <p:spPr>
          <a:xfrm>
            <a:off x="7167562" y="4249935"/>
            <a:ext cx="4452937"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334155"/>
                </a:solidFill>
                <a:latin typeface="Noto Sans JP"/>
                <a:ea typeface="Noto Sans JP"/>
                <a:cs typeface="Noto Sans JP"/>
                <a:sym typeface="Noto Sans JP"/>
              </a:rPr>
              <a:t>検査工程 (76件) </a:t>
            </a:r>
            <a:r>
              <a:rPr lang="en-US" sz="1200" b="1" i="0" u="none" strike="noStrike" cap="none" dirty="0">
                <a:solidFill>
                  <a:srgbClr val="0F172A"/>
                </a:solidFill>
                <a:latin typeface="Noto Sans JP"/>
                <a:ea typeface="Noto Sans JP"/>
                <a:cs typeface="Noto Sans JP"/>
                <a:sym typeface="Noto Sans JP"/>
              </a:rPr>
              <a:t>34.4%</a:t>
            </a:r>
            <a:endParaRPr dirty="0"/>
          </a:p>
        </p:txBody>
      </p:sp>
      <p:sp>
        <p:nvSpPr>
          <p:cNvPr id="120" name="Google Shape;120;p15"/>
          <p:cNvSpPr/>
          <p:nvPr/>
        </p:nvSpPr>
        <p:spPr>
          <a:xfrm>
            <a:off x="6862762" y="4720381"/>
            <a:ext cx="171450" cy="171450"/>
          </a:xfrm>
          <a:prstGeom prst="roundRect">
            <a:avLst>
              <a:gd name="adj" fmla="val 22222"/>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21" name="Google Shape;121;p15"/>
          <p:cNvSpPr txBox="1"/>
          <p:nvPr/>
        </p:nvSpPr>
        <p:spPr>
          <a:xfrm>
            <a:off x="7167562" y="4684216"/>
            <a:ext cx="4452937"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334155"/>
                </a:solidFill>
                <a:latin typeface="Noto Sans JP"/>
                <a:ea typeface="Noto Sans JP"/>
                <a:cs typeface="Noto Sans JP"/>
                <a:sym typeface="Noto Sans JP"/>
              </a:rPr>
              <a:t>その他 9工程 (34件) </a:t>
            </a:r>
            <a:r>
              <a:rPr lang="en-US" sz="1200" b="1" i="0" u="none" strike="noStrike" cap="none" dirty="0">
                <a:solidFill>
                  <a:srgbClr val="0F172A"/>
                </a:solidFill>
                <a:latin typeface="Noto Sans JP"/>
                <a:ea typeface="Noto Sans JP"/>
                <a:cs typeface="Noto Sans JP"/>
                <a:sym typeface="Noto Sans JP"/>
              </a:rPr>
              <a:t>15.4%</a:t>
            </a:r>
            <a:endParaRPr dirty="0"/>
          </a:p>
        </p:txBody>
      </p:sp>
      <p:pic>
        <p:nvPicPr>
          <p:cNvPr id="3" name="図 2">
            <a:extLst>
              <a:ext uri="{FF2B5EF4-FFF2-40B4-BE49-F238E27FC236}">
                <a16:creationId xmlns:a16="http://schemas.microsoft.com/office/drawing/2014/main" id="{52C5C2A6-A92B-A500-EC0E-2AF8F1B6CE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242" y="2403914"/>
            <a:ext cx="6365819" cy="25240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7" name="Google Shape;127;p16" descr="image.png"/>
          <p:cNvPicPr preferRelativeResize="0"/>
          <p:nvPr/>
        </p:nvPicPr>
        <p:blipFill rotWithShape="1">
          <a:blip r:embed="rId4">
            <a:alphaModFix/>
          </a:blip>
          <a:srcRect/>
          <a:stretch/>
        </p:blipFill>
        <p:spPr>
          <a:xfrm>
            <a:off x="571500" y="3501628"/>
            <a:ext cx="5286375" cy="457200"/>
          </a:xfrm>
          <a:prstGeom prst="rect">
            <a:avLst/>
          </a:prstGeom>
          <a:noFill/>
          <a:ln>
            <a:noFill/>
          </a:ln>
        </p:spPr>
      </p:pic>
      <p:sp>
        <p:nvSpPr>
          <p:cNvPr id="128" name="Google Shape;128;p16"/>
          <p:cNvSpPr txBox="1"/>
          <p:nvPr/>
        </p:nvSpPr>
        <p:spPr>
          <a:xfrm>
            <a:off x="723900" y="571500"/>
            <a:ext cx="6492148" cy="51014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メッキ工程：異常な修正比率と運用の乖離</a:t>
            </a:r>
            <a:endParaRPr dirty="0"/>
          </a:p>
        </p:txBody>
      </p:sp>
      <p:sp>
        <p:nvSpPr>
          <p:cNvPr id="129" name="Google Shape;129;p16"/>
          <p:cNvSpPr/>
          <p:nvPr/>
        </p:nvSpPr>
        <p:spPr>
          <a:xfrm>
            <a:off x="571500" y="571501"/>
            <a:ext cx="45719" cy="51014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31" name="Google Shape;131;p16"/>
          <p:cNvSpPr txBox="1"/>
          <p:nvPr/>
        </p:nvSpPr>
        <p:spPr>
          <a:xfrm>
            <a:off x="571500" y="4149328"/>
            <a:ext cx="6644548"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Noto Sans JP"/>
                <a:ea typeface="Noto Sans JP"/>
                <a:cs typeface="Noto Sans JP"/>
                <a:sym typeface="Noto Sans JP"/>
              </a:rPr>
              <a:t>実質的に</a:t>
            </a:r>
            <a:r>
              <a:rPr lang="en-US" sz="1200" b="1" i="0" u="none" strike="noStrike" cap="none" dirty="0">
                <a:solidFill>
                  <a:srgbClr val="475569"/>
                </a:solidFill>
                <a:latin typeface="Noto Sans JP"/>
                <a:ea typeface="Noto Sans JP"/>
                <a:cs typeface="Noto Sans JP"/>
                <a:sym typeface="Noto Sans JP"/>
              </a:rPr>
              <a:t>「5回に1回」の頻度</a:t>
            </a:r>
            <a:r>
              <a:rPr lang="en-US" sz="1200" b="0" i="0" u="none" strike="noStrike" cap="none" dirty="0">
                <a:solidFill>
                  <a:srgbClr val="475569"/>
                </a:solidFill>
                <a:latin typeface="Noto Sans JP"/>
                <a:ea typeface="Noto Sans JP"/>
                <a:cs typeface="Noto Sans JP"/>
                <a:sym typeface="Noto Sans JP"/>
              </a:rPr>
              <a:t>で入力ミスやデータ修正が発生している計算になります。</a:t>
            </a:r>
            <a:endParaRPr dirty="0"/>
          </a:p>
        </p:txBody>
      </p:sp>
      <p:sp>
        <p:nvSpPr>
          <p:cNvPr id="132" name="Google Shape;132;p16"/>
          <p:cNvSpPr txBox="1"/>
          <p:nvPr/>
        </p:nvSpPr>
        <p:spPr>
          <a:xfrm>
            <a:off x="571500" y="4808339"/>
            <a:ext cx="10368249" cy="5539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a:solidFill>
                  <a:srgbClr val="475569"/>
                </a:solidFill>
                <a:latin typeface="Noto Sans JP"/>
                <a:ea typeface="Noto Sans JP"/>
                <a:cs typeface="Noto Sans JP"/>
                <a:sym typeface="Noto Sans JP"/>
              </a:rPr>
              <a:t>集計件数483件に対して異常に多発しており、現場の「投入数」とシステム上の「実績記入方法」が一致していない可能性が極めて高く、入力ルールが完全に形骸化しています。</a:t>
            </a:r>
            <a:endParaRPr dirty="0"/>
          </a:p>
        </p:txBody>
      </p:sp>
      <p:sp>
        <p:nvSpPr>
          <p:cNvPr id="133" name="Google Shape;133;p16"/>
          <p:cNvSpPr txBox="1"/>
          <p:nvPr/>
        </p:nvSpPr>
        <p:spPr>
          <a:xfrm>
            <a:off x="571500" y="5646539"/>
            <a:ext cx="7503864"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0F172A"/>
                </a:solidFill>
                <a:latin typeface="Noto Sans JP"/>
                <a:ea typeface="Noto Sans JP"/>
                <a:cs typeface="Noto Sans JP"/>
                <a:sym typeface="Noto Sans JP"/>
              </a:rPr>
              <a:t>💡 </a:t>
            </a:r>
            <a:r>
              <a:rPr lang="en-US" sz="1200" b="0" i="0" u="none" strike="noStrike" cap="none" dirty="0">
                <a:solidFill>
                  <a:srgbClr val="0F172A"/>
                </a:solidFill>
                <a:latin typeface="Noto Sans JP"/>
                <a:ea typeface="Noto Sans JP"/>
                <a:cs typeface="Noto Sans JP"/>
                <a:sym typeface="Noto Sans JP"/>
              </a:rPr>
              <a:t>結論：</a:t>
            </a:r>
            <a:r>
              <a:rPr lang="en-US" sz="1200" b="1" i="0" u="none" strike="noStrike" cap="none" dirty="0">
                <a:solidFill>
                  <a:srgbClr val="0F172A"/>
                </a:solidFill>
                <a:latin typeface="Noto Sans JP"/>
                <a:ea typeface="Noto Sans JP"/>
                <a:cs typeface="Noto Sans JP"/>
                <a:sym typeface="Noto Sans JP"/>
              </a:rPr>
              <a:t> 記入方法のプロセスを根底から見直さなければ、抜本的な改善は不可能です。</a:t>
            </a:r>
            <a:endParaRPr dirty="0"/>
          </a:p>
        </p:txBody>
      </p:sp>
      <p:sp>
        <p:nvSpPr>
          <p:cNvPr id="134" name="Google Shape;134;p16"/>
          <p:cNvSpPr txBox="1"/>
          <p:nvPr/>
        </p:nvSpPr>
        <p:spPr>
          <a:xfrm>
            <a:off x="800100" y="3615928"/>
            <a:ext cx="48672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dirty="0">
                <a:solidFill>
                  <a:srgbClr val="991B1B"/>
                </a:solidFill>
                <a:latin typeface="Noto Sans JP"/>
                <a:ea typeface="Noto Sans JP"/>
                <a:cs typeface="Noto Sans JP"/>
                <a:sym typeface="Noto Sans JP"/>
              </a:rPr>
              <a:t>実績修正件数 111件（前月比 +19件） / 修正比率 18.7%</a:t>
            </a:r>
            <a:endParaRPr dirty="0"/>
          </a:p>
        </p:txBody>
      </p:sp>
      <p:pic>
        <p:nvPicPr>
          <p:cNvPr id="5" name="図 4">
            <a:extLst>
              <a:ext uri="{FF2B5EF4-FFF2-40B4-BE49-F238E27FC236}">
                <a16:creationId xmlns:a16="http://schemas.microsoft.com/office/drawing/2014/main" id="{352D175D-E27B-111D-FB4E-414734FEF7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60528" y="1120779"/>
            <a:ext cx="9228571" cy="21333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0" name="Google Shape;140;p17" descr="image.png"/>
          <p:cNvPicPr preferRelativeResize="0"/>
          <p:nvPr/>
        </p:nvPicPr>
        <p:blipFill rotWithShape="1">
          <a:blip r:embed="rId4">
            <a:alphaModFix/>
          </a:blip>
          <a:srcRect/>
          <a:stretch/>
        </p:blipFill>
        <p:spPr>
          <a:xfrm>
            <a:off x="571500" y="3464995"/>
            <a:ext cx="5286375" cy="457200"/>
          </a:xfrm>
          <a:prstGeom prst="rect">
            <a:avLst/>
          </a:prstGeom>
          <a:noFill/>
          <a:ln>
            <a:noFill/>
          </a:ln>
        </p:spPr>
      </p:pic>
      <p:sp>
        <p:nvSpPr>
          <p:cNvPr id="142" name="Google Shape;142;p17"/>
          <p:cNvSpPr txBox="1"/>
          <p:nvPr/>
        </p:nvSpPr>
        <p:spPr>
          <a:xfrm>
            <a:off x="723900" y="476250"/>
            <a:ext cx="11441430" cy="51014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検査工程：細かな修正の多発</a:t>
            </a:r>
            <a:endParaRPr dirty="0"/>
          </a:p>
        </p:txBody>
      </p:sp>
      <p:sp>
        <p:nvSpPr>
          <p:cNvPr id="143" name="Google Shape;143;p17"/>
          <p:cNvSpPr/>
          <p:nvPr/>
        </p:nvSpPr>
        <p:spPr>
          <a:xfrm>
            <a:off x="571500" y="476250"/>
            <a:ext cx="57150" cy="420885"/>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44" name="Google Shape;144;p17"/>
          <p:cNvSpPr txBox="1"/>
          <p:nvPr/>
        </p:nvSpPr>
        <p:spPr>
          <a:xfrm>
            <a:off x="579304" y="4218085"/>
            <a:ext cx="8731964"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Noto Sans JP"/>
                <a:ea typeface="Noto Sans JP"/>
                <a:cs typeface="Noto Sans JP"/>
                <a:sym typeface="Noto Sans JP"/>
              </a:rPr>
              <a:t>1件あたりの数量は少ないものの、現場で</a:t>
            </a:r>
            <a:r>
              <a:rPr lang="en-US" sz="1200" b="1" i="0" u="none" strike="noStrike" cap="none" dirty="0">
                <a:solidFill>
                  <a:srgbClr val="475569"/>
                </a:solidFill>
                <a:latin typeface="Noto Sans JP"/>
                <a:ea typeface="Noto Sans JP"/>
                <a:cs typeface="Noto Sans JP"/>
                <a:sym typeface="Noto Sans JP"/>
              </a:rPr>
              <a:t>細かな入力ミスやデータ修正が日常化・慢性化</a:t>
            </a:r>
            <a:r>
              <a:rPr lang="en-US" sz="1200" b="0" i="0" u="none" strike="noStrike" cap="none" dirty="0">
                <a:solidFill>
                  <a:srgbClr val="475569"/>
                </a:solidFill>
                <a:latin typeface="Noto Sans JP"/>
                <a:ea typeface="Noto Sans JP"/>
                <a:cs typeface="Noto Sans JP"/>
                <a:sym typeface="Noto Sans JP"/>
              </a:rPr>
              <a:t>している実態を示しています。</a:t>
            </a:r>
            <a:endParaRPr dirty="0"/>
          </a:p>
        </p:txBody>
      </p:sp>
      <p:sp>
        <p:nvSpPr>
          <p:cNvPr id="145" name="Google Shape;145;p17"/>
          <p:cNvSpPr txBox="1"/>
          <p:nvPr/>
        </p:nvSpPr>
        <p:spPr>
          <a:xfrm>
            <a:off x="800100" y="3579295"/>
            <a:ext cx="48672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dirty="0">
                <a:solidFill>
                  <a:srgbClr val="C2410C"/>
                </a:solidFill>
                <a:latin typeface="Noto Sans JP"/>
                <a:ea typeface="Noto Sans JP"/>
                <a:cs typeface="Noto Sans JP"/>
                <a:sym typeface="Noto Sans JP"/>
              </a:rPr>
              <a:t>実績修正件数 76件（前月比で修正数量は-33と微減も高止まり）</a:t>
            </a:r>
            <a:endParaRPr dirty="0"/>
          </a:p>
        </p:txBody>
      </p:sp>
      <p:sp>
        <p:nvSpPr>
          <p:cNvPr id="146" name="Google Shape;146;p17"/>
          <p:cNvSpPr txBox="1"/>
          <p:nvPr/>
        </p:nvSpPr>
        <p:spPr>
          <a:xfrm>
            <a:off x="800100" y="5042936"/>
            <a:ext cx="9991381"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防衛ラインの機能低下：</a:t>
            </a:r>
            <a:r>
              <a:rPr lang="en-US" sz="1200" b="0" i="0" u="none" strike="noStrike" cap="none" dirty="0">
                <a:solidFill>
                  <a:srgbClr val="475569"/>
                </a:solidFill>
                <a:latin typeface="Noto Sans JP"/>
                <a:ea typeface="Noto Sans JP"/>
                <a:cs typeface="Noto Sans JP"/>
                <a:sym typeface="Noto Sans JP"/>
              </a:rPr>
              <a:t> 品質</a:t>
            </a:r>
            <a:r>
              <a:rPr lang="ja-JP" altLang="en-US" sz="1200" dirty="0">
                <a:solidFill>
                  <a:srgbClr val="475569"/>
                </a:solidFill>
                <a:latin typeface="Noto Sans JP"/>
                <a:ea typeface="Noto Sans JP"/>
                <a:cs typeface="Noto Sans JP"/>
                <a:sym typeface="Noto Sans JP"/>
              </a:rPr>
              <a:t>・在庫</a:t>
            </a:r>
            <a:r>
              <a:rPr lang="en-US" sz="1200" b="0" i="0" u="none" strike="noStrike" cap="none" dirty="0">
                <a:solidFill>
                  <a:srgbClr val="475569"/>
                </a:solidFill>
                <a:latin typeface="Noto Sans JP"/>
                <a:ea typeface="Noto Sans JP"/>
                <a:cs typeface="Noto Sans JP"/>
                <a:sym typeface="Noto Sans JP"/>
              </a:rPr>
              <a:t>を担保する最終ラインでデータが頻繁に書き直される現状は、トレーサビリティの観点から非常に危険です。</a:t>
            </a:r>
            <a:endParaRPr dirty="0"/>
          </a:p>
        </p:txBody>
      </p:sp>
      <p:sp>
        <p:nvSpPr>
          <p:cNvPr id="147" name="Google Shape;147;p17"/>
          <p:cNvSpPr txBox="1"/>
          <p:nvPr/>
        </p:nvSpPr>
        <p:spPr>
          <a:xfrm>
            <a:off x="800100" y="5525424"/>
            <a:ext cx="10404054"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475569"/>
                </a:solidFill>
                <a:latin typeface="Noto Sans JP"/>
                <a:ea typeface="Noto Sans JP"/>
                <a:cs typeface="Noto Sans JP"/>
                <a:sym typeface="Noto Sans JP"/>
              </a:rPr>
              <a:t>デジタルの力で解決可能：</a:t>
            </a:r>
            <a:r>
              <a:rPr lang="en-US" sz="1200" b="0" i="0" u="none" strike="noStrike" cap="none" dirty="0">
                <a:solidFill>
                  <a:srgbClr val="475569"/>
                </a:solidFill>
                <a:latin typeface="Noto Sans JP"/>
                <a:ea typeface="Noto Sans JP"/>
                <a:cs typeface="Noto Sans JP"/>
                <a:sym typeface="Noto Sans JP"/>
              </a:rPr>
              <a:t> 手書きや転記プロセスの排除、タブレット導入によるリアルタイム制御が有効な解決策となります。</a:t>
            </a:r>
            <a:endParaRPr dirty="0"/>
          </a:p>
        </p:txBody>
      </p:sp>
      <p:pic>
        <p:nvPicPr>
          <p:cNvPr id="149" name="Google Shape;149;p17" descr="image.png"/>
          <p:cNvPicPr preferRelativeResize="0"/>
          <p:nvPr/>
        </p:nvPicPr>
        <p:blipFill rotWithShape="1">
          <a:blip r:embed="rId5">
            <a:alphaModFix/>
          </a:blip>
          <a:srcRect/>
          <a:stretch/>
        </p:blipFill>
        <p:spPr>
          <a:xfrm>
            <a:off x="579304" y="5104944"/>
            <a:ext cx="118616" cy="171450"/>
          </a:xfrm>
          <a:prstGeom prst="rect">
            <a:avLst/>
          </a:prstGeom>
          <a:noFill/>
          <a:ln>
            <a:noFill/>
          </a:ln>
        </p:spPr>
      </p:pic>
      <p:pic>
        <p:nvPicPr>
          <p:cNvPr id="150" name="Google Shape;150;p17" descr="image.png"/>
          <p:cNvPicPr preferRelativeResize="0"/>
          <p:nvPr/>
        </p:nvPicPr>
        <p:blipFill rotWithShape="1">
          <a:blip r:embed="rId6">
            <a:alphaModFix/>
          </a:blip>
          <a:srcRect/>
          <a:stretch/>
        </p:blipFill>
        <p:spPr>
          <a:xfrm>
            <a:off x="571500" y="5587432"/>
            <a:ext cx="118616" cy="171450"/>
          </a:xfrm>
          <a:prstGeom prst="rect">
            <a:avLst/>
          </a:prstGeom>
          <a:noFill/>
          <a:ln>
            <a:noFill/>
          </a:ln>
        </p:spPr>
      </p:pic>
      <p:pic>
        <p:nvPicPr>
          <p:cNvPr id="3" name="図 2">
            <a:extLst>
              <a:ext uri="{FF2B5EF4-FFF2-40B4-BE49-F238E27FC236}">
                <a16:creationId xmlns:a16="http://schemas.microsoft.com/office/drawing/2014/main" id="{CD499E4A-606F-4ADE-6B9B-3314AFFF50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39043" y="1037110"/>
            <a:ext cx="9257143" cy="21333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6" name="Google Shape;156;p18" descr="image.png"/>
          <p:cNvPicPr preferRelativeResize="0"/>
          <p:nvPr/>
        </p:nvPicPr>
        <p:blipFill rotWithShape="1">
          <a:blip r:embed="rId3">
            <a:alphaModFix/>
          </a:blip>
          <a:srcRect/>
          <a:stretch/>
        </p:blipFill>
        <p:spPr>
          <a:xfrm>
            <a:off x="1552807" y="1168175"/>
            <a:ext cx="3530500" cy="5198864"/>
          </a:xfrm>
          <a:prstGeom prst="rect">
            <a:avLst/>
          </a:prstGeom>
          <a:noFill/>
          <a:ln>
            <a:noFill/>
          </a:ln>
        </p:spPr>
      </p:pic>
      <p:pic>
        <p:nvPicPr>
          <p:cNvPr id="157" name="Google Shape;157;p18" descr="image.png"/>
          <p:cNvPicPr preferRelativeResize="0"/>
          <p:nvPr/>
        </p:nvPicPr>
        <p:blipFill rotWithShape="1">
          <a:blip r:embed="rId4">
            <a:alphaModFix/>
          </a:blip>
          <a:srcRect/>
          <a:stretch/>
        </p:blipFill>
        <p:spPr>
          <a:xfrm>
            <a:off x="6204005" y="1182885"/>
            <a:ext cx="3530649" cy="5198864"/>
          </a:xfrm>
          <a:prstGeom prst="rect">
            <a:avLst/>
          </a:prstGeom>
          <a:noFill/>
          <a:ln>
            <a:noFill/>
          </a:ln>
        </p:spPr>
      </p:pic>
      <p:sp>
        <p:nvSpPr>
          <p:cNvPr id="159" name="Google Shape;159;p18"/>
          <p:cNvSpPr txBox="1"/>
          <p:nvPr/>
        </p:nvSpPr>
        <p:spPr>
          <a:xfrm>
            <a:off x="723900" y="476250"/>
            <a:ext cx="11441430" cy="51014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a:solidFill>
                  <a:srgbClr val="0F172A"/>
                </a:solidFill>
                <a:latin typeface="Noto Sans JP"/>
                <a:ea typeface="Noto Sans JP"/>
                <a:cs typeface="Noto Sans JP"/>
                <a:sym typeface="Noto Sans JP"/>
              </a:rPr>
              <a:t>データエラーの放置がもたらす「</a:t>
            </a:r>
            <a:r>
              <a:rPr lang="ja-JP" altLang="en-US" sz="2550" b="1" i="0" u="none" strike="noStrike" cap="none">
                <a:solidFill>
                  <a:srgbClr val="0F172A"/>
                </a:solidFill>
                <a:latin typeface="Noto Sans JP"/>
                <a:ea typeface="Noto Sans JP"/>
                <a:cs typeface="Noto Sans JP"/>
                <a:sym typeface="Noto Sans JP"/>
              </a:rPr>
              <a:t>２</a:t>
            </a:r>
            <a:r>
              <a:rPr lang="en-US" sz="2550" b="1" i="0" u="none" strike="noStrike" cap="none">
                <a:solidFill>
                  <a:srgbClr val="0F172A"/>
                </a:solidFill>
                <a:latin typeface="Noto Sans JP"/>
                <a:ea typeface="Noto Sans JP"/>
                <a:cs typeface="Noto Sans JP"/>
                <a:sym typeface="Noto Sans JP"/>
              </a:rPr>
              <a:t>つのリスク</a:t>
            </a:r>
            <a:r>
              <a:rPr lang="en-US" sz="2550" b="1" i="0" u="none" strike="noStrike" cap="none" dirty="0">
                <a:solidFill>
                  <a:srgbClr val="0F172A"/>
                </a:solidFill>
                <a:latin typeface="Noto Sans JP"/>
                <a:ea typeface="Noto Sans JP"/>
                <a:cs typeface="Noto Sans JP"/>
                <a:sym typeface="Noto Sans JP"/>
              </a:rPr>
              <a:t>」</a:t>
            </a:r>
            <a:endParaRPr dirty="0"/>
          </a:p>
        </p:txBody>
      </p:sp>
      <p:sp>
        <p:nvSpPr>
          <p:cNvPr id="160" name="Google Shape;160;p18"/>
          <p:cNvSpPr/>
          <p:nvPr/>
        </p:nvSpPr>
        <p:spPr>
          <a:xfrm>
            <a:off x="571500" y="476250"/>
            <a:ext cx="57150" cy="420885"/>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61" name="Google Shape;161;p18"/>
          <p:cNvSpPr txBox="1"/>
          <p:nvPr/>
        </p:nvSpPr>
        <p:spPr>
          <a:xfrm>
            <a:off x="1838557" y="2082575"/>
            <a:ext cx="31069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JP"/>
                <a:ea typeface="Noto Sans JP"/>
                <a:cs typeface="Noto Sans JP"/>
                <a:sym typeface="Noto Sans JP"/>
              </a:rPr>
              <a:t>在庫不一致によるコスト増加</a:t>
            </a:r>
            <a:endParaRPr dirty="0"/>
          </a:p>
        </p:txBody>
      </p:sp>
      <p:sp>
        <p:nvSpPr>
          <p:cNvPr id="162" name="Google Shape;162;p18"/>
          <p:cNvSpPr txBox="1"/>
          <p:nvPr/>
        </p:nvSpPr>
        <p:spPr>
          <a:xfrm>
            <a:off x="1838557" y="2454050"/>
            <a:ext cx="2959000" cy="12803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00" b="0" i="0" u="none" strike="noStrike" cap="none" dirty="0">
                <a:solidFill>
                  <a:srgbClr val="475569"/>
                </a:solidFill>
                <a:latin typeface="Noto Sans JP"/>
                <a:ea typeface="Noto Sans JP"/>
                <a:cs typeface="Noto Sans JP"/>
                <a:sym typeface="Noto Sans JP"/>
              </a:rPr>
              <a:t>データと現物の不一致により、不要な緊急発注、在庫過多、欠品が誘発され、無駄な棚卸・捜索時間による間接工数が肥大化します。</a:t>
            </a:r>
            <a:endParaRPr sz="1300" dirty="0"/>
          </a:p>
        </p:txBody>
      </p:sp>
      <p:sp>
        <p:nvSpPr>
          <p:cNvPr id="163" name="Google Shape;163;p18"/>
          <p:cNvSpPr txBox="1"/>
          <p:nvPr/>
        </p:nvSpPr>
        <p:spPr>
          <a:xfrm>
            <a:off x="6489755" y="2097285"/>
            <a:ext cx="3107107"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JP"/>
                <a:ea typeface="Noto Sans JP"/>
                <a:cs typeface="Noto Sans JP"/>
                <a:sym typeface="Noto Sans JP"/>
              </a:rPr>
              <a:t>生産計画の混乱と遅延</a:t>
            </a:r>
            <a:endParaRPr dirty="0"/>
          </a:p>
        </p:txBody>
      </p:sp>
      <p:sp>
        <p:nvSpPr>
          <p:cNvPr id="164" name="Google Shape;164;p18"/>
          <p:cNvSpPr txBox="1"/>
          <p:nvPr/>
        </p:nvSpPr>
        <p:spPr>
          <a:xfrm>
            <a:off x="6489755" y="2468760"/>
            <a:ext cx="2959149" cy="12803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00" b="0" i="0" u="none" strike="noStrike" cap="none" dirty="0">
                <a:solidFill>
                  <a:srgbClr val="475569"/>
                </a:solidFill>
                <a:latin typeface="Noto Sans JP"/>
                <a:ea typeface="Noto Sans JP"/>
                <a:cs typeface="Noto Sans JP"/>
                <a:sym typeface="Noto Sans JP"/>
              </a:rPr>
              <a:t>前工程の実績データが不正確なため、後工程の計画変更を余儀なくされ、計画そのものが信頼を失い全体のリードタイム遅延につながります。</a:t>
            </a:r>
            <a:endParaRPr sz="1300" dirty="0"/>
          </a:p>
        </p:txBody>
      </p:sp>
      <p:pic>
        <p:nvPicPr>
          <p:cNvPr id="167" name="Google Shape;167;p18" descr="image.png"/>
          <p:cNvPicPr preferRelativeResize="0"/>
          <p:nvPr/>
        </p:nvPicPr>
        <p:blipFill rotWithShape="1">
          <a:blip r:embed="rId5">
            <a:alphaModFix/>
          </a:blip>
          <a:srcRect/>
          <a:stretch/>
        </p:blipFill>
        <p:spPr>
          <a:xfrm>
            <a:off x="1838557" y="1520600"/>
            <a:ext cx="266848" cy="342900"/>
          </a:xfrm>
          <a:prstGeom prst="rect">
            <a:avLst/>
          </a:prstGeom>
          <a:noFill/>
          <a:ln>
            <a:noFill/>
          </a:ln>
        </p:spPr>
      </p:pic>
      <p:pic>
        <p:nvPicPr>
          <p:cNvPr id="168" name="Google Shape;168;p18" descr="image.png"/>
          <p:cNvPicPr preferRelativeResize="0"/>
          <p:nvPr/>
        </p:nvPicPr>
        <p:blipFill rotWithShape="1">
          <a:blip r:embed="rId6">
            <a:alphaModFix/>
          </a:blip>
          <a:srcRect/>
          <a:stretch/>
        </p:blipFill>
        <p:spPr>
          <a:xfrm>
            <a:off x="6489755" y="1535310"/>
            <a:ext cx="266848" cy="34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19" descr="image.png"/>
          <p:cNvPicPr preferRelativeResize="0"/>
          <p:nvPr/>
        </p:nvPicPr>
        <p:blipFill rotWithShape="1">
          <a:blip r:embed="rId4">
            <a:alphaModFix/>
          </a:blip>
          <a:srcRect/>
          <a:stretch/>
        </p:blipFill>
        <p:spPr>
          <a:xfrm>
            <a:off x="571500" y="1182885"/>
            <a:ext cx="5381625" cy="5198864"/>
          </a:xfrm>
          <a:prstGeom prst="rect">
            <a:avLst/>
          </a:prstGeom>
          <a:noFill/>
          <a:ln>
            <a:noFill/>
          </a:ln>
        </p:spPr>
      </p:pic>
      <p:pic>
        <p:nvPicPr>
          <p:cNvPr id="176" name="Google Shape;176;p19" descr="image.png"/>
          <p:cNvPicPr preferRelativeResize="0"/>
          <p:nvPr/>
        </p:nvPicPr>
        <p:blipFill rotWithShape="1">
          <a:blip r:embed="rId5">
            <a:alphaModFix/>
          </a:blip>
          <a:srcRect/>
          <a:stretch/>
        </p:blipFill>
        <p:spPr>
          <a:xfrm>
            <a:off x="6238875" y="1182885"/>
            <a:ext cx="5381625" cy="5198864"/>
          </a:xfrm>
          <a:prstGeom prst="rect">
            <a:avLst/>
          </a:prstGeom>
          <a:noFill/>
          <a:ln>
            <a:noFill/>
          </a:ln>
        </p:spPr>
      </p:pic>
      <p:sp>
        <p:nvSpPr>
          <p:cNvPr id="177" name="Google Shape;177;p19"/>
          <p:cNvSpPr txBox="1"/>
          <p:nvPr/>
        </p:nvSpPr>
        <p:spPr>
          <a:xfrm>
            <a:off x="723900" y="476250"/>
            <a:ext cx="11441430" cy="42088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550" b="1" i="0" u="none" strike="noStrike" cap="none" dirty="0">
                <a:solidFill>
                  <a:srgbClr val="0F172A"/>
                </a:solidFill>
                <a:latin typeface="Noto Sans JP"/>
                <a:ea typeface="Noto Sans JP"/>
                <a:cs typeface="Noto Sans JP"/>
                <a:sym typeface="Noto Sans JP"/>
              </a:rPr>
              <a:t>課題解決に向けた2つの抜本的対策アクション</a:t>
            </a:r>
            <a:endParaRPr dirty="0"/>
          </a:p>
        </p:txBody>
      </p:sp>
      <p:sp>
        <p:nvSpPr>
          <p:cNvPr id="178" name="Google Shape;178;p19"/>
          <p:cNvSpPr/>
          <p:nvPr/>
        </p:nvSpPr>
        <p:spPr>
          <a:xfrm>
            <a:off x="571500" y="476250"/>
            <a:ext cx="57150" cy="420885"/>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79" name="Google Shape;179;p19"/>
          <p:cNvSpPr txBox="1"/>
          <p:nvPr/>
        </p:nvSpPr>
        <p:spPr>
          <a:xfrm>
            <a:off x="952500" y="5848350"/>
            <a:ext cx="4667250" cy="200025"/>
          </a:xfrm>
          <a:prstGeom prst="rect">
            <a:avLst/>
          </a:prstGeom>
          <a:noFill/>
          <a:ln>
            <a:noFill/>
          </a:ln>
        </p:spPr>
        <p:txBody>
          <a:bodyPr spcFirstLastPara="1" wrap="square" lIns="118600" tIns="0" rIns="0" bIns="0" anchor="t" anchorCtr="0">
            <a:spAutoFit/>
          </a:bodyPr>
          <a:lstStyle/>
          <a:p>
            <a:pPr marL="0" marR="0" lvl="0" indent="0" algn="l" rtl="0">
              <a:spcBef>
                <a:spcPts val="0"/>
              </a:spcBef>
              <a:spcAft>
                <a:spcPts val="0"/>
              </a:spcAft>
              <a:buNone/>
            </a:pPr>
            <a:r>
              <a:rPr lang="en-US" sz="1200" b="1" i="0" u="none" strike="noStrike" cap="none" dirty="0">
                <a:solidFill>
                  <a:srgbClr val="C2410C"/>
                </a:solidFill>
                <a:latin typeface="Noto Sans JP"/>
                <a:ea typeface="Noto Sans JP"/>
                <a:cs typeface="Noto Sans JP"/>
                <a:sym typeface="Noto Sans JP"/>
              </a:rPr>
              <a:t>目標：入力の手間を削り、修正比率を半減</a:t>
            </a:r>
            <a:endParaRPr dirty="0"/>
          </a:p>
        </p:txBody>
      </p:sp>
      <p:sp>
        <p:nvSpPr>
          <p:cNvPr id="180" name="Google Shape;180;p19"/>
          <p:cNvSpPr txBox="1"/>
          <p:nvPr/>
        </p:nvSpPr>
        <p:spPr>
          <a:xfrm>
            <a:off x="6619875" y="5848350"/>
            <a:ext cx="4667250" cy="200025"/>
          </a:xfrm>
          <a:prstGeom prst="rect">
            <a:avLst/>
          </a:prstGeom>
          <a:noFill/>
          <a:ln>
            <a:noFill/>
          </a:ln>
        </p:spPr>
        <p:txBody>
          <a:bodyPr spcFirstLastPara="1" wrap="square" lIns="118600" tIns="0" rIns="0" bIns="0" anchor="t" anchorCtr="0">
            <a:spAutoFit/>
          </a:bodyPr>
          <a:lstStyle/>
          <a:p>
            <a:pPr marL="0" marR="0" lvl="0" indent="0" algn="l" rtl="0">
              <a:spcBef>
                <a:spcPts val="0"/>
              </a:spcBef>
              <a:spcAft>
                <a:spcPts val="0"/>
              </a:spcAft>
              <a:buNone/>
            </a:pPr>
            <a:r>
              <a:rPr lang="en-US" sz="1200" b="1" i="0" u="none" strike="noStrike" cap="none" dirty="0">
                <a:solidFill>
                  <a:srgbClr val="3B82F6"/>
                </a:solidFill>
                <a:latin typeface="Noto Sans JP"/>
                <a:ea typeface="Noto Sans JP"/>
                <a:cs typeface="Noto Sans JP"/>
                <a:sym typeface="Noto Sans JP"/>
              </a:rPr>
              <a:t>目標：手書きをゼロにし、日常的なミスを根絶</a:t>
            </a:r>
            <a:endParaRPr dirty="0"/>
          </a:p>
        </p:txBody>
      </p:sp>
      <p:sp>
        <p:nvSpPr>
          <p:cNvPr id="181" name="Google Shape;181;p19"/>
          <p:cNvSpPr txBox="1"/>
          <p:nvPr/>
        </p:nvSpPr>
        <p:spPr>
          <a:xfrm>
            <a:off x="952500" y="1516260"/>
            <a:ext cx="490061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F172A"/>
                </a:solidFill>
                <a:latin typeface="Noto Sans JP"/>
                <a:ea typeface="Noto Sans JP"/>
                <a:cs typeface="Noto Sans JP"/>
                <a:sym typeface="Noto Sans JP"/>
              </a:rPr>
              <a:t>1. メッキ工程：実績記入方法のプロセス刷新</a:t>
            </a:r>
            <a:endParaRPr dirty="0"/>
          </a:p>
        </p:txBody>
      </p:sp>
      <p:sp>
        <p:nvSpPr>
          <p:cNvPr id="182" name="Google Shape;182;p19"/>
          <p:cNvSpPr/>
          <p:nvPr/>
        </p:nvSpPr>
        <p:spPr>
          <a:xfrm>
            <a:off x="952500" y="1897260"/>
            <a:ext cx="46672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83" name="Google Shape;183;p19"/>
          <p:cNvSpPr txBox="1"/>
          <p:nvPr/>
        </p:nvSpPr>
        <p:spPr>
          <a:xfrm>
            <a:off x="952500" y="2068710"/>
            <a:ext cx="46672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Noto Sans JP"/>
                <a:ea typeface="Noto Sans JP"/>
                <a:cs typeface="Noto Sans JP"/>
                <a:sym typeface="Noto Sans JP"/>
              </a:rPr>
              <a:t>現在の</a:t>
            </a:r>
            <a:r>
              <a:rPr lang="en-US" sz="1200" b="1" i="0" u="none" strike="noStrike" cap="none" dirty="0">
                <a:solidFill>
                  <a:srgbClr val="475569"/>
                </a:solidFill>
                <a:latin typeface="Noto Sans JP"/>
                <a:ea typeface="Noto Sans JP"/>
                <a:cs typeface="Noto Sans JP"/>
                <a:sym typeface="Noto Sans JP"/>
              </a:rPr>
              <a:t>「現場での投入数」</a:t>
            </a:r>
            <a:r>
              <a:rPr lang="en-US" sz="1200" b="0" i="0" u="none" strike="noStrike" cap="none" dirty="0">
                <a:solidFill>
                  <a:srgbClr val="475569"/>
                </a:solidFill>
                <a:latin typeface="Noto Sans JP"/>
                <a:ea typeface="Noto Sans JP"/>
                <a:cs typeface="Noto Sans JP"/>
                <a:sym typeface="Noto Sans JP"/>
              </a:rPr>
              <a:t>と</a:t>
            </a:r>
            <a:r>
              <a:rPr lang="en-US" sz="1200" b="1" i="0" u="none" strike="noStrike" cap="none" dirty="0">
                <a:solidFill>
                  <a:srgbClr val="475569"/>
                </a:solidFill>
                <a:latin typeface="Noto Sans JP"/>
                <a:ea typeface="Noto Sans JP"/>
                <a:cs typeface="Noto Sans JP"/>
                <a:sym typeface="Noto Sans JP"/>
              </a:rPr>
              <a:t>「データの記入数」</a:t>
            </a:r>
            <a:r>
              <a:rPr lang="en-US" sz="1200" b="0" i="0" u="none" strike="noStrike" cap="none" dirty="0">
                <a:solidFill>
                  <a:srgbClr val="475569"/>
                </a:solidFill>
                <a:latin typeface="Noto Sans JP"/>
                <a:ea typeface="Noto Sans JP"/>
                <a:cs typeface="Noto Sans JP"/>
                <a:sym typeface="Noto Sans JP"/>
              </a:rPr>
              <a:t>のやり方の不一致を根本的に見直します。</a:t>
            </a:r>
            <a:endParaRPr dirty="0"/>
          </a:p>
        </p:txBody>
      </p:sp>
      <p:sp>
        <p:nvSpPr>
          <p:cNvPr id="184" name="Google Shape;184;p19"/>
          <p:cNvSpPr txBox="1"/>
          <p:nvPr/>
        </p:nvSpPr>
        <p:spPr>
          <a:xfrm>
            <a:off x="952500" y="2699146"/>
            <a:ext cx="4667250" cy="8309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ja-JP" altLang="en-US" sz="1125" b="0" i="0" u="none" strike="noStrike" cap="none">
                <a:solidFill>
                  <a:srgbClr val="475569"/>
                </a:solidFill>
                <a:latin typeface="Noto Sans JP"/>
                <a:ea typeface="Noto Sans JP"/>
                <a:cs typeface="Noto Sans JP"/>
                <a:sym typeface="Noto Sans JP"/>
              </a:rPr>
              <a:t>形骸化している記入ルールを廃止し、</a:t>
            </a:r>
            <a:r>
              <a:rPr lang="en-US" altLang="ja-JP" sz="1125" b="0" i="0" u="none" strike="noStrike" cap="none">
                <a:solidFill>
                  <a:srgbClr val="475569"/>
                </a:solidFill>
                <a:latin typeface="Noto Sans JP"/>
                <a:ea typeface="Noto Sans JP"/>
                <a:cs typeface="Noto Sans JP"/>
                <a:sym typeface="Noto Sans JP"/>
              </a:rPr>
              <a:t>QR</a:t>
            </a:r>
            <a:r>
              <a:rPr lang="ja-JP" altLang="en-US" sz="1125" b="0" i="0" u="none" strike="noStrike" cap="none">
                <a:solidFill>
                  <a:srgbClr val="475569"/>
                </a:solidFill>
                <a:latin typeface="Noto Sans JP"/>
                <a:ea typeface="Noto Sans JP"/>
                <a:cs typeface="Noto Sans JP"/>
                <a:sym typeface="Noto Sans JP"/>
              </a:rPr>
              <a:t>コードとハンディターミナルを用いた実績収集方法の導入を検討。なお、具体的な運用方法や定着化の進め方については、現場の裁量に委ねるものとします。</a:t>
            </a:r>
            <a:endParaRPr dirty="0"/>
          </a:p>
        </p:txBody>
      </p:sp>
      <p:pic>
        <p:nvPicPr>
          <p:cNvPr id="185" name="Google Shape;185;p19" descr="image.png"/>
          <p:cNvPicPr preferRelativeResize="0"/>
          <p:nvPr/>
        </p:nvPicPr>
        <p:blipFill rotWithShape="1">
          <a:blip r:embed="rId6">
            <a:alphaModFix/>
          </a:blip>
          <a:srcRect/>
          <a:stretch/>
        </p:blipFill>
        <p:spPr>
          <a:xfrm>
            <a:off x="952500" y="5867400"/>
            <a:ext cx="118616" cy="152400"/>
          </a:xfrm>
          <a:prstGeom prst="rect">
            <a:avLst/>
          </a:prstGeom>
          <a:noFill/>
          <a:ln>
            <a:noFill/>
          </a:ln>
        </p:spPr>
      </p:pic>
      <p:sp>
        <p:nvSpPr>
          <p:cNvPr id="186" name="Google Shape;186;p19"/>
          <p:cNvSpPr txBox="1"/>
          <p:nvPr/>
        </p:nvSpPr>
        <p:spPr>
          <a:xfrm>
            <a:off x="6619875" y="1516260"/>
            <a:ext cx="4900612"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F172A"/>
                </a:solidFill>
                <a:latin typeface="Noto Sans JP"/>
                <a:ea typeface="Noto Sans JP"/>
                <a:cs typeface="Noto Sans JP"/>
                <a:sym typeface="Noto Sans JP"/>
              </a:rPr>
              <a:t>2. 検査工程：デジタル集計（タブレット）の導入</a:t>
            </a:r>
            <a:endParaRPr dirty="0"/>
          </a:p>
        </p:txBody>
      </p:sp>
      <p:sp>
        <p:nvSpPr>
          <p:cNvPr id="187" name="Google Shape;187;p19"/>
          <p:cNvSpPr/>
          <p:nvPr/>
        </p:nvSpPr>
        <p:spPr>
          <a:xfrm>
            <a:off x="6619875" y="2183010"/>
            <a:ext cx="46672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88" name="Google Shape;188;p19"/>
          <p:cNvSpPr txBox="1"/>
          <p:nvPr/>
        </p:nvSpPr>
        <p:spPr>
          <a:xfrm>
            <a:off x="6619875" y="2354460"/>
            <a:ext cx="46672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Noto Sans JP"/>
                <a:ea typeface="Noto Sans JP"/>
                <a:cs typeface="Noto Sans JP"/>
                <a:sym typeface="Noto Sans JP"/>
              </a:rPr>
              <a:t>日常化している微細な入力ミスをシステム制御によって防ぎます。</a:t>
            </a:r>
            <a:endParaRPr dirty="0"/>
          </a:p>
        </p:txBody>
      </p:sp>
      <p:sp>
        <p:nvSpPr>
          <p:cNvPr id="189" name="Google Shape;189;p19"/>
          <p:cNvSpPr txBox="1"/>
          <p:nvPr/>
        </p:nvSpPr>
        <p:spPr>
          <a:xfrm>
            <a:off x="6619875" y="2741116"/>
            <a:ext cx="4667250" cy="5539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a:solidFill>
                  <a:srgbClr val="475569"/>
                </a:solidFill>
                <a:latin typeface="Noto Sans JP"/>
                <a:ea typeface="Noto Sans JP"/>
                <a:cs typeface="Noto Sans JP"/>
                <a:sym typeface="Noto Sans JP"/>
              </a:rPr>
              <a:t>現場に</a:t>
            </a:r>
            <a:r>
              <a:rPr lang="en-US" sz="1125" b="1" i="0" u="none" strike="noStrike" cap="none" dirty="0">
                <a:solidFill>
                  <a:srgbClr val="475569"/>
                </a:solidFill>
                <a:latin typeface="Noto Sans JP"/>
                <a:ea typeface="Noto Sans JP"/>
                <a:cs typeface="Noto Sans JP"/>
                <a:sym typeface="Noto Sans JP"/>
              </a:rPr>
              <a:t>タブレット入力端末</a:t>
            </a:r>
            <a:r>
              <a:rPr lang="en-US" sz="1125" b="0" i="0" u="none" strike="noStrike" cap="none" dirty="0">
                <a:solidFill>
                  <a:srgbClr val="475569"/>
                </a:solidFill>
                <a:latin typeface="Noto Sans JP"/>
                <a:ea typeface="Noto Sans JP"/>
                <a:cs typeface="Noto Sans JP"/>
                <a:sym typeface="Noto Sans JP"/>
              </a:rPr>
              <a:t>を導入し、手書きメモによる転記を撤廃</a:t>
            </a:r>
            <a:r>
              <a:rPr lang="en-US" sz="1125" b="0" i="0" u="none" strike="noStrike" cap="none">
                <a:solidFill>
                  <a:srgbClr val="475569"/>
                </a:solidFill>
                <a:latin typeface="Noto Sans JP"/>
                <a:ea typeface="Noto Sans JP"/>
                <a:cs typeface="Noto Sans JP"/>
                <a:sym typeface="Noto Sans JP"/>
              </a:rPr>
              <a:t>。入力時のバリデーションにより</a:t>
            </a:r>
            <a:r>
              <a:rPr lang="en-US" sz="1125" b="0" i="0" u="none" strike="noStrike" cap="none" dirty="0">
                <a:solidFill>
                  <a:srgbClr val="475569"/>
                </a:solidFill>
                <a:latin typeface="Noto Sans JP"/>
                <a:ea typeface="Noto Sans JP"/>
                <a:cs typeface="Noto Sans JP"/>
                <a:sym typeface="Noto Sans JP"/>
              </a:rPr>
              <a:t>、入力不備をその場で防止します。</a:t>
            </a:r>
            <a:endParaRPr dirty="0"/>
          </a:p>
        </p:txBody>
      </p:sp>
      <p:pic>
        <p:nvPicPr>
          <p:cNvPr id="190" name="Google Shape;190;p19" descr="image.png"/>
          <p:cNvPicPr preferRelativeResize="0"/>
          <p:nvPr/>
        </p:nvPicPr>
        <p:blipFill rotWithShape="1">
          <a:blip r:embed="rId7">
            <a:alphaModFix/>
          </a:blip>
          <a:srcRect/>
          <a:stretch/>
        </p:blipFill>
        <p:spPr>
          <a:xfrm>
            <a:off x="6619875" y="5867400"/>
            <a:ext cx="118616" cy="1524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287</TotalTime>
  <Words>1732</Words>
  <Application>Microsoft Office PowerPoint</Application>
  <PresentationFormat>ワイド画面</PresentationFormat>
  <Paragraphs>447</Paragraphs>
  <Slides>21</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Noto Sans JP</vt:lpstr>
      <vt:lpstr>Arial</vt:lpstr>
      <vt:lpstr>Calibri</vt:lpstr>
      <vt:lpstr>Roboto Mono</vt:lpstr>
      <vt:lpstr>游ゴシック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aks hys</cp:lastModifiedBy>
  <cp:revision>13</cp:revision>
  <dcterms:modified xsi:type="dcterms:W3CDTF">2026-07-07T00:48:40Z</dcterms:modified>
</cp:coreProperties>
</file>